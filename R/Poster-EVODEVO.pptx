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notesMasterIdLst>
    <p:notesMasterId r:id="rId3"/>
  </p:notesMasterIdLst>
  <p:sldIdLst>
    <p:sldId id="256" r:id="rId2"/>
  </p:sldIdLst>
  <p:sldSz cx="18000663" cy="272526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CA22D"/>
    <a:srgbClr val="84E2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5854"/>
    <p:restoredTop sz="94648"/>
  </p:normalViewPr>
  <p:slideViewPr>
    <p:cSldViewPr snapToGrid="0">
      <p:cViewPr>
        <p:scale>
          <a:sx n="103" d="100"/>
          <a:sy n="103" d="100"/>
        </p:scale>
        <p:origin x="-496" y="-55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O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BE91DE-0533-6F41-AE75-D5FC9CC3F2AF}" type="datetimeFigureOut">
              <a:rPr lang="en-NO" smtClean="0"/>
              <a:t>29/05/2026</a:t>
            </a:fld>
            <a:endParaRPr lang="en-NO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409825" y="1143000"/>
            <a:ext cx="20383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O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4BB365-FF71-1A43-B719-377EB4D56167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10016899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409825" y="1143000"/>
            <a:ext cx="203835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O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BB365-FF71-1A43-B719-377EB4D56167}" type="slidenum">
              <a:rPr lang="en-NO" smtClean="0"/>
              <a:t>1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29965784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50050" y="4460094"/>
            <a:ext cx="15300564" cy="9487947"/>
          </a:xfrm>
        </p:spPr>
        <p:txBody>
          <a:bodyPr anchor="b"/>
          <a:lstStyle>
            <a:lvl1pPr algn="ctr">
              <a:defRPr sz="11812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50083" y="14313932"/>
            <a:ext cx="13500497" cy="6579738"/>
          </a:xfrm>
        </p:spPr>
        <p:txBody>
          <a:bodyPr/>
          <a:lstStyle>
            <a:lvl1pPr marL="0" indent="0" algn="ctr">
              <a:buNone/>
              <a:defRPr sz="4725"/>
            </a:lvl1pPr>
            <a:lvl2pPr marL="900044" indent="0" algn="ctr">
              <a:buNone/>
              <a:defRPr sz="3937"/>
            </a:lvl2pPr>
            <a:lvl3pPr marL="1800088" indent="0" algn="ctr">
              <a:buNone/>
              <a:defRPr sz="3543"/>
            </a:lvl3pPr>
            <a:lvl4pPr marL="2700132" indent="0" algn="ctr">
              <a:buNone/>
              <a:defRPr sz="3150"/>
            </a:lvl4pPr>
            <a:lvl5pPr marL="3600176" indent="0" algn="ctr">
              <a:buNone/>
              <a:defRPr sz="3150"/>
            </a:lvl5pPr>
            <a:lvl6pPr marL="4500220" indent="0" algn="ctr">
              <a:buNone/>
              <a:defRPr sz="3150"/>
            </a:lvl6pPr>
            <a:lvl7pPr marL="5400264" indent="0" algn="ctr">
              <a:buNone/>
              <a:defRPr sz="3150"/>
            </a:lvl7pPr>
            <a:lvl8pPr marL="6300307" indent="0" algn="ctr">
              <a:buNone/>
              <a:defRPr sz="3150"/>
            </a:lvl8pPr>
            <a:lvl9pPr marL="7200351" indent="0" algn="ctr">
              <a:buNone/>
              <a:defRPr sz="315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29/05/2026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26183936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29/05/2026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35051538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8171" y="6794236"/>
            <a:ext cx="15525572" cy="11336328"/>
          </a:xfrm>
        </p:spPr>
        <p:txBody>
          <a:bodyPr anchor="b"/>
          <a:lstStyle>
            <a:lvl1pPr>
              <a:defRPr sz="11812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8171" y="18237810"/>
            <a:ext cx="15525572" cy="5961507"/>
          </a:xfrm>
        </p:spPr>
        <p:txBody>
          <a:bodyPr/>
          <a:lstStyle>
            <a:lvl1pPr marL="0" indent="0">
              <a:buNone/>
              <a:defRPr sz="4725">
                <a:solidFill>
                  <a:schemeClr val="tx1">
                    <a:tint val="82000"/>
                  </a:schemeClr>
                </a:solidFill>
              </a:defRPr>
            </a:lvl1pPr>
            <a:lvl2pPr marL="900044" indent="0">
              <a:buNone/>
              <a:defRPr sz="3937">
                <a:solidFill>
                  <a:schemeClr val="tx1">
                    <a:tint val="82000"/>
                  </a:schemeClr>
                </a:solidFill>
              </a:defRPr>
            </a:lvl2pPr>
            <a:lvl3pPr marL="1800088" indent="0">
              <a:buNone/>
              <a:defRPr sz="3543">
                <a:solidFill>
                  <a:schemeClr val="tx1">
                    <a:tint val="82000"/>
                  </a:schemeClr>
                </a:solidFill>
              </a:defRPr>
            </a:lvl3pPr>
            <a:lvl4pPr marL="2700132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4pPr>
            <a:lvl5pPr marL="3600176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5pPr>
            <a:lvl6pPr marL="4500220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6pPr>
            <a:lvl7pPr marL="5400264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7pPr>
            <a:lvl8pPr marL="6300307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8pPr>
            <a:lvl9pPr marL="7200351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29/05/2026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15313414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37545" y="7254746"/>
            <a:ext cx="7650282" cy="1729153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12836" y="7254746"/>
            <a:ext cx="7650282" cy="1729153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29/05/2026</a:t>
            </a:fld>
            <a:endParaRPr lang="en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3159251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1450955"/>
            <a:ext cx="15525572" cy="5267579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9892" y="6680677"/>
            <a:ext cx="7615123" cy="3274097"/>
          </a:xfrm>
        </p:spPr>
        <p:txBody>
          <a:bodyPr anchor="b"/>
          <a:lstStyle>
            <a:lvl1pPr marL="0" indent="0">
              <a:buNone/>
              <a:defRPr sz="4725" b="1"/>
            </a:lvl1pPr>
            <a:lvl2pPr marL="900044" indent="0">
              <a:buNone/>
              <a:defRPr sz="3937" b="1"/>
            </a:lvl2pPr>
            <a:lvl3pPr marL="1800088" indent="0">
              <a:buNone/>
              <a:defRPr sz="3543" b="1"/>
            </a:lvl3pPr>
            <a:lvl4pPr marL="2700132" indent="0">
              <a:buNone/>
              <a:defRPr sz="3150" b="1"/>
            </a:lvl4pPr>
            <a:lvl5pPr marL="3600176" indent="0">
              <a:buNone/>
              <a:defRPr sz="3150" b="1"/>
            </a:lvl5pPr>
            <a:lvl6pPr marL="4500220" indent="0">
              <a:buNone/>
              <a:defRPr sz="3150" b="1"/>
            </a:lvl6pPr>
            <a:lvl7pPr marL="5400264" indent="0">
              <a:buNone/>
              <a:defRPr sz="3150" b="1"/>
            </a:lvl7pPr>
            <a:lvl8pPr marL="6300307" indent="0">
              <a:buNone/>
              <a:defRPr sz="3150" b="1"/>
            </a:lvl8pPr>
            <a:lvl9pPr marL="7200351" indent="0">
              <a:buNone/>
              <a:defRPr sz="315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39892" y="9954774"/>
            <a:ext cx="7615123" cy="1464197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112837" y="6680677"/>
            <a:ext cx="7652626" cy="3274097"/>
          </a:xfrm>
        </p:spPr>
        <p:txBody>
          <a:bodyPr anchor="b"/>
          <a:lstStyle>
            <a:lvl1pPr marL="0" indent="0">
              <a:buNone/>
              <a:defRPr sz="4725" b="1"/>
            </a:lvl1pPr>
            <a:lvl2pPr marL="900044" indent="0">
              <a:buNone/>
              <a:defRPr sz="3937" b="1"/>
            </a:lvl2pPr>
            <a:lvl3pPr marL="1800088" indent="0">
              <a:buNone/>
              <a:defRPr sz="3543" b="1"/>
            </a:lvl3pPr>
            <a:lvl4pPr marL="2700132" indent="0">
              <a:buNone/>
              <a:defRPr sz="3150" b="1"/>
            </a:lvl4pPr>
            <a:lvl5pPr marL="3600176" indent="0">
              <a:buNone/>
              <a:defRPr sz="3150" b="1"/>
            </a:lvl5pPr>
            <a:lvl6pPr marL="4500220" indent="0">
              <a:buNone/>
              <a:defRPr sz="3150" b="1"/>
            </a:lvl6pPr>
            <a:lvl7pPr marL="5400264" indent="0">
              <a:buNone/>
              <a:defRPr sz="3150" b="1"/>
            </a:lvl7pPr>
            <a:lvl8pPr marL="6300307" indent="0">
              <a:buNone/>
              <a:defRPr sz="3150" b="1"/>
            </a:lvl8pPr>
            <a:lvl9pPr marL="7200351" indent="0">
              <a:buNone/>
              <a:defRPr sz="315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112837" y="9954774"/>
            <a:ext cx="7652626" cy="1464197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29/05/2026</a:t>
            </a:fld>
            <a:endParaRPr lang="en-NO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41710047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29/05/2026</a:t>
            </a:fld>
            <a:endParaRPr lang="en-NO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30641226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29/05/2026</a:t>
            </a:fld>
            <a:endParaRPr lang="en-NO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4483563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1816841"/>
            <a:ext cx="5805682" cy="6358943"/>
          </a:xfrm>
        </p:spPr>
        <p:txBody>
          <a:bodyPr anchor="b"/>
          <a:lstStyle>
            <a:lvl1pPr>
              <a:defRPr sz="63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2626" y="3923878"/>
            <a:ext cx="9112836" cy="19367019"/>
          </a:xfrm>
        </p:spPr>
        <p:txBody>
          <a:bodyPr/>
          <a:lstStyle>
            <a:lvl1pPr>
              <a:defRPr sz="6300"/>
            </a:lvl1pPr>
            <a:lvl2pPr>
              <a:defRPr sz="5512"/>
            </a:lvl2pPr>
            <a:lvl3pPr>
              <a:defRPr sz="4725"/>
            </a:lvl3pPr>
            <a:lvl4pPr>
              <a:defRPr sz="3937"/>
            </a:lvl4pPr>
            <a:lvl5pPr>
              <a:defRPr sz="3937"/>
            </a:lvl5pPr>
            <a:lvl6pPr>
              <a:defRPr sz="3937"/>
            </a:lvl6pPr>
            <a:lvl7pPr>
              <a:defRPr sz="3937"/>
            </a:lvl7pPr>
            <a:lvl8pPr>
              <a:defRPr sz="3937"/>
            </a:lvl8pPr>
            <a:lvl9pPr>
              <a:defRPr sz="3937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0" y="8175784"/>
            <a:ext cx="5805682" cy="15146651"/>
          </a:xfrm>
        </p:spPr>
        <p:txBody>
          <a:bodyPr/>
          <a:lstStyle>
            <a:lvl1pPr marL="0" indent="0">
              <a:buNone/>
              <a:defRPr sz="3150"/>
            </a:lvl1pPr>
            <a:lvl2pPr marL="900044" indent="0">
              <a:buNone/>
              <a:defRPr sz="2756"/>
            </a:lvl2pPr>
            <a:lvl3pPr marL="1800088" indent="0">
              <a:buNone/>
              <a:defRPr sz="2362"/>
            </a:lvl3pPr>
            <a:lvl4pPr marL="2700132" indent="0">
              <a:buNone/>
              <a:defRPr sz="1969"/>
            </a:lvl4pPr>
            <a:lvl5pPr marL="3600176" indent="0">
              <a:buNone/>
              <a:defRPr sz="1969"/>
            </a:lvl5pPr>
            <a:lvl6pPr marL="4500220" indent="0">
              <a:buNone/>
              <a:defRPr sz="1969"/>
            </a:lvl6pPr>
            <a:lvl7pPr marL="5400264" indent="0">
              <a:buNone/>
              <a:defRPr sz="1969"/>
            </a:lvl7pPr>
            <a:lvl8pPr marL="6300307" indent="0">
              <a:buNone/>
              <a:defRPr sz="1969"/>
            </a:lvl8pPr>
            <a:lvl9pPr marL="7200351" indent="0">
              <a:buNone/>
              <a:defRPr sz="1969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29/05/2026</a:t>
            </a:fld>
            <a:endParaRPr lang="en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40597639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1816841"/>
            <a:ext cx="5805682" cy="6358943"/>
          </a:xfrm>
        </p:spPr>
        <p:txBody>
          <a:bodyPr anchor="b"/>
          <a:lstStyle>
            <a:lvl1pPr>
              <a:defRPr sz="63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652626" y="3923878"/>
            <a:ext cx="9112836" cy="19367019"/>
          </a:xfrm>
        </p:spPr>
        <p:txBody>
          <a:bodyPr anchor="t"/>
          <a:lstStyle>
            <a:lvl1pPr marL="0" indent="0">
              <a:buNone/>
              <a:defRPr sz="6300"/>
            </a:lvl1pPr>
            <a:lvl2pPr marL="900044" indent="0">
              <a:buNone/>
              <a:defRPr sz="5512"/>
            </a:lvl2pPr>
            <a:lvl3pPr marL="1800088" indent="0">
              <a:buNone/>
              <a:defRPr sz="4725"/>
            </a:lvl3pPr>
            <a:lvl4pPr marL="2700132" indent="0">
              <a:buNone/>
              <a:defRPr sz="3937"/>
            </a:lvl4pPr>
            <a:lvl5pPr marL="3600176" indent="0">
              <a:buNone/>
              <a:defRPr sz="3937"/>
            </a:lvl5pPr>
            <a:lvl6pPr marL="4500220" indent="0">
              <a:buNone/>
              <a:defRPr sz="3937"/>
            </a:lvl6pPr>
            <a:lvl7pPr marL="5400264" indent="0">
              <a:buNone/>
              <a:defRPr sz="3937"/>
            </a:lvl7pPr>
            <a:lvl8pPr marL="6300307" indent="0">
              <a:buNone/>
              <a:defRPr sz="3937"/>
            </a:lvl8pPr>
            <a:lvl9pPr marL="7200351" indent="0">
              <a:buNone/>
              <a:defRPr sz="3937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0" y="8175784"/>
            <a:ext cx="5805682" cy="15146651"/>
          </a:xfrm>
        </p:spPr>
        <p:txBody>
          <a:bodyPr/>
          <a:lstStyle>
            <a:lvl1pPr marL="0" indent="0">
              <a:buNone/>
              <a:defRPr sz="3150"/>
            </a:lvl1pPr>
            <a:lvl2pPr marL="900044" indent="0">
              <a:buNone/>
              <a:defRPr sz="2756"/>
            </a:lvl2pPr>
            <a:lvl3pPr marL="1800088" indent="0">
              <a:buNone/>
              <a:defRPr sz="2362"/>
            </a:lvl3pPr>
            <a:lvl4pPr marL="2700132" indent="0">
              <a:buNone/>
              <a:defRPr sz="1969"/>
            </a:lvl4pPr>
            <a:lvl5pPr marL="3600176" indent="0">
              <a:buNone/>
              <a:defRPr sz="1969"/>
            </a:lvl5pPr>
            <a:lvl6pPr marL="4500220" indent="0">
              <a:buNone/>
              <a:defRPr sz="1969"/>
            </a:lvl6pPr>
            <a:lvl7pPr marL="5400264" indent="0">
              <a:buNone/>
              <a:defRPr sz="1969"/>
            </a:lvl7pPr>
            <a:lvl8pPr marL="6300307" indent="0">
              <a:buNone/>
              <a:defRPr sz="1969"/>
            </a:lvl8pPr>
            <a:lvl9pPr marL="7200351" indent="0">
              <a:buNone/>
              <a:defRPr sz="1969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29/05/2026</a:t>
            </a:fld>
            <a:endParaRPr lang="en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3965122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29/05/2026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25761216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881725" y="1450949"/>
            <a:ext cx="3881393" cy="2309533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37546" y="1450949"/>
            <a:ext cx="11419171" cy="2309533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29/05/2026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42576027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37546" y="1450955"/>
            <a:ext cx="15525572" cy="52675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7546" y="7254746"/>
            <a:ext cx="15525572" cy="172915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37546" y="25259141"/>
            <a:ext cx="4050149" cy="14509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1CA32F-3B16-A94D-8B63-DB7C7F7FAD13}" type="datetimeFigureOut">
              <a:rPr lang="en-NO" smtClean="0"/>
              <a:t>29/05/2026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62720" y="25259141"/>
            <a:ext cx="6075224" cy="14509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712968" y="25259141"/>
            <a:ext cx="4050149" cy="14509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39818065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800088" rtl="0" eaLnBrk="1" latinLnBrk="0" hangingPunct="1">
        <a:lnSpc>
          <a:spcPct val="90000"/>
        </a:lnSpc>
        <a:spcBef>
          <a:spcPct val="0"/>
        </a:spcBef>
        <a:buNone/>
        <a:defRPr sz="866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0022" indent="-450022" algn="l" defTabSz="1800088" rtl="0" eaLnBrk="1" latinLnBrk="0" hangingPunct="1">
        <a:lnSpc>
          <a:spcPct val="90000"/>
        </a:lnSpc>
        <a:spcBef>
          <a:spcPts val="1969"/>
        </a:spcBef>
        <a:buFont typeface="Arial" panose="020B0604020202020204" pitchFamily="34" charset="0"/>
        <a:buChar char="•"/>
        <a:defRPr sz="5512" kern="1200">
          <a:solidFill>
            <a:schemeClr val="tx1"/>
          </a:solidFill>
          <a:latin typeface="+mn-lt"/>
          <a:ea typeface="+mn-ea"/>
          <a:cs typeface="+mn-cs"/>
        </a:defRPr>
      </a:lvl1pPr>
      <a:lvl2pPr marL="1350066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4725" kern="1200">
          <a:solidFill>
            <a:schemeClr val="tx1"/>
          </a:solidFill>
          <a:latin typeface="+mn-lt"/>
          <a:ea typeface="+mn-ea"/>
          <a:cs typeface="+mn-cs"/>
        </a:defRPr>
      </a:lvl2pPr>
      <a:lvl3pPr marL="2250110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937" kern="1200">
          <a:solidFill>
            <a:schemeClr val="tx1"/>
          </a:solidFill>
          <a:latin typeface="+mn-lt"/>
          <a:ea typeface="+mn-ea"/>
          <a:cs typeface="+mn-cs"/>
        </a:defRPr>
      </a:lvl3pPr>
      <a:lvl4pPr marL="3150154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4pPr>
      <a:lvl5pPr marL="4050198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5pPr>
      <a:lvl6pPr marL="4950242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6pPr>
      <a:lvl7pPr marL="5850285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7pPr>
      <a:lvl8pPr marL="6750329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8pPr>
      <a:lvl9pPr marL="7650373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1pPr>
      <a:lvl2pPr marL="900044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2pPr>
      <a:lvl3pPr marL="1800088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3pPr>
      <a:lvl4pPr marL="2700132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4pPr>
      <a:lvl5pPr marL="3600176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5pPr>
      <a:lvl6pPr marL="4500220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6pPr>
      <a:lvl7pPr marL="5400264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7pPr>
      <a:lvl8pPr marL="6300307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8pPr>
      <a:lvl9pPr marL="7200351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0.png"/><Relationship Id="rId18" Type="http://schemas.openxmlformats.org/officeDocument/2006/relationships/image" Target="../media/image15.png"/><Relationship Id="rId26" Type="http://schemas.openxmlformats.org/officeDocument/2006/relationships/image" Target="../media/image24.png"/><Relationship Id="rId3" Type="http://schemas.openxmlformats.org/officeDocument/2006/relationships/image" Target="../media/image1.png"/><Relationship Id="rId21" Type="http://schemas.openxmlformats.org/officeDocument/2006/relationships/image" Target="../media/image19.png"/><Relationship Id="rId7" Type="http://schemas.openxmlformats.org/officeDocument/2006/relationships/image" Target="../media/image5.png"/><Relationship Id="rId12" Type="http://schemas.openxmlformats.org/officeDocument/2006/relationships/hyperlink" Target="lucascamacho.github.io" TargetMode="External"/><Relationship Id="rId17" Type="http://schemas.openxmlformats.org/officeDocument/2006/relationships/image" Target="../media/image14.png"/><Relationship Id="rId25" Type="http://schemas.openxmlformats.org/officeDocument/2006/relationships/image" Target="../media/image21.png"/><Relationship Id="rId33" Type="http://schemas.openxmlformats.org/officeDocument/2006/relationships/image" Target="../media/image29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3.png"/><Relationship Id="rId29" Type="http://schemas.openxmlformats.org/officeDocument/2006/relationships/image" Target="../media/image2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11" Type="http://schemas.openxmlformats.org/officeDocument/2006/relationships/image" Target="../media/image9.png"/><Relationship Id="rId24" Type="http://schemas.openxmlformats.org/officeDocument/2006/relationships/image" Target="../media/image20.png"/><Relationship Id="rId32" Type="http://schemas.openxmlformats.org/officeDocument/2006/relationships/image" Target="../media/image28.png"/><Relationship Id="rId5" Type="http://schemas.openxmlformats.org/officeDocument/2006/relationships/image" Target="../media/image3.png"/><Relationship Id="rId15" Type="http://schemas.openxmlformats.org/officeDocument/2006/relationships/image" Target="../media/image12.png"/><Relationship Id="rId23" Type="http://schemas.openxmlformats.org/officeDocument/2006/relationships/image" Target="../media/image18.png"/><Relationship Id="rId28" Type="http://schemas.openxmlformats.org/officeDocument/2006/relationships/image" Target="../media/image22.png"/><Relationship Id="rId10" Type="http://schemas.openxmlformats.org/officeDocument/2006/relationships/image" Target="../media/image8.png"/><Relationship Id="rId19" Type="http://schemas.openxmlformats.org/officeDocument/2006/relationships/image" Target="../media/image16.png"/><Relationship Id="rId31" Type="http://schemas.openxmlformats.org/officeDocument/2006/relationships/image" Target="../media/image27.png"/><Relationship Id="rId4" Type="http://schemas.openxmlformats.org/officeDocument/2006/relationships/image" Target="../media/image2.jpeg"/><Relationship Id="rId9" Type="http://schemas.openxmlformats.org/officeDocument/2006/relationships/image" Target="../media/image7.png"/><Relationship Id="rId14" Type="http://schemas.openxmlformats.org/officeDocument/2006/relationships/image" Target="../media/image11.png"/><Relationship Id="rId22" Type="http://schemas.openxmlformats.org/officeDocument/2006/relationships/image" Target="../media/image17.png"/><Relationship Id="rId27" Type="http://schemas.openxmlformats.org/officeDocument/2006/relationships/image" Target="../media/image25.png"/><Relationship Id="rId30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A graph of different sizes of triangles&#10;&#10;Description automatically generated with medium confidence">
            <a:extLst>
              <a:ext uri="{FF2B5EF4-FFF2-40B4-BE49-F238E27FC236}">
                <a16:creationId xmlns:a16="http://schemas.microsoft.com/office/drawing/2014/main" id="{C7D3F8A2-7822-32F1-5E37-042C9C6DEF8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56" b="6826"/>
          <a:stretch/>
        </p:blipFill>
        <p:spPr>
          <a:xfrm>
            <a:off x="9552802" y="12270509"/>
            <a:ext cx="4566669" cy="191231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09DAF4E1-5F2D-C2DF-8880-AB1A4AFDF397}"/>
              </a:ext>
            </a:extLst>
          </p:cNvPr>
          <p:cNvSpPr/>
          <p:nvPr/>
        </p:nvSpPr>
        <p:spPr>
          <a:xfrm>
            <a:off x="-6167" y="-9341"/>
            <a:ext cx="18006830" cy="2333576"/>
          </a:xfrm>
          <a:prstGeom prst="rect">
            <a:avLst/>
          </a:prstGeom>
          <a:solidFill>
            <a:srgbClr val="84E29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sz="3062" dirty="0">
              <a:solidFill>
                <a:schemeClr val="tx1"/>
              </a:solidFill>
              <a:latin typeface="+mj-lt"/>
              <a:ea typeface="Cambria Math" panose="02040503050406030204" pitchFamily="18" charset="0"/>
            </a:endParaRPr>
          </a:p>
        </p:txBody>
      </p:sp>
      <p:pic>
        <p:nvPicPr>
          <p:cNvPr id="1026" name="Picture 2" descr="FAPESP - Fundação de Amparo à Pesquisa do Estado de São Paulo">
            <a:extLst>
              <a:ext uri="{FF2B5EF4-FFF2-40B4-BE49-F238E27FC236}">
                <a16:creationId xmlns:a16="http://schemas.microsoft.com/office/drawing/2014/main" id="{8B05F258-189A-84A1-0514-9D7570613A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17" t="21637" r="8958" b="9849"/>
          <a:stretch/>
        </p:blipFill>
        <p:spPr bwMode="auto">
          <a:xfrm>
            <a:off x="15471554" y="25987862"/>
            <a:ext cx="2386467" cy="9033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Logotipo USP – 90 anos – USP – Identidade Visual">
            <a:extLst>
              <a:ext uri="{FF2B5EF4-FFF2-40B4-BE49-F238E27FC236}">
                <a16:creationId xmlns:a16="http://schemas.microsoft.com/office/drawing/2014/main" id="{4D7D12F5-7E36-89F1-D359-8296BAE6B9D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954" b="15153"/>
          <a:stretch/>
        </p:blipFill>
        <p:spPr bwMode="auto">
          <a:xfrm>
            <a:off x="8105174" y="25793296"/>
            <a:ext cx="1900666" cy="1009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02_uio_full_logo_no_pos | UiO - Senter for utvikling og miljø">
            <a:extLst>
              <a:ext uri="{FF2B5EF4-FFF2-40B4-BE49-F238E27FC236}">
                <a16:creationId xmlns:a16="http://schemas.microsoft.com/office/drawing/2014/main" id="{5938A65B-0501-02B6-69AF-C5DBF0BE2F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56" t="25405" r="14977" b="28959"/>
          <a:stretch/>
        </p:blipFill>
        <p:spPr bwMode="auto">
          <a:xfrm>
            <a:off x="236584" y="25793296"/>
            <a:ext cx="2930985" cy="9547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CEES emblem.">
            <a:extLst>
              <a:ext uri="{FF2B5EF4-FFF2-40B4-BE49-F238E27FC236}">
                <a16:creationId xmlns:a16="http://schemas.microsoft.com/office/drawing/2014/main" id="{875380F1-A00E-3388-8AAA-A7A757E812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7812" y="26017557"/>
            <a:ext cx="2159840" cy="617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2A523D8-FE18-6092-47BD-6DF55AFBA852}"/>
              </a:ext>
            </a:extLst>
          </p:cNvPr>
          <p:cNvSpPr txBox="1"/>
          <p:nvPr/>
        </p:nvSpPr>
        <p:spPr>
          <a:xfrm>
            <a:off x="2300874" y="141830"/>
            <a:ext cx="13355707" cy="66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743" b="1" dirty="0">
                <a:latin typeface="+mj-lt"/>
              </a:rPr>
              <a:t>Modularity and Evolvability of Simian Cranial Sexual Dimorphism</a:t>
            </a:r>
            <a:endParaRPr lang="en-NO" sz="3743" b="1" dirty="0">
              <a:latin typeface="+mj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1CCBBE-602C-5683-8E16-829069615DC0}"/>
              </a:ext>
            </a:extLst>
          </p:cNvPr>
          <p:cNvSpPr txBox="1"/>
          <p:nvPr/>
        </p:nvSpPr>
        <p:spPr>
          <a:xfrm>
            <a:off x="4858189" y="774986"/>
            <a:ext cx="8247386" cy="12967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722" dirty="0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Lucas A. Camacho¹, Thomas F. Hansen², Gabriel Marroig</a:t>
            </a:r>
            <a:r>
              <a:rPr lang="en-GB" sz="2722" baseline="30000" dirty="0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1</a:t>
            </a:r>
          </a:p>
          <a:p>
            <a:pPr algn="ctr"/>
            <a:endParaRPr lang="en-GB" sz="2382" dirty="0">
              <a:latin typeface="+mj-lt"/>
              <a:ea typeface="Cambria Math" panose="02040503050406030204" pitchFamily="18" charset="0"/>
              <a:cs typeface="Arial" panose="020B0604020202020204" pitchFamily="34" charset="0"/>
            </a:endParaRPr>
          </a:p>
          <a:p>
            <a:pPr algn="ctr"/>
            <a:endParaRPr lang="en-NO" sz="2722" dirty="0">
              <a:latin typeface="+mj-lt"/>
              <a:ea typeface="Cambria Math" panose="02040503050406030204" pitchFamily="18" charset="0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A862209-F51A-4201-913F-A26208FF0C44}"/>
              </a:ext>
            </a:extLst>
          </p:cNvPr>
          <p:cNvCxnSpPr>
            <a:cxnSpLocks/>
          </p:cNvCxnSpPr>
          <p:nvPr/>
        </p:nvCxnSpPr>
        <p:spPr>
          <a:xfrm>
            <a:off x="8935051" y="2384514"/>
            <a:ext cx="2436" cy="2310747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1" name="Picture 30" descr="A diagram of the skull&#10;&#10;Description automatically generated with medium confidence">
            <a:extLst>
              <a:ext uri="{FF2B5EF4-FFF2-40B4-BE49-F238E27FC236}">
                <a16:creationId xmlns:a16="http://schemas.microsoft.com/office/drawing/2014/main" id="{7FBEE8A0-D514-9C08-4555-5809E83FB8E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55641" y="14613375"/>
            <a:ext cx="4807365" cy="3088592"/>
          </a:xfrm>
          <a:prstGeom prst="rect">
            <a:avLst/>
          </a:prstGeom>
        </p:spPr>
      </p:pic>
      <p:pic>
        <p:nvPicPr>
          <p:cNvPr id="1034" name="Picture 10" descr="Flag of Brazil - Wikipedia">
            <a:extLst>
              <a:ext uri="{FF2B5EF4-FFF2-40B4-BE49-F238E27FC236}">
                <a16:creationId xmlns:a16="http://schemas.microsoft.com/office/drawing/2014/main" id="{81F0234D-C419-892E-4D71-5DC74713ED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64765" y="1271566"/>
            <a:ext cx="1162286" cy="81360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6FFA4BBE-7404-52A2-50C6-C23494207D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64765" y="233618"/>
            <a:ext cx="1173527" cy="85447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2" descr="Evo-Devo-Genomics at UB - Home">
            <a:extLst>
              <a:ext uri="{FF2B5EF4-FFF2-40B4-BE49-F238E27FC236}">
                <a16:creationId xmlns:a16="http://schemas.microsoft.com/office/drawing/2014/main" id="{DE45EEBD-B9CE-B217-67B7-449C9D79DA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813" y="861359"/>
            <a:ext cx="1674798" cy="1448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0A344BD9-B774-A5BE-5D38-2B7089399071}"/>
              </a:ext>
            </a:extLst>
          </p:cNvPr>
          <p:cNvSpPr/>
          <p:nvPr/>
        </p:nvSpPr>
        <p:spPr>
          <a:xfrm>
            <a:off x="0" y="26808361"/>
            <a:ext cx="18006829" cy="44544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sz="1531">
              <a:latin typeface="+mj-lt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AA2E326-C29C-D20F-9376-142C3DD0AC8D}"/>
              </a:ext>
            </a:extLst>
          </p:cNvPr>
          <p:cNvSpPr txBox="1"/>
          <p:nvPr/>
        </p:nvSpPr>
        <p:spPr>
          <a:xfrm>
            <a:off x="15491239" y="26867129"/>
            <a:ext cx="2169120" cy="3279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31" b="1" dirty="0">
                <a:latin typeface="+mj-lt"/>
                <a:hlinkClick r:id="rId12"/>
              </a:rPr>
              <a:t>l</a:t>
            </a:r>
            <a:r>
              <a:rPr lang="en-NO" sz="1531" b="1" dirty="0">
                <a:latin typeface="+mj-lt"/>
                <a:hlinkClick r:id="rId12"/>
              </a:rPr>
              <a:t>ucascamacho.github.io</a:t>
            </a:r>
            <a:endParaRPr lang="en-NO" sz="1531" b="1" dirty="0">
              <a:latin typeface="+mj-lt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1211A44-7084-B71F-6FB5-C2D6B89D0362}"/>
              </a:ext>
            </a:extLst>
          </p:cNvPr>
          <p:cNvSpPr txBox="1"/>
          <p:nvPr/>
        </p:nvSpPr>
        <p:spPr>
          <a:xfrm>
            <a:off x="28585" y="26891010"/>
            <a:ext cx="5974713" cy="3279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sz="1531" b="1" dirty="0">
                <a:latin typeface="+mj-lt"/>
              </a:rPr>
              <a:t>10th European Society for Evolutionary Development Biology Meeting 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2AB7ECD-54BA-3ABF-7D54-BA5A8E688A5E}"/>
              </a:ext>
            </a:extLst>
          </p:cNvPr>
          <p:cNvSpPr txBox="1"/>
          <p:nvPr/>
        </p:nvSpPr>
        <p:spPr>
          <a:xfrm>
            <a:off x="8711822" y="26900416"/>
            <a:ext cx="607859" cy="3279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sz="1531" b="1" dirty="0">
                <a:latin typeface="+mj-lt"/>
              </a:rPr>
              <a:t>2026</a:t>
            </a:r>
          </a:p>
        </p:txBody>
      </p:sp>
      <p:pic>
        <p:nvPicPr>
          <p:cNvPr id="38" name="Picture 4" descr="IB | Instituto de Biociências | Universidade de São Paulo | USP - IB">
            <a:extLst>
              <a:ext uri="{FF2B5EF4-FFF2-40B4-BE49-F238E27FC236}">
                <a16:creationId xmlns:a16="http://schemas.microsoft.com/office/drawing/2014/main" id="{35848352-2E0E-F507-98CD-FE10203A45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08239" y="25873560"/>
            <a:ext cx="2199647" cy="7918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17" descr="A diagram of a person's relationship&#10;&#10;Description automatically generated with medium confidence">
            <a:extLst>
              <a:ext uri="{FF2B5EF4-FFF2-40B4-BE49-F238E27FC236}">
                <a16:creationId xmlns:a16="http://schemas.microsoft.com/office/drawing/2014/main" id="{8C12DC9D-6690-4365-DE9B-961066A4011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344041" y="17923388"/>
            <a:ext cx="1848489" cy="1008266"/>
          </a:xfrm>
          <a:prstGeom prst="rect">
            <a:avLst/>
          </a:prstGeom>
        </p:spPr>
      </p:pic>
      <p:pic>
        <p:nvPicPr>
          <p:cNvPr id="40" name="Picture 39" descr="A diagram of a graph&#10;&#10;Description automatically generated">
            <a:extLst>
              <a:ext uri="{FF2B5EF4-FFF2-40B4-BE49-F238E27FC236}">
                <a16:creationId xmlns:a16="http://schemas.microsoft.com/office/drawing/2014/main" id="{5DF79BCD-08EA-E892-1798-5DE3E0B530B4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 t="11314"/>
          <a:stretch/>
        </p:blipFill>
        <p:spPr>
          <a:xfrm>
            <a:off x="9552802" y="2589229"/>
            <a:ext cx="8022514" cy="3880789"/>
          </a:xfrm>
          <a:prstGeom prst="rect">
            <a:avLst/>
          </a:prstGeom>
        </p:spPr>
      </p:pic>
      <p:pic>
        <p:nvPicPr>
          <p:cNvPr id="43" name="Picture 42" descr="A diagram of evolution of a variety of rocks&#10;&#10;Description automatically generated with medium confidence">
            <a:extLst>
              <a:ext uri="{FF2B5EF4-FFF2-40B4-BE49-F238E27FC236}">
                <a16:creationId xmlns:a16="http://schemas.microsoft.com/office/drawing/2014/main" id="{FF0767CB-53D5-89AC-A09C-B2E9B1CE3E75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 t="16315"/>
          <a:stretch/>
        </p:blipFill>
        <p:spPr>
          <a:xfrm>
            <a:off x="2856822" y="7408681"/>
            <a:ext cx="6008618" cy="2742731"/>
          </a:xfrm>
          <a:prstGeom prst="rect">
            <a:avLst/>
          </a:prstGeom>
        </p:spPr>
      </p:pic>
      <p:pic>
        <p:nvPicPr>
          <p:cNvPr id="51" name="Picture 50" descr="A collage of monkeys in the jungle&#10;&#10;Description automatically generated">
            <a:extLst>
              <a:ext uri="{FF2B5EF4-FFF2-40B4-BE49-F238E27FC236}">
                <a16:creationId xmlns:a16="http://schemas.microsoft.com/office/drawing/2014/main" id="{8BB89542-A1B0-8BA5-4182-156DB7C0DB41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7451" y="3310602"/>
            <a:ext cx="5613817" cy="3062081"/>
          </a:xfrm>
          <a:prstGeom prst="rect">
            <a:avLst/>
          </a:prstGeom>
        </p:spPr>
      </p:pic>
      <p:pic>
        <p:nvPicPr>
          <p:cNvPr id="27" name="Picture 26" descr="A diagram of different numbers and points&#10;&#10;Description automatically generated with medium confidence">
            <a:extLst>
              <a:ext uri="{FF2B5EF4-FFF2-40B4-BE49-F238E27FC236}">
                <a16:creationId xmlns:a16="http://schemas.microsoft.com/office/drawing/2014/main" id="{A3DA5014-7D47-4BC5-15AA-8A356D53F3E4}"/>
              </a:ext>
            </a:extLst>
          </p:cNvPr>
          <p:cNvPicPr>
            <a:picLocks noChangeAspect="1"/>
          </p:cNvPicPr>
          <p:nvPr/>
        </p:nvPicPr>
        <p:blipFill>
          <a:blip r:embed="rId18"/>
          <a:srcRect l="3232" t="8000" b="6818"/>
          <a:stretch/>
        </p:blipFill>
        <p:spPr>
          <a:xfrm>
            <a:off x="9405317" y="17471378"/>
            <a:ext cx="4951104" cy="2179179"/>
          </a:xfrm>
          <a:prstGeom prst="rect">
            <a:avLst/>
          </a:prstGeom>
        </p:spPr>
      </p:pic>
      <p:pic>
        <p:nvPicPr>
          <p:cNvPr id="32" name="Picture 31" descr="A graph showing a number of dots&#10;&#10;Description automatically generated with medium confidence">
            <a:extLst>
              <a:ext uri="{FF2B5EF4-FFF2-40B4-BE49-F238E27FC236}">
                <a16:creationId xmlns:a16="http://schemas.microsoft.com/office/drawing/2014/main" id="{75ED077E-1710-D422-468B-E7A4C9E52A09}"/>
              </a:ext>
            </a:extLst>
          </p:cNvPr>
          <p:cNvPicPr>
            <a:picLocks noChangeAspect="1"/>
          </p:cNvPicPr>
          <p:nvPr/>
        </p:nvPicPr>
        <p:blipFill>
          <a:blip r:embed="rId19"/>
          <a:srcRect l="2888" t="7800" b="7420"/>
          <a:stretch/>
        </p:blipFill>
        <p:spPr>
          <a:xfrm>
            <a:off x="12902070" y="20294412"/>
            <a:ext cx="5089046" cy="194369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2839A9E8-B951-97EB-43F3-BE603E60476C}"/>
                  </a:ext>
                </a:extLst>
              </p:cNvPr>
              <p:cNvSpPr txBox="1"/>
              <p:nvPr/>
            </p:nvSpPr>
            <p:spPr>
              <a:xfrm>
                <a:off x="129086" y="23868909"/>
                <a:ext cx="4115950" cy="68384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NO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nb-NO" sz="2000">
                              <a:latin typeface="Cambria Math" panose="02040503050406030204" pitchFamily="18" charset="0"/>
                            </a:rPr>
                            <m:t>e</m:t>
                          </m:r>
                          <m:r>
                            <m:rPr>
                              <m:sty m:val="p"/>
                            </m:rPr>
                            <a:rPr lang="nb-NO" sz="2000" b="0" i="0" smtClean="0">
                              <a:latin typeface="Cambria Math" panose="02040503050406030204" pitchFamily="18" charset="0"/>
                            </a:rPr>
                            <m:t>volvability</m:t>
                          </m:r>
                        </m:e>
                        <m:sub>
                          <m:r>
                            <a:rPr lang="nb-NO" sz="200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nb-NO" sz="2000">
                              <a:latin typeface="Cambria Math" panose="02040503050406030204" pitchFamily="18" charset="0"/>
                            </a:rPr>
                            <m:t>SD</m:t>
                          </m:r>
                          <m:r>
                            <a:rPr lang="nb-NO" sz="2000"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r>
                        <a:rPr lang="nb-NO" sz="200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nb-NO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nb-NO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nb-NO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nb-NO" sz="2000">
                                      <a:latin typeface="Cambria Math" panose="02040503050406030204" pitchFamily="18" charset="0"/>
                                    </a:rPr>
                                    <m:t>SD</m:t>
                                  </m:r>
                                  <m:r>
                                    <a:rPr lang="nb-NO" sz="200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nb-NO" sz="200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ε</m:t>
                                  </m:r>
                                </m:e>
                              </m:d>
                            </m:e>
                            <m:sup>
                              <m:r>
                                <a:rPr lang="nb-NO" sz="20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nb-NO" sz="2000" b="1">
                              <a:latin typeface="Cambria Math" panose="02040503050406030204" pitchFamily="18" charset="0"/>
                            </a:rPr>
                            <m:t>𝐏</m:t>
                          </m:r>
                          <m:r>
                            <a:rPr lang="nb-NO" sz="20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nb-NO" sz="2000">
                              <a:latin typeface="Cambria Math" panose="02040503050406030204" pitchFamily="18" charset="0"/>
                            </a:rPr>
                            <m:t>SD</m:t>
                          </m:r>
                        </m:num>
                        <m:den>
                          <m:sSup>
                            <m:sSupPr>
                              <m:ctrlPr>
                                <a:rPr lang="nb-NO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nb-NO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nb-NO" sz="2000">
                                      <a:latin typeface="Cambria Math" panose="02040503050406030204" pitchFamily="18" charset="0"/>
                                    </a:rPr>
                                    <m:t>SD</m:t>
                                  </m:r>
                                  <m:r>
                                    <a:rPr lang="nb-NO" sz="200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nb-NO" sz="200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ε</m:t>
                                  </m:r>
                                </m:e>
                              </m:d>
                            </m:e>
                            <m:sup>
                              <m:r>
                                <a:rPr lang="nb-NO" sz="20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NO" sz="2000" dirty="0">
                  <a:latin typeface="+mj-lt"/>
                </a:endParaRP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2839A9E8-B951-97EB-43F3-BE603E6047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086" y="23868909"/>
                <a:ext cx="4115950" cy="683842"/>
              </a:xfrm>
              <a:prstGeom prst="rect">
                <a:avLst/>
              </a:prstGeom>
              <a:blipFill>
                <a:blip r:embed="rId21"/>
                <a:stretch>
                  <a:fillRect b="-727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NO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9" name="Picture 38" descr="A graph of a person with a blue line&#10;&#10;Description automatically generated with medium confidence">
            <a:extLst>
              <a:ext uri="{FF2B5EF4-FFF2-40B4-BE49-F238E27FC236}">
                <a16:creationId xmlns:a16="http://schemas.microsoft.com/office/drawing/2014/main" id="{4E42F50B-85B8-4CDF-4CB7-D73F7AE2CF68}"/>
              </a:ext>
            </a:extLst>
          </p:cNvPr>
          <p:cNvPicPr>
            <a:picLocks noChangeAspect="1"/>
          </p:cNvPicPr>
          <p:nvPr/>
        </p:nvPicPr>
        <p:blipFill>
          <a:blip r:embed="rId22"/>
          <a:srcRect l="2688" t="8248" b="7930"/>
          <a:stretch/>
        </p:blipFill>
        <p:spPr>
          <a:xfrm>
            <a:off x="9445073" y="7176321"/>
            <a:ext cx="5580158" cy="2102886"/>
          </a:xfrm>
          <a:prstGeom prst="rect">
            <a:avLst/>
          </a:prstGeom>
        </p:spPr>
      </p:pic>
      <p:pic>
        <p:nvPicPr>
          <p:cNvPr id="44" name="Picture 43" descr="A graph of a graph showing the integration index&#10;&#10;Description automatically generated with medium confidence">
            <a:extLst>
              <a:ext uri="{FF2B5EF4-FFF2-40B4-BE49-F238E27FC236}">
                <a16:creationId xmlns:a16="http://schemas.microsoft.com/office/drawing/2014/main" id="{5B7EDE5F-3945-32F5-38CC-FF2F0C6A31AA}"/>
              </a:ext>
            </a:extLst>
          </p:cNvPr>
          <p:cNvPicPr>
            <a:picLocks noChangeAspect="1"/>
          </p:cNvPicPr>
          <p:nvPr/>
        </p:nvPicPr>
        <p:blipFill>
          <a:blip r:embed="rId23"/>
          <a:srcRect l="3293" t="8906" b="6885"/>
          <a:stretch/>
        </p:blipFill>
        <p:spPr>
          <a:xfrm>
            <a:off x="12721081" y="14600843"/>
            <a:ext cx="5155824" cy="2244786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F0881627-FDED-36CB-2825-F9C9AA8A4510}"/>
              </a:ext>
            </a:extLst>
          </p:cNvPr>
          <p:cNvSpPr txBox="1"/>
          <p:nvPr/>
        </p:nvSpPr>
        <p:spPr>
          <a:xfrm>
            <a:off x="5732414" y="3501802"/>
            <a:ext cx="320082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Sexual dimorphism shows extensive interspecific variation</a:t>
            </a:r>
          </a:p>
          <a:p>
            <a:pPr algn="just"/>
            <a:endParaRPr lang="en-GB" dirty="0">
              <a:latin typeface="+mj-l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The evolution of sexual dimorphism is likely multifactorial, but the role of evolvability remains unclear</a:t>
            </a:r>
            <a:endParaRPr lang="en-NO" dirty="0">
              <a:latin typeface="+mj-lt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AA98857-C5C4-81C4-8F03-CB72965DF8D4}"/>
              </a:ext>
            </a:extLst>
          </p:cNvPr>
          <p:cNvSpPr txBox="1"/>
          <p:nvPr/>
        </p:nvSpPr>
        <p:spPr>
          <a:xfrm>
            <a:off x="51596" y="7360533"/>
            <a:ext cx="2668673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Low evolvability may slow the pace of evolutionary change</a:t>
            </a:r>
          </a:p>
          <a:p>
            <a:pPr algn="just"/>
            <a:endParaRPr lang="en-GB" dirty="0">
              <a:latin typeface="+mj-l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High evolvability may promote greater morphological diversification and faster evolutionary change </a:t>
            </a:r>
            <a:endParaRPr lang="en-NO" dirty="0">
              <a:latin typeface="+mj-lt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DEBE397-DFED-67A9-A73E-E53C0E6A70F1}"/>
              </a:ext>
            </a:extLst>
          </p:cNvPr>
          <p:cNvSpPr txBox="1"/>
          <p:nvPr/>
        </p:nvSpPr>
        <p:spPr>
          <a:xfrm>
            <a:off x="68086" y="14783794"/>
            <a:ext cx="3902938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50 species from two simian clades: </a:t>
            </a:r>
            <a:r>
              <a:rPr lang="en-GB" dirty="0" err="1">
                <a:latin typeface="+mj-lt"/>
              </a:rPr>
              <a:t>Platyrrhini</a:t>
            </a:r>
            <a:r>
              <a:rPr lang="en-GB" dirty="0">
                <a:latin typeface="+mj-lt"/>
              </a:rPr>
              <a:t> and </a:t>
            </a:r>
            <a:r>
              <a:rPr lang="en-GB" dirty="0" err="1">
                <a:latin typeface="+mj-lt"/>
              </a:rPr>
              <a:t>Catarrhini</a:t>
            </a:r>
            <a:endParaRPr lang="en-GB" dirty="0">
              <a:latin typeface="+mj-l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GB" dirty="0">
              <a:latin typeface="+mj-l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38 linear cranial measurements collected from simian skulls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GB" dirty="0">
              <a:latin typeface="+mj-l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~ 2.520 simian skulls measured</a:t>
            </a:r>
          </a:p>
          <a:p>
            <a:pPr algn="just"/>
            <a:endParaRPr lang="en-GB" dirty="0">
              <a:latin typeface="+mj-l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b="1" dirty="0">
                <a:latin typeface="+mj-lt"/>
              </a:rPr>
              <a:t>P </a:t>
            </a:r>
            <a:r>
              <a:rPr lang="en-GB" dirty="0">
                <a:latin typeface="+mj-lt"/>
              </a:rPr>
              <a:t>matrices estimated for each species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GB" dirty="0">
              <a:latin typeface="+mj-l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Sexual dimorphism was measured as the </a:t>
            </a:r>
            <a:r>
              <a:rPr lang="en-GB" b="1" dirty="0">
                <a:latin typeface="+mj-lt"/>
              </a:rPr>
              <a:t>norm</a:t>
            </a:r>
            <a:r>
              <a:rPr lang="en-GB" dirty="0">
                <a:latin typeface="+mj-lt"/>
              </a:rPr>
              <a:t> of the vector difference between males and females</a:t>
            </a:r>
            <a:endParaRPr lang="en-NO" dirty="0">
              <a:latin typeface="+mj-lt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1187A56-B1FA-9F27-B2FB-0993F32A9119}"/>
              </a:ext>
            </a:extLst>
          </p:cNvPr>
          <p:cNvSpPr txBox="1"/>
          <p:nvPr/>
        </p:nvSpPr>
        <p:spPr>
          <a:xfrm>
            <a:off x="15223335" y="7461196"/>
            <a:ext cx="249641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Greater sexual dimorphism is associated with higher evolvability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D6BAD45-69D6-6421-B4AA-A5B6C3B3184E}"/>
              </a:ext>
            </a:extLst>
          </p:cNvPr>
          <p:cNvSpPr txBox="1"/>
          <p:nvPr/>
        </p:nvSpPr>
        <p:spPr>
          <a:xfrm>
            <a:off x="9201836" y="15239313"/>
            <a:ext cx="29677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No relationship was found between evolvability and morphological integration 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70CE742-0D43-A6BB-C3BB-CF3E199A61FC}"/>
              </a:ext>
            </a:extLst>
          </p:cNvPr>
          <p:cNvSpPr txBox="1"/>
          <p:nvPr/>
        </p:nvSpPr>
        <p:spPr>
          <a:xfrm>
            <a:off x="14348644" y="17945387"/>
            <a:ext cx="342725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High measurement error weakens and may eliminate the relationship between sexual dimorphism and evolvability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A8FCEDC-53FA-9566-1DCA-3D30F4F58BAD}"/>
              </a:ext>
            </a:extLst>
          </p:cNvPr>
          <p:cNvSpPr txBox="1"/>
          <p:nvPr/>
        </p:nvSpPr>
        <p:spPr>
          <a:xfrm>
            <a:off x="8940213" y="20680848"/>
            <a:ext cx="325788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Excluding </a:t>
            </a:r>
            <a:r>
              <a:rPr lang="en-GB" b="1" dirty="0">
                <a:latin typeface="+mj-lt"/>
              </a:rPr>
              <a:t>P</a:t>
            </a:r>
            <a:r>
              <a:rPr lang="en-GB" b="1" baseline="-25000" dirty="0">
                <a:latin typeface="+mj-lt"/>
              </a:rPr>
              <a:t>max</a:t>
            </a:r>
            <a:r>
              <a:rPr lang="en-GB" dirty="0">
                <a:latin typeface="+mj-lt"/>
              </a:rPr>
              <a:t> changes the relationship, making it nonlinear  and inverse</a:t>
            </a:r>
          </a:p>
        </p:txBody>
      </p:sp>
      <p:pic>
        <p:nvPicPr>
          <p:cNvPr id="61" name="Picture 60" descr="A math equation with symbols&#10;&#10;Description automatically generated with medium confidence">
            <a:extLst>
              <a:ext uri="{FF2B5EF4-FFF2-40B4-BE49-F238E27FC236}">
                <a16:creationId xmlns:a16="http://schemas.microsoft.com/office/drawing/2014/main" id="{2BFF21E1-6AC6-E62E-F3E5-83CF54A18B20}"/>
              </a:ext>
            </a:extLst>
          </p:cNvPr>
          <p:cNvPicPr>
            <a:picLocks noChangeAspect="1"/>
          </p:cNvPicPr>
          <p:nvPr/>
        </p:nvPicPr>
        <p:blipFill rotWithShape="1">
          <a:blip r:embed="rId24"/>
          <a:srcRect l="18084" t="19321" r="8955" b="13901"/>
          <a:stretch/>
        </p:blipFill>
        <p:spPr>
          <a:xfrm>
            <a:off x="6365535" y="17770640"/>
            <a:ext cx="1899398" cy="1074593"/>
          </a:xfrm>
          <a:prstGeom prst="rect">
            <a:avLst/>
          </a:prstGeom>
        </p:spPr>
      </p:pic>
      <p:pic>
        <p:nvPicPr>
          <p:cNvPr id="1029" name="Picture 1028" descr="A skull of a dog&#10;&#10;Description automatically generated">
            <a:extLst>
              <a:ext uri="{FF2B5EF4-FFF2-40B4-BE49-F238E27FC236}">
                <a16:creationId xmlns:a16="http://schemas.microsoft.com/office/drawing/2014/main" id="{6C2BD6E5-CBA4-88FD-2385-A17D48AA77A1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419859" y="20216032"/>
            <a:ext cx="4442773" cy="3207857"/>
          </a:xfrm>
          <a:prstGeom prst="rect">
            <a:avLst/>
          </a:prstGeom>
        </p:spPr>
      </p:pic>
      <p:sp>
        <p:nvSpPr>
          <p:cNvPr id="1037" name="Rounded Rectangle 1036">
            <a:extLst>
              <a:ext uri="{FF2B5EF4-FFF2-40B4-BE49-F238E27FC236}">
                <a16:creationId xmlns:a16="http://schemas.microsoft.com/office/drawing/2014/main" id="{300BAC21-9399-FCAE-9F98-FD7970E8DDBB}"/>
              </a:ext>
            </a:extLst>
          </p:cNvPr>
          <p:cNvSpPr/>
          <p:nvPr/>
        </p:nvSpPr>
        <p:spPr>
          <a:xfrm>
            <a:off x="1959760" y="2596554"/>
            <a:ext cx="5295639" cy="472805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O" sz="2800" b="1" dirty="0">
                <a:solidFill>
                  <a:schemeClr val="tx1"/>
                </a:solidFill>
                <a:latin typeface="+mj-lt"/>
              </a:rPr>
              <a:t>Sexual Dimorphism</a:t>
            </a:r>
          </a:p>
        </p:txBody>
      </p:sp>
      <p:sp>
        <p:nvSpPr>
          <p:cNvPr id="1038" name="Rounded Rectangle 1037">
            <a:extLst>
              <a:ext uri="{FF2B5EF4-FFF2-40B4-BE49-F238E27FC236}">
                <a16:creationId xmlns:a16="http://schemas.microsoft.com/office/drawing/2014/main" id="{EA698633-EF29-C53E-B1BB-EF12DD48ADF3}"/>
              </a:ext>
            </a:extLst>
          </p:cNvPr>
          <p:cNvSpPr/>
          <p:nvPr/>
        </p:nvSpPr>
        <p:spPr>
          <a:xfrm>
            <a:off x="1960520" y="6691820"/>
            <a:ext cx="5354714" cy="472805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O" sz="2800" b="1" dirty="0">
                <a:solidFill>
                  <a:schemeClr val="tx1"/>
                </a:solidFill>
                <a:latin typeface="+mj-lt"/>
              </a:rPr>
              <a:t>Evolvability and Modularity</a:t>
            </a:r>
          </a:p>
        </p:txBody>
      </p:sp>
      <p:sp>
        <p:nvSpPr>
          <p:cNvPr id="1039" name="Rounded Rectangle 1038">
            <a:extLst>
              <a:ext uri="{FF2B5EF4-FFF2-40B4-BE49-F238E27FC236}">
                <a16:creationId xmlns:a16="http://schemas.microsoft.com/office/drawing/2014/main" id="{F0A8E366-2C2C-6F7B-4CEB-BD36A1479088}"/>
              </a:ext>
            </a:extLst>
          </p:cNvPr>
          <p:cNvSpPr/>
          <p:nvPr/>
        </p:nvSpPr>
        <p:spPr>
          <a:xfrm>
            <a:off x="2046487" y="10509947"/>
            <a:ext cx="5319085" cy="472805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O" sz="2800" b="1" dirty="0">
                <a:solidFill>
                  <a:schemeClr val="tx1"/>
                </a:solidFill>
                <a:latin typeface="+mj-lt"/>
              </a:rPr>
              <a:t>Hypothesis</a:t>
            </a:r>
          </a:p>
        </p:txBody>
      </p:sp>
      <p:sp>
        <p:nvSpPr>
          <p:cNvPr id="1040" name="Rounded Rectangle 1039">
            <a:extLst>
              <a:ext uri="{FF2B5EF4-FFF2-40B4-BE49-F238E27FC236}">
                <a16:creationId xmlns:a16="http://schemas.microsoft.com/office/drawing/2014/main" id="{9A6DA982-1054-CC35-98C6-43A7E1DCF124}"/>
              </a:ext>
            </a:extLst>
          </p:cNvPr>
          <p:cNvSpPr/>
          <p:nvPr/>
        </p:nvSpPr>
        <p:spPr>
          <a:xfrm>
            <a:off x="2035104" y="13961376"/>
            <a:ext cx="5354714" cy="472805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O" sz="2800" b="1" dirty="0">
                <a:solidFill>
                  <a:schemeClr val="tx1"/>
                </a:solidFill>
                <a:latin typeface="+mj-lt"/>
              </a:rPr>
              <a:t>Data</a:t>
            </a:r>
          </a:p>
        </p:txBody>
      </p:sp>
      <p:sp>
        <p:nvSpPr>
          <p:cNvPr id="1041" name="Rounded Rectangle 1040">
            <a:extLst>
              <a:ext uri="{FF2B5EF4-FFF2-40B4-BE49-F238E27FC236}">
                <a16:creationId xmlns:a16="http://schemas.microsoft.com/office/drawing/2014/main" id="{B0D4F162-82BE-1786-3981-375FE8C911A8}"/>
              </a:ext>
            </a:extLst>
          </p:cNvPr>
          <p:cNvSpPr/>
          <p:nvPr/>
        </p:nvSpPr>
        <p:spPr>
          <a:xfrm>
            <a:off x="2013493" y="19206760"/>
            <a:ext cx="5306529" cy="472805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O" sz="2800" b="1" dirty="0">
                <a:solidFill>
                  <a:schemeClr val="tx1"/>
                </a:solidFill>
                <a:latin typeface="+mj-lt"/>
              </a:rPr>
              <a:t>Analysis</a:t>
            </a:r>
          </a:p>
        </p:txBody>
      </p:sp>
      <p:sp>
        <p:nvSpPr>
          <p:cNvPr id="1042" name="Rounded Rectangle 1041">
            <a:extLst>
              <a:ext uri="{FF2B5EF4-FFF2-40B4-BE49-F238E27FC236}">
                <a16:creationId xmlns:a16="http://schemas.microsoft.com/office/drawing/2014/main" id="{33AA6340-4997-B6DA-E7E5-8621CD217A88}"/>
              </a:ext>
            </a:extLst>
          </p:cNvPr>
          <p:cNvSpPr/>
          <p:nvPr/>
        </p:nvSpPr>
        <p:spPr>
          <a:xfrm>
            <a:off x="11111996" y="6628180"/>
            <a:ext cx="5349842" cy="472805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O" sz="2800" b="1" dirty="0">
                <a:solidFill>
                  <a:schemeClr val="tx1"/>
                </a:solidFill>
                <a:latin typeface="+mj-lt"/>
              </a:rPr>
              <a:t>Results</a:t>
            </a:r>
          </a:p>
        </p:txBody>
      </p:sp>
      <p:sp>
        <p:nvSpPr>
          <p:cNvPr id="1043" name="Rounded Rectangle 1042">
            <a:extLst>
              <a:ext uri="{FF2B5EF4-FFF2-40B4-BE49-F238E27FC236}">
                <a16:creationId xmlns:a16="http://schemas.microsoft.com/office/drawing/2014/main" id="{633596AB-2662-9308-363B-3AAF6CB3AEA8}"/>
              </a:ext>
            </a:extLst>
          </p:cNvPr>
          <p:cNvSpPr/>
          <p:nvPr/>
        </p:nvSpPr>
        <p:spPr>
          <a:xfrm>
            <a:off x="10840699" y="22689909"/>
            <a:ext cx="5354714" cy="472805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b-NO" sz="2800" b="1" dirty="0">
                <a:solidFill>
                  <a:schemeClr val="tx1"/>
                </a:solidFill>
                <a:latin typeface="+mj-lt"/>
              </a:rPr>
              <a:t>Conclusions and Next Steps</a:t>
            </a:r>
            <a:endParaRPr lang="en-NO" sz="2800" b="1" dirty="0">
              <a:solidFill>
                <a:schemeClr val="tx1"/>
              </a:solidFill>
              <a:latin typeface="+mj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44" name="TextBox 1043">
                <a:extLst>
                  <a:ext uri="{FF2B5EF4-FFF2-40B4-BE49-F238E27FC236}">
                    <a16:creationId xmlns:a16="http://schemas.microsoft.com/office/drawing/2014/main" id="{C4658F56-FD04-6315-A713-8900B0A49ADA}"/>
                  </a:ext>
                </a:extLst>
              </p:cNvPr>
              <p:cNvSpPr txBox="1"/>
              <p:nvPr/>
            </p:nvSpPr>
            <p:spPr>
              <a:xfrm>
                <a:off x="5029537" y="23856582"/>
                <a:ext cx="3240246" cy="57823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nb-NO" sz="2000">
                          <a:latin typeface="Cambria Math" panose="02040503050406030204" pitchFamily="18" charset="0"/>
                        </a:rPr>
                        <m:t>integration</m:t>
                      </m:r>
                      <m:r>
                        <a:rPr lang="nb-NO" sz="2000">
                          <a:latin typeface="Cambria Math" panose="02040503050406030204" pitchFamily="18" charset="0"/>
                        </a:rPr>
                        <m:t>=1 −</m:t>
                      </m:r>
                      <m:f>
                        <m:fPr>
                          <m:ctrlPr>
                            <a:rPr lang="nb-NO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nb-NO" sz="200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nb-NO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nb-NO" sz="2000">
                                  <a:latin typeface="Cambria Math" panose="02040503050406030204" pitchFamily="18" charset="0"/>
                                </a:rPr>
                                <m:t>SD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nb-NO" sz="200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sSup>
                            <m:sSupPr>
                              <m:ctrlPr>
                                <a:rPr lang="nb-NO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nb-NO" sz="2000" b="1">
                                  <a:latin typeface="Cambria Math" panose="02040503050406030204" pitchFamily="18" charset="0"/>
                                </a:rPr>
                                <m:t>𝐏</m:t>
                              </m:r>
                            </m:e>
                            <m:sup>
                              <m:r>
                                <a:rPr lang="nb-NO" sz="200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a:rPr lang="nb-NO" sz="2000">
                              <a:latin typeface="Cambria Math" panose="02040503050406030204" pitchFamily="18" charset="0"/>
                            </a:rPr>
                            <m:t>SD</m:t>
                          </m:r>
                        </m:den>
                      </m:f>
                    </m:oMath>
                  </m:oMathPara>
                </a14:m>
                <a:endParaRPr lang="en-NO" sz="2000" dirty="0">
                  <a:latin typeface="+mj-lt"/>
                </a:endParaRPr>
              </a:p>
            </p:txBody>
          </p:sp>
        </mc:Choice>
        <mc:Fallback xmlns="">
          <p:sp>
            <p:nvSpPr>
              <p:cNvPr id="1044" name="TextBox 1043">
                <a:extLst>
                  <a:ext uri="{FF2B5EF4-FFF2-40B4-BE49-F238E27FC236}">
                    <a16:creationId xmlns:a16="http://schemas.microsoft.com/office/drawing/2014/main" id="{C4658F56-FD04-6315-A713-8900B0A49A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9537" y="23856582"/>
                <a:ext cx="3240246" cy="578235"/>
              </a:xfrm>
              <a:prstGeom prst="rect">
                <a:avLst/>
              </a:prstGeom>
              <a:blipFill>
                <a:blip r:embed="rId26"/>
                <a:stretch>
                  <a:fillRect l="-2344" r="-1563" b="-1739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N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985B8B2C-8554-EAB5-803F-16437826B93D}"/>
              </a:ext>
            </a:extLst>
          </p:cNvPr>
          <p:cNvSpPr txBox="1"/>
          <p:nvPr/>
        </p:nvSpPr>
        <p:spPr>
          <a:xfrm>
            <a:off x="9236" y="-17556"/>
            <a:ext cx="12355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O" sz="2400" dirty="0">
                <a:latin typeface="+mj-lt"/>
              </a:rPr>
              <a:t>P265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8371677-7AD5-CD61-93B0-75D49FC0EEB2}"/>
                  </a:ext>
                </a:extLst>
              </p:cNvPr>
              <p:cNvSpPr txBox="1"/>
              <p:nvPr/>
            </p:nvSpPr>
            <p:spPr>
              <a:xfrm>
                <a:off x="1288530" y="24887316"/>
                <a:ext cx="6687353" cy="33733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nb-NO" sz="2000" b="0" i="0" smtClean="0">
                        <a:latin typeface="Cambria Math" panose="02040503050406030204" pitchFamily="18" charset="0"/>
                      </a:rPr>
                      <m:t>conditional</m:t>
                    </m:r>
                    <m:r>
                      <a:rPr lang="nb-NO" sz="2000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NO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nb-NO" sz="2000" i="0">
                            <a:latin typeface="Cambria Math" panose="02040503050406030204" pitchFamily="18" charset="0"/>
                          </a:rPr>
                          <m:t>e</m:t>
                        </m:r>
                        <m:r>
                          <m:rPr>
                            <m:sty m:val="p"/>
                          </m:rPr>
                          <a:rPr lang="nb-NO" sz="2000" b="0" i="0" smtClean="0">
                            <a:latin typeface="Cambria Math" panose="02040503050406030204" pitchFamily="18" charset="0"/>
                          </a:rPr>
                          <m:t>volvability</m:t>
                        </m:r>
                      </m:e>
                      <m:sub>
                        <m:r>
                          <a:rPr lang="nb-NO" sz="2000" i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nb-NO" sz="2000" i="0">
                            <a:latin typeface="Cambria Math" panose="02040503050406030204" pitchFamily="18" charset="0"/>
                          </a:rPr>
                          <m:t>SD</m:t>
                        </m:r>
                        <m:r>
                          <a:rPr lang="nb-NO" sz="2000" i="0">
                            <a:latin typeface="Cambria Math" panose="02040503050406030204" pitchFamily="18" charset="0"/>
                          </a:rPr>
                          <m:t>)</m:t>
                        </m:r>
                      </m:sub>
                    </m:sSub>
                    <m:r>
                      <a:rPr lang="nb-NO" sz="2000" i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NO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nb-NO" sz="2000" i="0">
                            <a:latin typeface="Cambria Math" panose="02040503050406030204" pitchFamily="18" charset="0"/>
                          </a:rPr>
                          <m:t>evolvability</m:t>
                        </m:r>
                      </m:e>
                      <m:sub>
                        <m:r>
                          <a:rPr lang="nb-NO" sz="2000" i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nb-NO" sz="2000" i="0">
                            <a:latin typeface="Cambria Math" panose="02040503050406030204" pitchFamily="18" charset="0"/>
                          </a:rPr>
                          <m:t>SD</m:t>
                        </m:r>
                        <m:r>
                          <a:rPr lang="nb-NO" sz="2000" i="0">
                            <a:latin typeface="Cambria Math" panose="02040503050406030204" pitchFamily="18" charset="0"/>
                          </a:rPr>
                          <m:t>)</m:t>
                        </m:r>
                      </m:sub>
                    </m:sSub>
                  </m:oMath>
                </a14:m>
                <a:r>
                  <a:rPr lang="en-NO" sz="2000" dirty="0">
                    <a:latin typeface="+mj-lt"/>
                  </a:rPr>
                  <a:t> .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nb-NO" sz="2000" i="0">
                        <a:latin typeface="Cambria Math" panose="02040503050406030204" pitchFamily="18" charset="0"/>
                      </a:rPr>
                      <m:t>integration</m:t>
                    </m:r>
                  </m:oMath>
                </a14:m>
                <a:endParaRPr lang="en-NO" sz="2000" dirty="0">
                  <a:latin typeface="+mj-lt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8371677-7AD5-CD61-93B0-75D49FC0EE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8530" y="24887316"/>
                <a:ext cx="6687353" cy="337336"/>
              </a:xfrm>
              <a:prstGeom prst="rect">
                <a:avLst/>
              </a:prstGeom>
              <a:blipFill>
                <a:blip r:embed="rId27"/>
                <a:stretch>
                  <a:fillRect l="-1328" t="-17857" b="-3571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NO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" name="Picture 18" descr="A diagram of a circle with arrows and lines&#10;&#10;Description automatically generated">
            <a:extLst>
              <a:ext uri="{FF2B5EF4-FFF2-40B4-BE49-F238E27FC236}">
                <a16:creationId xmlns:a16="http://schemas.microsoft.com/office/drawing/2014/main" id="{47973FEA-B44F-5AA7-2B0F-D631BEC52816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42264" y="19967844"/>
            <a:ext cx="4277595" cy="3723020"/>
          </a:xfrm>
          <a:prstGeom prst="rect">
            <a:avLst/>
          </a:prstGeom>
        </p:spPr>
      </p:pic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719766E-2FDB-64AF-67B3-11673E52E7AC}"/>
              </a:ext>
            </a:extLst>
          </p:cNvPr>
          <p:cNvCxnSpPr>
            <a:cxnSpLocks/>
          </p:cNvCxnSpPr>
          <p:nvPr/>
        </p:nvCxnSpPr>
        <p:spPr>
          <a:xfrm>
            <a:off x="7743903" y="17923969"/>
            <a:ext cx="0" cy="921264"/>
          </a:xfrm>
          <a:prstGeom prst="line">
            <a:avLst/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95F5218-F84D-A8AF-F265-BF61FD15AAAB}"/>
              </a:ext>
            </a:extLst>
          </p:cNvPr>
          <p:cNvSpPr txBox="1"/>
          <p:nvPr/>
        </p:nvSpPr>
        <p:spPr>
          <a:xfrm>
            <a:off x="10601598" y="9271905"/>
            <a:ext cx="28306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>
                <a:latin typeface="+mj-lt"/>
              </a:rPr>
              <a:t>Sexual Dimorphism (norm)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2BAE2C7-AA4F-6698-8F03-A5ACA7ABAA65}"/>
              </a:ext>
            </a:extLst>
          </p:cNvPr>
          <p:cNvSpPr txBox="1"/>
          <p:nvPr/>
        </p:nvSpPr>
        <p:spPr>
          <a:xfrm rot="16200000">
            <a:off x="8426424" y="8050436"/>
            <a:ext cx="1641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>
                <a:latin typeface="+mj-lt"/>
              </a:rPr>
              <a:t>Evolvability</a:t>
            </a:r>
            <a:r>
              <a:rPr lang="en-NO" b="1" baseline="-25000" dirty="0">
                <a:latin typeface="+mj-lt"/>
              </a:rPr>
              <a:t> (SD)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97911C2-7C71-5445-46F1-CDA5D2BE44CF}"/>
              </a:ext>
            </a:extLst>
          </p:cNvPr>
          <p:cNvSpPr txBox="1"/>
          <p:nvPr/>
        </p:nvSpPr>
        <p:spPr>
          <a:xfrm rot="16200000">
            <a:off x="11706330" y="15523328"/>
            <a:ext cx="1641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>
                <a:latin typeface="+mj-lt"/>
              </a:rPr>
              <a:t>Evolvability</a:t>
            </a:r>
            <a:r>
              <a:rPr lang="en-NO" b="1" baseline="-25000" dirty="0">
                <a:latin typeface="+mj-lt"/>
              </a:rPr>
              <a:t> (SD)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FE77A99-4921-B75B-57FB-16CA99761FE3}"/>
              </a:ext>
            </a:extLst>
          </p:cNvPr>
          <p:cNvSpPr txBox="1"/>
          <p:nvPr/>
        </p:nvSpPr>
        <p:spPr>
          <a:xfrm>
            <a:off x="14207886" y="16891879"/>
            <a:ext cx="26854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>
                <a:latin typeface="+mj-lt"/>
              </a:rPr>
              <a:t>Morphological Integration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091DC4E-95C4-7F90-8F94-12EB61E3C750}"/>
              </a:ext>
            </a:extLst>
          </p:cNvPr>
          <p:cNvSpPr txBox="1"/>
          <p:nvPr/>
        </p:nvSpPr>
        <p:spPr>
          <a:xfrm rot="16200000">
            <a:off x="8399720" y="18468780"/>
            <a:ext cx="1641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>
                <a:latin typeface="+mj-lt"/>
              </a:rPr>
              <a:t>Evolvability</a:t>
            </a:r>
            <a:r>
              <a:rPr lang="en-NO" b="1" baseline="-25000" dirty="0">
                <a:latin typeface="+mj-lt"/>
              </a:rPr>
              <a:t> (SD)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ABEC410-798F-7C9D-6C33-140118440E48}"/>
              </a:ext>
            </a:extLst>
          </p:cNvPr>
          <p:cNvSpPr txBox="1"/>
          <p:nvPr/>
        </p:nvSpPr>
        <p:spPr>
          <a:xfrm>
            <a:off x="10591877" y="19647318"/>
            <a:ext cx="28306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>
                <a:latin typeface="+mj-lt"/>
              </a:rPr>
              <a:t>Sexual Dimorphism (norm)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5B07C81-120D-7ABD-9F3F-D9928D26A251}"/>
              </a:ext>
            </a:extLst>
          </p:cNvPr>
          <p:cNvSpPr txBox="1"/>
          <p:nvPr/>
        </p:nvSpPr>
        <p:spPr>
          <a:xfrm>
            <a:off x="11192119" y="17113266"/>
            <a:ext cx="14805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latin typeface="+mj-lt"/>
              </a:rPr>
              <a:t>S</a:t>
            </a:r>
            <a:r>
              <a:rPr lang="en-NO" b="1" dirty="0">
                <a:latin typeface="+mj-lt"/>
              </a:rPr>
              <a:t>igma values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93A1D74-A8F0-06D4-96B6-13253B881487}"/>
              </a:ext>
            </a:extLst>
          </p:cNvPr>
          <p:cNvSpPr txBox="1"/>
          <p:nvPr/>
        </p:nvSpPr>
        <p:spPr>
          <a:xfrm>
            <a:off x="13778750" y="22236865"/>
            <a:ext cx="28306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>
                <a:latin typeface="+mj-lt"/>
              </a:rPr>
              <a:t>Sexual Dimorphism (norm)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0F09B08-B70D-E077-5E5F-A6D7F738EC59}"/>
              </a:ext>
            </a:extLst>
          </p:cNvPr>
          <p:cNvSpPr txBox="1"/>
          <p:nvPr/>
        </p:nvSpPr>
        <p:spPr>
          <a:xfrm rot="16200000">
            <a:off x="11767263" y="20817395"/>
            <a:ext cx="16723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>
                <a:latin typeface="+mj-lt"/>
              </a:rPr>
              <a:t>Evolvability</a:t>
            </a:r>
            <a:r>
              <a:rPr lang="en-NO" b="1" baseline="-25000" dirty="0">
                <a:latin typeface="+mj-lt"/>
              </a:rPr>
              <a:t> (SD) </a:t>
            </a:r>
          </a:p>
          <a:p>
            <a:r>
              <a:rPr lang="en-NO" b="1" dirty="0">
                <a:latin typeface="+mj-lt"/>
              </a:rPr>
              <a:t>outside P</a:t>
            </a:r>
            <a:r>
              <a:rPr lang="en-NO" b="1" baseline="-25000" dirty="0">
                <a:latin typeface="+mj-lt"/>
              </a:rPr>
              <a:t>max</a:t>
            </a:r>
          </a:p>
        </p:txBody>
      </p:sp>
      <p:pic>
        <p:nvPicPr>
          <p:cNvPr id="41" name="Picture 40" descr="A graph of different colored arrows&#10;&#10;Description automatically generated with medium confidence">
            <a:extLst>
              <a:ext uri="{FF2B5EF4-FFF2-40B4-BE49-F238E27FC236}">
                <a16:creationId xmlns:a16="http://schemas.microsoft.com/office/drawing/2014/main" id="{35213895-F13E-2458-CF47-461563EEF13D}"/>
              </a:ext>
            </a:extLst>
          </p:cNvPr>
          <p:cNvPicPr>
            <a:picLocks noChangeAspect="1"/>
          </p:cNvPicPr>
          <p:nvPr/>
        </p:nvPicPr>
        <p:blipFill>
          <a:blip r:embed="rId29"/>
          <a:srcRect l="3307" b="7773"/>
          <a:stretch/>
        </p:blipFill>
        <p:spPr>
          <a:xfrm>
            <a:off x="13264958" y="9878970"/>
            <a:ext cx="4716670" cy="1968233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1B42770E-1AC1-3561-0F35-F29EE786C0DB}"/>
              </a:ext>
            </a:extLst>
          </p:cNvPr>
          <p:cNvSpPr txBox="1"/>
          <p:nvPr/>
        </p:nvSpPr>
        <p:spPr>
          <a:xfrm>
            <a:off x="14111605" y="11783241"/>
            <a:ext cx="28306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>
                <a:latin typeface="+mj-lt"/>
              </a:rPr>
              <a:t>Sexual Dimorphism (norm)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4CE1698-F0BB-552A-1BC1-91CE3B726E33}"/>
              </a:ext>
            </a:extLst>
          </p:cNvPr>
          <p:cNvSpPr txBox="1"/>
          <p:nvPr/>
        </p:nvSpPr>
        <p:spPr>
          <a:xfrm rot="16200000">
            <a:off x="12451399" y="10598646"/>
            <a:ext cx="1316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>
                <a:latin typeface="+mj-lt"/>
              </a:rPr>
              <a:t>Evolvability</a:t>
            </a:r>
            <a:endParaRPr lang="en-NO" b="1" baseline="-25000" dirty="0">
              <a:latin typeface="+mj-lt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32C481D-4748-B266-F45B-DA83419E08BE}"/>
              </a:ext>
            </a:extLst>
          </p:cNvPr>
          <p:cNvSpPr txBox="1"/>
          <p:nvPr/>
        </p:nvSpPr>
        <p:spPr>
          <a:xfrm>
            <a:off x="10283484" y="14165234"/>
            <a:ext cx="28306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>
                <a:latin typeface="+mj-lt"/>
              </a:rPr>
              <a:t>Sexual Dimorphism (norm)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DD41C7F-22FE-C8F6-F696-BC120DC45B2D}"/>
              </a:ext>
            </a:extLst>
          </p:cNvPr>
          <p:cNvSpPr txBox="1"/>
          <p:nvPr/>
        </p:nvSpPr>
        <p:spPr>
          <a:xfrm rot="16200000">
            <a:off x="8576779" y="12778458"/>
            <a:ext cx="13677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>
                <a:latin typeface="+mj-lt"/>
              </a:rPr>
              <a:t>Conditional</a:t>
            </a:r>
          </a:p>
          <a:p>
            <a:r>
              <a:rPr lang="en-NO" b="1" dirty="0">
                <a:latin typeface="+mj-lt"/>
              </a:rPr>
              <a:t>Evolvability</a:t>
            </a:r>
            <a:endParaRPr lang="en-NO" b="1" baseline="-25000" dirty="0">
              <a:latin typeface="+mj-lt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999EAD4-8B3F-3A39-937F-0E31510DEAEC}"/>
              </a:ext>
            </a:extLst>
          </p:cNvPr>
          <p:cNvSpPr txBox="1"/>
          <p:nvPr/>
        </p:nvSpPr>
        <p:spPr>
          <a:xfrm>
            <a:off x="9254931" y="10340466"/>
            <a:ext cx="342725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Evolvability in the direction of sexual dimorphism is higher than the average evolvability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99E2430-32B8-6B89-0A66-A1EC76ABB186}"/>
              </a:ext>
            </a:extLst>
          </p:cNvPr>
          <p:cNvSpPr txBox="1"/>
          <p:nvPr/>
        </p:nvSpPr>
        <p:spPr>
          <a:xfrm>
            <a:off x="14428964" y="12534894"/>
            <a:ext cx="342725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Despite some variation, conditional evolvability in the direction of sexual dimorphism is higher than the average conditional evolvability</a:t>
            </a:r>
          </a:p>
        </p:txBody>
      </p:sp>
      <p:pic>
        <p:nvPicPr>
          <p:cNvPr id="1027" name="Picture 1026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87589CC9-3E4A-2CD5-702A-2F6DF962180D}"/>
              </a:ext>
            </a:extLst>
          </p:cNvPr>
          <p:cNvPicPr>
            <a:picLocks noChangeAspect="1"/>
          </p:cNvPicPr>
          <p:nvPr/>
        </p:nvPicPr>
        <p:blipFill>
          <a:blip r:embed="rId30"/>
          <a:srcRect r="29944"/>
          <a:stretch/>
        </p:blipFill>
        <p:spPr>
          <a:xfrm>
            <a:off x="13525147" y="9687564"/>
            <a:ext cx="1535007" cy="488726"/>
          </a:xfrm>
          <a:prstGeom prst="rect">
            <a:avLst/>
          </a:prstGeom>
        </p:spPr>
      </p:pic>
      <p:pic>
        <p:nvPicPr>
          <p:cNvPr id="1031" name="Picture 1030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6A8CF46C-8C30-52A6-2DC2-09EF230DB769}"/>
              </a:ext>
            </a:extLst>
          </p:cNvPr>
          <p:cNvPicPr>
            <a:picLocks noChangeAspect="1"/>
          </p:cNvPicPr>
          <p:nvPr/>
        </p:nvPicPr>
        <p:blipFill>
          <a:blip r:embed="rId30"/>
          <a:srcRect r="29944"/>
          <a:stretch/>
        </p:blipFill>
        <p:spPr>
          <a:xfrm>
            <a:off x="9845740" y="12124785"/>
            <a:ext cx="1535007" cy="48872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20E5BA5-673A-956F-5B96-019C1882195E}"/>
              </a:ext>
            </a:extLst>
          </p:cNvPr>
          <p:cNvSpPr txBox="1"/>
          <p:nvPr/>
        </p:nvSpPr>
        <p:spPr>
          <a:xfrm>
            <a:off x="6770718" y="1316472"/>
            <a:ext cx="422096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800" baseline="30000" dirty="0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1</a:t>
            </a:r>
            <a:r>
              <a:rPr lang="en-GB" sz="1800" dirty="0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Universidade de São Paulo (USP), Brazil</a:t>
            </a:r>
          </a:p>
          <a:p>
            <a:pPr algn="ctr"/>
            <a:r>
              <a:rPr lang="en-GB" sz="1800" baseline="30000" dirty="0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2</a:t>
            </a:r>
            <a:r>
              <a:rPr lang="en-GB" sz="1800" dirty="0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University of Oslo (</a:t>
            </a:r>
            <a:r>
              <a:rPr lang="en-GB" sz="1800" dirty="0" err="1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UiO</a:t>
            </a:r>
            <a:r>
              <a:rPr lang="en-GB" sz="1800" dirty="0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), Norway </a:t>
            </a:r>
          </a:p>
          <a:p>
            <a:pPr algn="ctr"/>
            <a:r>
              <a:rPr lang="en-GB" sz="1800" dirty="0" err="1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lucas.camacho@usp.br</a:t>
            </a:r>
            <a:endParaRPr lang="en-GB" sz="1800" dirty="0">
              <a:latin typeface="+mj-lt"/>
              <a:ea typeface="Cambria Math" panose="02040503050406030204" pitchFamily="18" charset="0"/>
              <a:cs typeface="Arial" panose="020B0604020202020204" pitchFamily="34" charset="0"/>
            </a:endParaRPr>
          </a:p>
          <a:p>
            <a:endParaRPr lang="en-NO" dirty="0">
              <a:latin typeface="+mj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716A01-93A4-1F4F-E369-30B9F31E4F89}"/>
              </a:ext>
            </a:extLst>
          </p:cNvPr>
          <p:cNvSpPr txBox="1"/>
          <p:nvPr/>
        </p:nvSpPr>
        <p:spPr>
          <a:xfrm>
            <a:off x="9209063" y="23373372"/>
            <a:ext cx="8617987" cy="2031325"/>
          </a:xfrm>
          <a:prstGeom prst="rect">
            <a:avLst/>
          </a:prstGeom>
          <a:noFill/>
          <a:ln w="12700">
            <a:noFill/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Sexual dimorphism tends to evolve along highly evolvable directions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Integration alone does not explain variation in evolvability among species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Measurement error does not substantially alter the observed patterns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latin typeface="+mj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Identify additional predictors of evolvability in the direction of sexual dimorphism.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Test whether these patterns are phylogenetically widespread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Examine the consequences of removing </a:t>
            </a:r>
            <a:r>
              <a:rPr lang="en-GB" b="1" dirty="0">
                <a:latin typeface="+mj-lt"/>
              </a:rPr>
              <a:t>Pmax</a:t>
            </a:r>
            <a:r>
              <a:rPr lang="en-GB" dirty="0">
                <a:latin typeface="+mj-lt"/>
              </a:rPr>
              <a:t> on evolvability estimates.</a:t>
            </a:r>
            <a:endParaRPr lang="en-NO" dirty="0">
              <a:latin typeface="+mj-lt"/>
            </a:endParaRPr>
          </a:p>
        </p:txBody>
      </p:sp>
      <p:pic>
        <p:nvPicPr>
          <p:cNvPr id="10" name="Picture 9" descr="A qr code with a dinosaur&#10;&#10;Description automatically generated">
            <a:extLst>
              <a:ext uri="{FF2B5EF4-FFF2-40B4-BE49-F238E27FC236}">
                <a16:creationId xmlns:a16="http://schemas.microsoft.com/office/drawing/2014/main" id="{99A15442-F3F8-0C0E-65BB-8E10F1687265}"/>
              </a:ext>
            </a:extLst>
      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5623293" y="1275756"/>
            <a:ext cx="805220" cy="80522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A33078A-FF5C-010A-BAC4-EF32B9723129}"/>
              </a:ext>
            </a:extLst>
          </p:cNvPr>
          <p:cNvCxnSpPr>
            <a:cxnSpLocks/>
          </p:cNvCxnSpPr>
          <p:nvPr/>
        </p:nvCxnSpPr>
        <p:spPr>
          <a:xfrm>
            <a:off x="8253677" y="17943510"/>
            <a:ext cx="0" cy="921264"/>
          </a:xfrm>
          <a:prstGeom prst="line">
            <a:avLst/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2" name="Picture 11" descr="A graph with a line and a line&#10;&#10;Description automatically generated">
            <a:extLst>
              <a:ext uri="{FF2B5EF4-FFF2-40B4-BE49-F238E27FC236}">
                <a16:creationId xmlns:a16="http://schemas.microsoft.com/office/drawing/2014/main" id="{590595B3-3CF8-E2A1-8307-779C9CEEAFC3}"/>
              </a:ext>
            </a:extLst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316605" y="11223169"/>
            <a:ext cx="4469087" cy="2388594"/>
          </a:xfrm>
          <a:prstGeom prst="rect">
            <a:avLst/>
          </a:prstGeom>
        </p:spPr>
      </p:pic>
      <p:pic>
        <p:nvPicPr>
          <p:cNvPr id="20" name="Picture 19" descr="A graph showing a graph of a bear and a rhinoceros&#10;&#10;Description automatically generated">
            <a:extLst>
              <a:ext uri="{FF2B5EF4-FFF2-40B4-BE49-F238E27FC236}">
                <a16:creationId xmlns:a16="http://schemas.microsoft.com/office/drawing/2014/main" id="{6FB0F683-66A7-F080-AD2E-B4F0DF5CFE42}"/>
              </a:ext>
            </a:extLst>
      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159505" y="11217725"/>
            <a:ext cx="4051481" cy="2408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8545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5937</TotalTime>
  <Words>354</Words>
  <Application>Microsoft Macintosh PowerPoint</Application>
  <PresentationFormat>Custom</PresentationFormat>
  <Paragraphs>63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Lucas Camacho</dc:creator>
  <cp:lastModifiedBy>Lucas Camacho</cp:lastModifiedBy>
  <cp:revision>181</cp:revision>
  <dcterms:created xsi:type="dcterms:W3CDTF">2026-05-18T08:52:12Z</dcterms:created>
  <dcterms:modified xsi:type="dcterms:W3CDTF">2026-05-29T14:15:47Z</dcterms:modified>
</cp:coreProperties>
</file>