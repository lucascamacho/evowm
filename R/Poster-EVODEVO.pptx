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138" d="100"/>
          <a:sy n="138" d="100"/>
        </p:scale>
        <p:origin x="-2176" y="-12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300874" y="141830"/>
            <a:ext cx="13355707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>
                <a:latin typeface="+mj-lt"/>
              </a:rPr>
              <a:t>Modularity and Evolvability of Simian Cranial Sexual Dimorphism</a:t>
            </a:r>
            <a:endParaRPr lang="en-NO" sz="3743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858189" y="774986"/>
            <a:ext cx="8247386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233618"/>
            <a:ext cx="1173527" cy="8544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16912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>
                <a:latin typeface="+mj-lt"/>
              </a:rPr>
              <a:t>l</a:t>
            </a:r>
            <a:r>
              <a:rPr lang="en-NO" sz="1531" b="1" dirty="0">
                <a:latin typeface="+mj-lt"/>
              </a:rPr>
              <a:t>ucascamacho.github.io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597471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7859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graph showing a graph showing a bear and an animal&#10;&#10;Description automatically generated">
            <a:extLst>
              <a:ext uri="{FF2B5EF4-FFF2-40B4-BE49-F238E27FC236}">
                <a16:creationId xmlns:a16="http://schemas.microsoft.com/office/drawing/2014/main" id="{B2E53FB8-974C-D404-042F-A50C1CF3C6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85" y="11334759"/>
            <a:ext cx="4110937" cy="2242329"/>
          </a:xfrm>
          <a:prstGeom prst="rect">
            <a:avLst/>
          </a:prstGeom>
        </p:spPr>
      </p:pic>
      <p:pic>
        <p:nvPicPr>
          <p:cNvPr id="16" name="Picture 15" descr="A graph with blue lines and orange lines&#10;&#10;Description automatically generated">
            <a:extLst>
              <a:ext uri="{FF2B5EF4-FFF2-40B4-BE49-F238E27FC236}">
                <a16:creationId xmlns:a16="http://schemas.microsoft.com/office/drawing/2014/main" id="{F74201F6-F265-D746-387D-58A81A6018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8324"/>
          <a:stretch/>
        </p:blipFill>
        <p:spPr>
          <a:xfrm>
            <a:off x="4307812" y="11363253"/>
            <a:ext cx="4484176" cy="2242330"/>
          </a:xfrm>
          <a:prstGeom prst="rect">
            <a:avLst/>
          </a:prstGeom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1314"/>
          <a:stretch/>
        </p:blipFill>
        <p:spPr>
          <a:xfrm>
            <a:off x="9534356" y="2580307"/>
            <a:ext cx="8040960" cy="3889712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6315"/>
          <a:stretch/>
        </p:blipFill>
        <p:spPr>
          <a:xfrm>
            <a:off x="2918607" y="7421038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Cambria Math" panose="02040503050406030204" pitchFamily="18" charset="0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b="-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The evolution of sexual dimorphism is likely multifactorial, but the role of evolvability remains unclear</a:t>
            </a:r>
            <a:endParaRPr lang="en-NO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Low evolvability may constrain evolutionary change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evolvability may promote greater morphological diversification and faster evolutionary change </a:t>
            </a:r>
            <a:endParaRPr lang="en-NO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50 species from two simian clades: </a:t>
            </a:r>
            <a:r>
              <a:rPr lang="en-GB" dirty="0" err="1">
                <a:latin typeface="+mj-lt"/>
              </a:rPr>
              <a:t>Platyrrhini</a:t>
            </a:r>
            <a:r>
              <a:rPr lang="en-GB" dirty="0">
                <a:latin typeface="+mj-lt"/>
              </a:rPr>
              <a:t> and </a:t>
            </a:r>
            <a:r>
              <a:rPr lang="en-GB" dirty="0" err="1">
                <a:latin typeface="+mj-lt"/>
              </a:rPr>
              <a:t>Catarrhini</a:t>
            </a: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~11,000 simian skulls measured.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>
                <a:latin typeface="+mj-lt"/>
              </a:rPr>
              <a:t>P </a:t>
            </a:r>
            <a:r>
              <a:rPr lang="en-GB" dirty="0">
                <a:latin typeface="+mj-lt"/>
              </a:rPr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was measured as the </a:t>
            </a:r>
            <a:r>
              <a:rPr lang="en-GB" b="1" dirty="0">
                <a:latin typeface="+mj-lt"/>
              </a:rPr>
              <a:t>norm</a:t>
            </a:r>
            <a:r>
              <a:rPr lang="en-GB" dirty="0">
                <a:latin typeface="+mj-lt"/>
              </a:rPr>
              <a:t> of the vector difference between males and females</a:t>
            </a:r>
            <a:endParaRPr lang="en-NO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4868609"/>
            <a:ext cx="296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8940213" y="20680848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Excluding </a:t>
            </a:r>
            <a:r>
              <a:rPr lang="en-GB" b="1" dirty="0">
                <a:latin typeface="+mj-lt"/>
              </a:rPr>
              <a:t>P</a:t>
            </a:r>
            <a:r>
              <a:rPr lang="en-GB" b="1" baseline="-25000" dirty="0">
                <a:latin typeface="+mj-lt"/>
              </a:rPr>
              <a:t>max</a:t>
            </a:r>
            <a:r>
              <a:rPr lang="en-GB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2800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200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34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Cambria Math" panose="02040503050406030204" pitchFamily="18" charset="0"/>
                      </a:rPr>
                      <m:t>conditional</m:t>
                    </m:r>
                    <m:r>
                      <a:rPr lang="nb-NO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Cambria Math" panose="02040503050406030204" pitchFamily="18" charset="0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Cambria Math" panose="02040503050406030204" pitchFamily="18" charset="0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7743903" y="17923969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426424" y="8050436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706330" y="15523328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68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99720" y="18468780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480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+mj-lt"/>
              </a:rPr>
              <a:t>S</a:t>
            </a:r>
            <a:r>
              <a:rPr lang="en-NO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67263" y="20817395"/>
            <a:ext cx="1672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 </a:t>
            </a:r>
          </a:p>
          <a:p>
            <a:r>
              <a:rPr lang="en-NO" b="1" dirty="0">
                <a:latin typeface="+mj-lt"/>
              </a:rPr>
              <a:t>outside P</a:t>
            </a:r>
            <a:r>
              <a:rPr lang="en-NO" b="1" baseline="-25000" dirty="0">
                <a:latin typeface="+mj-lt"/>
              </a:rPr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51399" y="10598646"/>
            <a:ext cx="131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597651" y="12790815"/>
            <a:ext cx="132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Conditional</a:t>
            </a:r>
          </a:p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342467" y="12374256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770718" y="1316472"/>
            <a:ext cx="4220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is frequently aligned with </a:t>
            </a:r>
            <a:r>
              <a:rPr lang="en-GB" b="1" dirty="0">
                <a:latin typeface="+mj-lt"/>
              </a:rPr>
              <a:t>Pmax</a:t>
            </a:r>
            <a:endParaRPr lang="en-GB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Examine the consequences of removing </a:t>
            </a:r>
            <a:r>
              <a:rPr lang="en-GB" b="1" dirty="0">
                <a:latin typeface="+mj-lt"/>
              </a:rPr>
              <a:t>Pmax</a:t>
            </a:r>
            <a:r>
              <a:rPr lang="en-GB" dirty="0">
                <a:latin typeface="+mj-lt"/>
              </a:rPr>
              <a:t> on evolvability estimates.</a:t>
            </a:r>
            <a:endParaRPr lang="en-NO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623293" y="1275756"/>
            <a:ext cx="805220" cy="80522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8253677" y="17943510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5884</TotalTime>
  <Words>359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164</cp:revision>
  <dcterms:created xsi:type="dcterms:W3CDTF">2026-05-18T08:52:12Z</dcterms:created>
  <dcterms:modified xsi:type="dcterms:W3CDTF">2026-05-28T16:28:22Z</dcterms:modified>
</cp:coreProperties>
</file>