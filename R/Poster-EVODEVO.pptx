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30240288" cy="42479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51" d="100"/>
          <a:sy n="51" d="100"/>
        </p:scale>
        <p:origin x="880" y="-8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2038" y="1143000"/>
            <a:ext cx="21939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1pPr>
    <a:lvl2pPr marL="73467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2pPr>
    <a:lvl3pPr marL="146934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3pPr>
    <a:lvl4pPr marL="220400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4pPr>
    <a:lvl5pPr marL="293867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5pPr>
    <a:lvl6pPr marL="367335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6pPr>
    <a:lvl7pPr marL="440802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7pPr>
    <a:lvl8pPr marL="5142690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8pPr>
    <a:lvl9pPr marL="5877359" algn="l" defTabSz="1469340" rtl="0" eaLnBrk="1" latinLnBrk="0" hangingPunct="1">
      <a:defRPr sz="192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2038" y="1143000"/>
            <a:ext cx="21939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6952156"/>
            <a:ext cx="25704245" cy="14789303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22311791"/>
            <a:ext cx="22680216" cy="10256143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17529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70245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10590491"/>
            <a:ext cx="26082248" cy="17670461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28428121"/>
            <a:ext cx="26082248" cy="9292478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090151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11308310"/>
            <a:ext cx="12852122" cy="2695311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776850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261671"/>
            <a:ext cx="26082248" cy="821082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10413482"/>
            <a:ext cx="12793057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15516968"/>
            <a:ext cx="12793057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10413482"/>
            <a:ext cx="12856061" cy="5103486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15516968"/>
            <a:ext cx="12856061" cy="22823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86084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87185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7176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6116330"/>
            <a:ext cx="15309146" cy="30188272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622605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2831994"/>
            <a:ext cx="9753280" cy="9911980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6116330"/>
            <a:ext cx="15309146" cy="30188272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12743974"/>
            <a:ext cx="9753280" cy="23609788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98906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8898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2261662"/>
            <a:ext cx="6520562" cy="359997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2261662"/>
            <a:ext cx="19183683" cy="359997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33167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2261671"/>
            <a:ext cx="26082248" cy="82108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11308310"/>
            <a:ext cx="26082248" cy="26953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08/06/2026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39372595"/>
            <a:ext cx="10206097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39372595"/>
            <a:ext cx="6804065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338720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26" Type="http://schemas.openxmlformats.org/officeDocument/2006/relationships/image" Target="../media/image18.png"/><Relationship Id="rId3" Type="http://schemas.openxmlformats.org/officeDocument/2006/relationships/image" Target="../media/image1.png"/><Relationship Id="rId21" Type="http://schemas.openxmlformats.org/officeDocument/2006/relationships/image" Target="../media/image15.png"/><Relationship Id="rId34" Type="http://schemas.openxmlformats.org/officeDocument/2006/relationships/image" Target="../media/image28.png"/><Relationship Id="rId7" Type="http://schemas.openxmlformats.org/officeDocument/2006/relationships/image" Target="../media/image5.png"/><Relationship Id="rId12" Type="http://schemas.openxmlformats.org/officeDocument/2006/relationships/hyperlink" Target="lucascamacho.github.io" TargetMode="External"/><Relationship Id="rId17" Type="http://schemas.openxmlformats.org/officeDocument/2006/relationships/image" Target="../media/image14.png"/><Relationship Id="rId25" Type="http://schemas.openxmlformats.org/officeDocument/2006/relationships/image" Target="../media/image17.png"/><Relationship Id="rId3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60.png"/><Relationship Id="rId29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32" Type="http://schemas.openxmlformats.org/officeDocument/2006/relationships/image" Target="../media/image26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28" Type="http://schemas.openxmlformats.org/officeDocument/2006/relationships/image" Target="../media/image22.png"/><Relationship Id="rId10" Type="http://schemas.openxmlformats.org/officeDocument/2006/relationships/image" Target="../media/image8.png"/><Relationship Id="rId31" Type="http://schemas.openxmlformats.org/officeDocument/2006/relationships/image" Target="../media/image25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6.png"/><Relationship Id="rId27" Type="http://schemas.openxmlformats.org/officeDocument/2006/relationships/image" Target="../media/image20.png"/><Relationship Id="rId30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Picture 1030" descr="A graph of black dots&#10;&#10;Description automatically generated">
            <a:extLst>
              <a:ext uri="{FF2B5EF4-FFF2-40B4-BE49-F238E27FC236}">
                <a16:creationId xmlns:a16="http://schemas.microsoft.com/office/drawing/2014/main" id="{2C42ACC7-3316-E986-4573-90F5FEA4CA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4" b="6886"/>
          <a:stretch/>
        </p:blipFill>
        <p:spPr>
          <a:xfrm>
            <a:off x="22311207" y="25225501"/>
            <a:ext cx="7509365" cy="316626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0" y="-14560"/>
            <a:ext cx="30240288" cy="3926974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4773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26402198" y="40425174"/>
            <a:ext cx="3719897" cy="1408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13724821" y="40354064"/>
            <a:ext cx="2962657" cy="157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51653" y="40238666"/>
            <a:ext cx="4568663" cy="148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373" y="40550789"/>
            <a:ext cx="3366643" cy="96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709333" y="-91154"/>
            <a:ext cx="2476911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latin typeface="+mj-lt"/>
              </a:rPr>
              <a:t>The Role of Evolvability and Integration in Shaping Sexual Dimorphism in the Cranial Morphology of </a:t>
            </a:r>
            <a:r>
              <a:rPr lang="en-GB" sz="6000" b="1" dirty="0" err="1">
                <a:latin typeface="+mj-lt"/>
              </a:rPr>
              <a:t>Simiiform</a:t>
            </a:r>
            <a:r>
              <a:rPr lang="en-GB" sz="6000" b="1" dirty="0">
                <a:latin typeface="+mj-lt"/>
              </a:rPr>
              <a:t> Monkeys</a:t>
            </a:r>
            <a:endParaRPr lang="en-NO" sz="5834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8727145" y="1813084"/>
            <a:ext cx="12728484" cy="1969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243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4243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3713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4243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15022186" y="3898383"/>
            <a:ext cx="0" cy="358371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1824" y="22778546"/>
            <a:ext cx="7954266" cy="5110384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987" y="1982050"/>
            <a:ext cx="1811710" cy="126819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54500" y="364152"/>
            <a:ext cx="1829230" cy="13319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572" y="1342641"/>
            <a:ext cx="2610586" cy="225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41787438"/>
            <a:ext cx="30240287" cy="69433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2387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26635395" y="41879043"/>
            <a:ext cx="3286412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387" b="1" dirty="0">
                <a:latin typeface="+mj-lt"/>
                <a:hlinkClick r:id="rId12"/>
              </a:rPr>
              <a:t>l</a:t>
            </a:r>
            <a:r>
              <a:rPr lang="en-NO" sz="2387" b="1" dirty="0">
                <a:latin typeface="+mj-lt"/>
                <a:hlinkClick r:id="rId12"/>
              </a:rPr>
              <a:t>ucascamacho.github.io</a:t>
            </a:r>
            <a:endParaRPr lang="en-NO" sz="2387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47025" y="41916267"/>
            <a:ext cx="9219255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14670433" y="41930928"/>
            <a:ext cx="845103" cy="4596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387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94033" y="40459708"/>
            <a:ext cx="3428692" cy="123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03238" y="28691910"/>
            <a:ext cx="2461741" cy="1342767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1314"/>
          <a:stretch/>
        </p:blipFill>
        <p:spPr>
          <a:xfrm>
            <a:off x="16399684" y="4035952"/>
            <a:ext cx="12726411" cy="6156240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5691" y="5160390"/>
            <a:ext cx="8750517" cy="4773008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2888" t="7800" b="7420"/>
          <a:stretch/>
        </p:blipFill>
        <p:spPr>
          <a:xfrm>
            <a:off x="16463434" y="21089679"/>
            <a:ext cx="7932532" cy="30297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3118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3118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3118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3118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18" y="37874974"/>
                <a:ext cx="6415722" cy="995978"/>
              </a:xfrm>
              <a:prstGeom prst="rect">
                <a:avLst/>
              </a:prstGeom>
              <a:blipFill>
                <a:blip r:embed="rId20"/>
                <a:stretch>
                  <a:fillRect t="-5063" b="-75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9812453" y="5268345"/>
            <a:ext cx="4989269" cy="4528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shows extensive interspecific variation</a:t>
            </a:r>
          </a:p>
          <a:p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The evolution of sexual dimorphism is likely multifactorial, but the role of evolvability remains unclear</a:t>
            </a:r>
            <a:endParaRPr lang="en-NO" sz="3203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323473" y="22731363"/>
            <a:ext cx="6083691" cy="7485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50 species from two simian clades: </a:t>
            </a:r>
            <a:r>
              <a:rPr lang="en-GB" sz="3203" dirty="0" err="1">
                <a:latin typeface="+mj-lt"/>
              </a:rPr>
              <a:t>Platyrrhini</a:t>
            </a:r>
            <a:r>
              <a:rPr lang="en-GB" sz="3203" dirty="0">
                <a:latin typeface="+mj-lt"/>
              </a:rPr>
              <a:t> and </a:t>
            </a:r>
            <a:r>
              <a:rPr lang="en-GB" sz="3203" dirty="0" err="1">
                <a:latin typeface="+mj-lt"/>
              </a:rPr>
              <a:t>Catarrhini</a:t>
            </a: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38 linear cranial measurements collected from simian skulls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~ 5.416 simian skulls measured</a:t>
            </a:r>
          </a:p>
          <a:p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b="1" dirty="0">
                <a:latin typeface="+mj-lt"/>
              </a:rPr>
              <a:t>P </a:t>
            </a:r>
            <a:r>
              <a:rPr lang="en-GB" sz="3203" dirty="0">
                <a:latin typeface="+mj-lt"/>
              </a:rPr>
              <a:t>matrices estimated for each species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endParaRPr lang="en-GB" sz="3203" dirty="0">
              <a:latin typeface="+mj-lt"/>
            </a:endParaRP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Sexual dimorphism was measured as the </a:t>
            </a:r>
            <a:r>
              <a:rPr lang="en-GB" sz="3203" b="1" dirty="0">
                <a:latin typeface="+mj-lt"/>
              </a:rPr>
              <a:t>norm</a:t>
            </a:r>
            <a:r>
              <a:rPr lang="en-GB" sz="3203" dirty="0">
                <a:latin typeface="+mj-lt"/>
              </a:rPr>
              <a:t> of the vector difference between males and females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24462944" y="12067320"/>
            <a:ext cx="5561838" cy="304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Greater sexual dimorphism is associated with higher evolvability in size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Empirical errors are  small and does not influence the main pattern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23702407" y="31721142"/>
            <a:ext cx="61120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No direct relation between Evolvability and Integration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5187106" y="16912314"/>
            <a:ext cx="607303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Theoretical simulation of high measurement error shows that excessive noise can weaken the observed relationship between sexual dimorphism and evolvability.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24369748" y="21396613"/>
            <a:ext cx="5078209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The relation between sexual dimorphism and evolvability in shape is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18084" t="19321" r="8955" b="13901"/>
          <a:stretch/>
        </p:blipFill>
        <p:spPr>
          <a:xfrm>
            <a:off x="10951549" y="28330167"/>
            <a:ext cx="3213731" cy="1818184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65785" y="31957935"/>
            <a:ext cx="6925157" cy="5000236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4145680" y="4230251"/>
            <a:ext cx="8254559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4146863" y="10430851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Evolvability and Integration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4749616" y="16647144"/>
            <a:ext cx="829110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4263120" y="21606130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4229436" y="30579977"/>
            <a:ext cx="8271534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8411696" y="10793924"/>
            <a:ext cx="8339046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4365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8009480" y="35822053"/>
            <a:ext cx="8346642" cy="73698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4365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4365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3564590" y="39204944"/>
                <a:ext cx="7987699" cy="10757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3118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3118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conditional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O" sz="311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590" y="39204944"/>
                <a:ext cx="7987699" cy="1075744"/>
              </a:xfrm>
              <a:prstGeom prst="rect">
                <a:avLst/>
              </a:prstGeom>
              <a:blipFill>
                <a:blip r:embed="rId23"/>
                <a:stretch>
                  <a:fillRect l="-1270" t="-5814" r="-476" b="-116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131452" y="-27364"/>
            <a:ext cx="1925845" cy="668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741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3118">
                          <a:latin typeface="Cambria Math" panose="02040503050406030204" pitchFamily="18" charset="0"/>
                        </a:rPr>
                        <m:t>conditional</m:t>
                      </m:r>
                      <m:r>
                        <a:rPr lang="nb-NO" sz="3118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NO" sz="311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3118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3118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3118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3118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3118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3118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3118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3118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3118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010" y="37749092"/>
                <a:ext cx="10423887" cy="901850"/>
              </a:xfrm>
              <a:prstGeom prst="rect">
                <a:avLst/>
              </a:prstGeom>
              <a:blipFill>
                <a:blip r:embed="rId24"/>
                <a:stretch>
                  <a:fillRect t="-1389" b="-12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7542" y="31628518"/>
            <a:ext cx="6667686" cy="5803244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13303748" y="28569168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8492084" y="15461915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  <a:endParaRPr lang="en-NO" sz="3203" b="1" baseline="-25000" dirty="0">
              <a:latin typeface="+mj-l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14172279" y="13310529"/>
            <a:ext cx="332475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Size)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8674384" y="35161095"/>
            <a:ext cx="2646237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Integration</a:t>
            </a:r>
            <a:r>
              <a:rPr lang="en-NO" sz="3203" b="1" baseline="-25000" dirty="0">
                <a:latin typeface="+mj-lt"/>
              </a:rPr>
              <a:t> (SD)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19776693" y="18226626"/>
            <a:ext cx="332475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Size)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23997924" y="20271857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23210442" y="16254701"/>
            <a:ext cx="5158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3203" b="1" dirty="0" err="1">
                <a:latin typeface="+mj-lt"/>
              </a:rPr>
              <a:t>Theoretical</a:t>
            </a:r>
            <a:r>
              <a:rPr lang="nb-NO" sz="3203" b="1" dirty="0">
                <a:latin typeface="+mj-lt"/>
              </a:rPr>
              <a:t> </a:t>
            </a:r>
            <a:r>
              <a:rPr lang="nb-NO" sz="3203" b="1" dirty="0" err="1">
                <a:latin typeface="+mj-lt"/>
              </a:rPr>
              <a:t>Error</a:t>
            </a:r>
            <a:r>
              <a:rPr lang="nb-NO" sz="3203" b="1" dirty="0">
                <a:latin typeface="+mj-lt"/>
              </a:rPr>
              <a:t> Values (</a:t>
            </a:r>
            <a:r>
              <a:rPr lang="el-GR" sz="3600" b="0" i="0" dirty="0"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σ²</a:t>
            </a:r>
            <a:r>
              <a:rPr lang="nb-NO" sz="3203" b="1" dirty="0">
                <a:latin typeface="+mj-lt"/>
              </a:rPr>
              <a:t>)</a:t>
            </a:r>
            <a:endParaRPr lang="en-NO" sz="3203" b="1" dirty="0">
              <a:latin typeface="+mj-l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8784350" y="24120122"/>
            <a:ext cx="361188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Sexual Dimorphism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4287279" y="22143817"/>
            <a:ext cx="367998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Shape)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11289190" y="2547160"/>
            <a:ext cx="7290522" cy="18805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2806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2806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2806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2806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sz="3203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15079199" y="36841364"/>
            <a:ext cx="15204631" cy="255454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Sexual dimorphism tends to evolve along highly evolvable directions</a:t>
            </a:r>
          </a:p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Measurement error can be important but does not substantially alter the empirical observed patterns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3200" dirty="0">
                <a:latin typeface="+mj-lt"/>
              </a:rPr>
              <a:t>Test whether these patterns are phylogenetically widespread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3200" dirty="0">
                <a:latin typeface="+mj-lt"/>
              </a:rPr>
              <a:t>Better examine the consequences of removing size on evolvability estimates</a:t>
            </a:r>
            <a:endParaRPr lang="en-NO" sz="3200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399577" y="1988582"/>
            <a:ext cx="1255133" cy="125513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14128034" y="28592370"/>
            <a:ext cx="0" cy="155875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22876" y="17485590"/>
            <a:ext cx="6575662" cy="3909191"/>
          </a:xfrm>
          <a:prstGeom prst="rect">
            <a:avLst/>
          </a:prstGeom>
        </p:spPr>
      </p:pic>
      <p:pic>
        <p:nvPicPr>
          <p:cNvPr id="13" name="Picture 12" descr="A graph of a graph showing the difference between high integration and high integration&#10;&#10;Description automatically generated">
            <a:extLst>
              <a:ext uri="{FF2B5EF4-FFF2-40B4-BE49-F238E27FC236}">
                <a16:creationId xmlns:a16="http://schemas.microsoft.com/office/drawing/2014/main" id="{1FE259EC-9DE3-53E0-8A1C-61BCDE1F2A35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77869" y="17498400"/>
            <a:ext cx="7126057" cy="375319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16B1D5-299C-5417-D5AF-2AEFA34B4462}"/>
              </a:ext>
            </a:extLst>
          </p:cNvPr>
          <p:cNvSpPr txBox="1"/>
          <p:nvPr/>
        </p:nvSpPr>
        <p:spPr>
          <a:xfrm rot="16200000">
            <a:off x="14191324" y="33252913"/>
            <a:ext cx="3377656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Size)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589F92-2C6A-3F19-3A2A-792733A8ABB1}"/>
              </a:ext>
            </a:extLst>
          </p:cNvPr>
          <p:cNvSpPr txBox="1"/>
          <p:nvPr/>
        </p:nvSpPr>
        <p:spPr>
          <a:xfrm>
            <a:off x="23969063" y="28283684"/>
            <a:ext cx="4171335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3203" b="1" dirty="0">
                <a:latin typeface="+mj-lt"/>
              </a:rPr>
              <a:t>ln</a:t>
            </a:r>
            <a:r>
              <a:rPr lang="en-NO" sz="3203" b="1" dirty="0">
                <a:latin typeface="+mj-lt"/>
              </a:rPr>
              <a:t> Sexual Dimorphism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7A565-CEFC-5428-F30E-DEC85A4CEFF6}"/>
              </a:ext>
            </a:extLst>
          </p:cNvPr>
          <p:cNvSpPr txBox="1"/>
          <p:nvPr/>
        </p:nvSpPr>
        <p:spPr>
          <a:xfrm rot="16200000">
            <a:off x="20005351" y="25942408"/>
            <a:ext cx="3627083" cy="1078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3" b="1" dirty="0">
                <a:latin typeface="+mj-lt"/>
              </a:rPr>
              <a:t>l</a:t>
            </a:r>
            <a:r>
              <a:rPr lang="en-NO" sz="3203" b="1" dirty="0">
                <a:latin typeface="+mj-lt"/>
              </a:rPr>
              <a:t>n Conditional </a:t>
            </a:r>
          </a:p>
          <a:p>
            <a:pPr algn="ctr"/>
            <a:r>
              <a:rPr lang="en-NO" sz="3203" b="1" dirty="0">
                <a:latin typeface="+mj-lt"/>
              </a:rPr>
              <a:t>Evolvability</a:t>
            </a:r>
            <a:r>
              <a:rPr lang="en-NO" sz="3203" b="1" baseline="-25000" dirty="0">
                <a:latin typeface="+mj-lt"/>
              </a:rPr>
              <a:t> (SD Shape)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BFE4C2-93EC-3B20-E61A-CCD00BDBDA1F}"/>
              </a:ext>
            </a:extLst>
          </p:cNvPr>
          <p:cNvSpPr txBox="1"/>
          <p:nvPr/>
        </p:nvSpPr>
        <p:spPr>
          <a:xfrm>
            <a:off x="15413340" y="25732396"/>
            <a:ext cx="5078209" cy="206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45400" indent="-445400">
              <a:buFont typeface="Arial" panose="020B0604020202020204" pitchFamily="34" charset="0"/>
              <a:buChar char="•"/>
            </a:pPr>
            <a:r>
              <a:rPr lang="en-GB" sz="3203" dirty="0">
                <a:latin typeface="+mj-lt"/>
              </a:rPr>
              <a:t>Conditional evolvability of sexual dimorphism drops to practically zero after controlling for size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72F805-AF24-1409-ADC1-E1FD6A003932}"/>
              </a:ext>
            </a:extLst>
          </p:cNvPr>
          <p:cNvSpPr txBox="1"/>
          <p:nvPr/>
        </p:nvSpPr>
        <p:spPr>
          <a:xfrm>
            <a:off x="26327897" y="25728982"/>
            <a:ext cx="3501555" cy="428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182" b="1" dirty="0">
                <a:latin typeface="+mj-lt"/>
              </a:rPr>
              <a:t>l</a:t>
            </a:r>
            <a:r>
              <a:rPr lang="en-NO" sz="2182" b="1" dirty="0">
                <a:latin typeface="+mj-lt"/>
              </a:rPr>
              <a:t>n Sexual Dimorphism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07169-2AD7-48D6-BF9F-E6EA532B8B54}"/>
              </a:ext>
            </a:extLst>
          </p:cNvPr>
          <p:cNvSpPr txBox="1"/>
          <p:nvPr/>
        </p:nvSpPr>
        <p:spPr>
          <a:xfrm rot="16200000">
            <a:off x="23835776" y="24489710"/>
            <a:ext cx="2354875" cy="763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182" b="1" dirty="0">
                <a:latin typeface="+mj-lt"/>
              </a:rPr>
              <a:t>l</a:t>
            </a:r>
            <a:r>
              <a:rPr lang="en-NO" sz="2182" b="1" dirty="0">
                <a:latin typeface="+mj-lt"/>
              </a:rPr>
              <a:t>n Conditional </a:t>
            </a:r>
          </a:p>
          <a:p>
            <a:pPr algn="ctr"/>
            <a:r>
              <a:rPr lang="en-NO" sz="2182" b="1" dirty="0">
                <a:latin typeface="+mj-lt"/>
              </a:rPr>
              <a:t>Evolvability</a:t>
            </a:r>
            <a:r>
              <a:rPr lang="en-NO" sz="2182" b="1" baseline="-25000" dirty="0">
                <a:latin typeface="+mj-lt"/>
              </a:rPr>
              <a:t> (SD Size)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A04D84-FBAA-20EF-CBDC-07C4CBB11E3D}"/>
              </a:ext>
            </a:extLst>
          </p:cNvPr>
          <p:cNvSpPr/>
          <p:nvPr/>
        </p:nvSpPr>
        <p:spPr>
          <a:xfrm>
            <a:off x="16530412" y="8738591"/>
            <a:ext cx="5865824" cy="15880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17" name="Picture 16" descr="A diagram of different types of clouds&#10;&#10;Description automatically generated">
            <a:extLst>
              <a:ext uri="{FF2B5EF4-FFF2-40B4-BE49-F238E27FC236}">
                <a16:creationId xmlns:a16="http://schemas.microsoft.com/office/drawing/2014/main" id="{7BD42AA1-448B-78DE-828A-93D9E385F489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27153" t="21731" r="26693" b="8581"/>
          <a:stretch/>
        </p:blipFill>
        <p:spPr>
          <a:xfrm>
            <a:off x="7809968" y="11441531"/>
            <a:ext cx="5870616" cy="483498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2B0E0CC-37DF-86C4-BA7B-8C29F3282FA6}"/>
              </a:ext>
            </a:extLst>
          </p:cNvPr>
          <p:cNvSpPr txBox="1"/>
          <p:nvPr/>
        </p:nvSpPr>
        <p:spPr>
          <a:xfrm>
            <a:off x="332781" y="11442739"/>
            <a:ext cx="695276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While low evolvability can slow the pace of evolutionary change, high evolvability may promote greater morphological diversification and faster evolution</a:t>
            </a:r>
          </a:p>
          <a:p>
            <a:endParaRPr lang="en-GB" sz="32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3200" dirty="0">
                <a:latin typeface="+mj-lt"/>
              </a:rPr>
              <a:t> The structure of the variation can influence the trajectory of evolutionary change</a:t>
            </a:r>
            <a:endParaRPr lang="en-NO" sz="3200" dirty="0">
              <a:latin typeface="+mj-lt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C9B23BB-C6BC-FAE5-47A9-6A34A65F89F8}"/>
              </a:ext>
            </a:extLst>
          </p:cNvPr>
          <p:cNvSpPr/>
          <p:nvPr/>
        </p:nvSpPr>
        <p:spPr>
          <a:xfrm>
            <a:off x="13361218" y="14200223"/>
            <a:ext cx="484696" cy="7715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F7DE72-F9C5-1DEF-BAE8-11500F48BA84}"/>
              </a:ext>
            </a:extLst>
          </p:cNvPr>
          <p:cNvSpPr/>
          <p:nvPr/>
        </p:nvSpPr>
        <p:spPr>
          <a:xfrm>
            <a:off x="7607160" y="14170625"/>
            <a:ext cx="484696" cy="7715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3" name="Picture 62" descr="A diagram of a graph&#10;&#10;Description automatically generated">
            <a:extLst>
              <a:ext uri="{FF2B5EF4-FFF2-40B4-BE49-F238E27FC236}">
                <a16:creationId xmlns:a16="http://schemas.microsoft.com/office/drawing/2014/main" id="{C308403C-67F3-0309-7A8A-D3DE10B686BE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2689" b="6886"/>
          <a:stretch/>
        </p:blipFill>
        <p:spPr>
          <a:xfrm>
            <a:off x="25338704" y="23840993"/>
            <a:ext cx="4796903" cy="2008123"/>
          </a:xfrm>
          <a:prstGeom prst="rect">
            <a:avLst/>
          </a:prstGeom>
        </p:spPr>
      </p:pic>
      <p:sp>
        <p:nvSpPr>
          <p:cNvPr id="1033" name="TextBox 1032">
            <a:extLst>
              <a:ext uri="{FF2B5EF4-FFF2-40B4-BE49-F238E27FC236}">
                <a16:creationId xmlns:a16="http://schemas.microsoft.com/office/drawing/2014/main" id="{21E8313B-599D-DF07-84C2-106855BEF9C7}"/>
              </a:ext>
            </a:extLst>
          </p:cNvPr>
          <p:cNvSpPr txBox="1"/>
          <p:nvPr/>
        </p:nvSpPr>
        <p:spPr>
          <a:xfrm>
            <a:off x="18242584" y="31747676"/>
            <a:ext cx="3305072" cy="585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3" b="1" dirty="0">
                <a:latin typeface="+mj-lt"/>
              </a:rPr>
              <a:t>Global Integration</a:t>
            </a:r>
            <a:endParaRPr lang="en-NO" sz="3203" b="1" baseline="-25000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20C783-FF7F-FEB5-4844-7C07FDD7CFA6}"/>
              </a:ext>
            </a:extLst>
          </p:cNvPr>
          <p:cNvSpPr txBox="1"/>
          <p:nvPr/>
        </p:nvSpPr>
        <p:spPr>
          <a:xfrm rot="16200000">
            <a:off x="14947174" y="29762184"/>
            <a:ext cx="2285369" cy="1078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3203" b="1" dirty="0">
                <a:latin typeface="+mj-lt"/>
              </a:rPr>
              <a:t>Average</a:t>
            </a:r>
          </a:p>
          <a:p>
            <a:pPr algn="ctr"/>
            <a:r>
              <a:rPr lang="en-NO" sz="3203" b="1" dirty="0">
                <a:latin typeface="+mj-lt"/>
              </a:rPr>
              <a:t> Evolvability</a:t>
            </a:r>
            <a:endParaRPr lang="en-NO" sz="3203" b="1" baseline="-25000" dirty="0">
              <a:latin typeface="+mj-lt"/>
            </a:endParaRPr>
          </a:p>
        </p:txBody>
      </p:sp>
      <p:pic>
        <p:nvPicPr>
          <p:cNvPr id="1027" name="Picture 1026" descr="A graph showing the difference between the global integration&#10;&#10;Description automatically generated">
            <a:extLst>
              <a:ext uri="{FF2B5EF4-FFF2-40B4-BE49-F238E27FC236}">
                <a16:creationId xmlns:a16="http://schemas.microsoft.com/office/drawing/2014/main" id="{3A380CC9-B51E-A843-FAAA-016AC534E36B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l="3666" b="7536"/>
          <a:stretch/>
        </p:blipFill>
        <p:spPr>
          <a:xfrm>
            <a:off x="16571853" y="28814428"/>
            <a:ext cx="6112034" cy="2933248"/>
          </a:xfrm>
          <a:prstGeom prst="rect">
            <a:avLst/>
          </a:prstGeom>
        </p:spPr>
      </p:pic>
      <p:pic>
        <p:nvPicPr>
          <p:cNvPr id="1046" name="Picture 1045" descr="A diagram of a relationship between a dimorphosis&#10;&#10;Description automatically generated">
            <a:extLst>
              <a:ext uri="{FF2B5EF4-FFF2-40B4-BE49-F238E27FC236}">
                <a16:creationId xmlns:a16="http://schemas.microsoft.com/office/drawing/2014/main" id="{D321A3E7-BC95-8EFB-4274-D0C92CA93626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l="3562" t="7349" b="7098"/>
          <a:stretch/>
        </p:blipFill>
        <p:spPr>
          <a:xfrm>
            <a:off x="16198459" y="12127431"/>
            <a:ext cx="7495532" cy="3324758"/>
          </a:xfrm>
          <a:prstGeom prst="rect">
            <a:avLst/>
          </a:prstGeom>
        </p:spPr>
      </p:pic>
      <p:pic>
        <p:nvPicPr>
          <p:cNvPr id="1049" name="Picture 1048" descr="A graph of a person with black dots&#10;&#10;Description automatically generated with medium confidence">
            <a:extLst>
              <a:ext uri="{FF2B5EF4-FFF2-40B4-BE49-F238E27FC236}">
                <a16:creationId xmlns:a16="http://schemas.microsoft.com/office/drawing/2014/main" id="{2C324F5F-0755-FF1F-F4C5-ABED5896E6EE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 l="3384" t="8005" b="7573"/>
          <a:stretch/>
        </p:blipFill>
        <p:spPr>
          <a:xfrm>
            <a:off x="16306787" y="32265555"/>
            <a:ext cx="6974185" cy="3046988"/>
          </a:xfrm>
          <a:prstGeom prst="rect">
            <a:avLst/>
          </a:prstGeom>
        </p:spPr>
      </p:pic>
      <p:pic>
        <p:nvPicPr>
          <p:cNvPr id="1051" name="Picture 1050">
            <a:extLst>
              <a:ext uri="{FF2B5EF4-FFF2-40B4-BE49-F238E27FC236}">
                <a16:creationId xmlns:a16="http://schemas.microsoft.com/office/drawing/2014/main" id="{36890C02-3255-32C7-5D07-451F8ACD4021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3562" t="7578" b="7313"/>
          <a:stretch/>
        </p:blipFill>
        <p:spPr>
          <a:xfrm>
            <a:off x="21763803" y="16845074"/>
            <a:ext cx="7909805" cy="3458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9844</TotalTime>
  <Words>372</Words>
  <Application>Microsoft Macintosh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327</cp:revision>
  <dcterms:created xsi:type="dcterms:W3CDTF">2026-05-18T08:52:12Z</dcterms:created>
  <dcterms:modified xsi:type="dcterms:W3CDTF">2026-06-08T20:45:32Z</dcterms:modified>
</cp:coreProperties>
</file>