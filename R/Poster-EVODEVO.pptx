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8000663" cy="2725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87" d="100"/>
          <a:sy n="87" d="100"/>
        </p:scale>
        <p:origin x="760" y="-9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9825" y="1143000"/>
            <a:ext cx="203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9825" y="1143000"/>
            <a:ext cx="203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4460094"/>
            <a:ext cx="15300564" cy="948794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14313932"/>
            <a:ext cx="13500497" cy="6579738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1839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05153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6794236"/>
            <a:ext cx="15525572" cy="1133632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8237810"/>
            <a:ext cx="15525572" cy="5961507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31341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59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450955"/>
            <a:ext cx="15525572" cy="52675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6680677"/>
            <a:ext cx="7615123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9954774"/>
            <a:ext cx="7615123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6680677"/>
            <a:ext cx="7652626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9954774"/>
            <a:ext cx="7652626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71004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6412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4835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3923878"/>
            <a:ext cx="9112836" cy="19367019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76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3923878"/>
            <a:ext cx="9112836" cy="19367019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65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57612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1450949"/>
            <a:ext cx="3881393" cy="230953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1450949"/>
            <a:ext cx="11419171" cy="230953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7602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1450955"/>
            <a:ext cx="15525572" cy="5267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7254746"/>
            <a:ext cx="15525572" cy="17291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25259141"/>
            <a:ext cx="6075224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8180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hyperlink" Target="lucascamacho.github.io" TargetMode="External"/><Relationship Id="rId17" Type="http://schemas.openxmlformats.org/officeDocument/2006/relationships/image" Target="../media/image14.png"/><Relationship Id="rId25" Type="http://schemas.openxmlformats.org/officeDocument/2006/relationships/image" Target="../media/image21.png"/><Relationship Id="rId3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9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0.png"/><Relationship Id="rId32" Type="http://schemas.openxmlformats.org/officeDocument/2006/relationships/image" Target="../media/image2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8.png"/><Relationship Id="rId28" Type="http://schemas.openxmlformats.org/officeDocument/2006/relationships/image" Target="../media/image22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31" Type="http://schemas.openxmlformats.org/officeDocument/2006/relationships/image" Target="../media/image27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7.png"/><Relationship Id="rId27" Type="http://schemas.openxmlformats.org/officeDocument/2006/relationships/image" Target="../media/image25.png"/><Relationship Id="rId30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different sizes of triangles&#10;&#10;Description automatically generated with medium confidence">
            <a:extLst>
              <a:ext uri="{FF2B5EF4-FFF2-40B4-BE49-F238E27FC236}">
                <a16:creationId xmlns:a16="http://schemas.microsoft.com/office/drawing/2014/main" id="{C7D3F8A2-7822-32F1-5E37-042C9C6D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6" b="6826"/>
          <a:stretch/>
        </p:blipFill>
        <p:spPr>
          <a:xfrm>
            <a:off x="9552802" y="12270509"/>
            <a:ext cx="4566669" cy="19123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-6167" y="-9341"/>
            <a:ext cx="18006830" cy="2333576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062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5471554" y="25987862"/>
            <a:ext cx="2386467" cy="90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8105174" y="25793296"/>
            <a:ext cx="1900666" cy="100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36584" y="25793296"/>
            <a:ext cx="2930985" cy="954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812" y="26017557"/>
            <a:ext cx="2159840" cy="61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300874" y="141830"/>
            <a:ext cx="13355707" cy="66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743" b="1" dirty="0">
                <a:latin typeface="+mj-lt"/>
              </a:rPr>
              <a:t>Modularity and Evolvability of Simian Cranial Sexual Dimorphism</a:t>
            </a:r>
            <a:endParaRPr lang="en-NO" sz="3743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4858189" y="774986"/>
            <a:ext cx="8247386" cy="1296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722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2722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382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2722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8935051" y="2384514"/>
            <a:ext cx="2436" cy="23107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641" y="14613375"/>
            <a:ext cx="4807365" cy="3088592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1271566"/>
            <a:ext cx="1162286" cy="8136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233618"/>
            <a:ext cx="1173527" cy="8544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13" y="861359"/>
            <a:ext cx="1674798" cy="14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26808361"/>
            <a:ext cx="18006829" cy="44544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531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5491239" y="26867129"/>
            <a:ext cx="2169120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31" b="1" dirty="0">
                <a:latin typeface="+mj-lt"/>
                <a:hlinkClick r:id="rId12"/>
              </a:rPr>
              <a:t>l</a:t>
            </a:r>
            <a:r>
              <a:rPr lang="en-NO" sz="1531" b="1" dirty="0">
                <a:latin typeface="+mj-lt"/>
                <a:hlinkClick r:id="rId12"/>
              </a:rPr>
              <a:t>ucascamacho.github.io</a:t>
            </a:r>
            <a:endParaRPr lang="en-NO" sz="1531" b="1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8585" y="26891010"/>
            <a:ext cx="5974713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8711822" y="26900416"/>
            <a:ext cx="607859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8239" y="25873560"/>
            <a:ext cx="2199647" cy="791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4041" y="17923388"/>
            <a:ext cx="1848489" cy="1008266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1314"/>
          <a:stretch/>
        </p:blipFill>
        <p:spPr>
          <a:xfrm>
            <a:off x="9552802" y="2589229"/>
            <a:ext cx="8022514" cy="3880789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6315"/>
          <a:stretch/>
        </p:blipFill>
        <p:spPr>
          <a:xfrm>
            <a:off x="2856822" y="7408681"/>
            <a:ext cx="6008618" cy="2742731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451" y="3310602"/>
            <a:ext cx="5613817" cy="3062081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3232" t="8000" b="6818"/>
          <a:stretch/>
        </p:blipFill>
        <p:spPr>
          <a:xfrm>
            <a:off x="9405317" y="17471378"/>
            <a:ext cx="4951104" cy="2179179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2888" t="7800" b="7420"/>
          <a:stretch/>
        </p:blipFill>
        <p:spPr>
          <a:xfrm>
            <a:off x="12902070" y="20294412"/>
            <a:ext cx="5089046" cy="19436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nb-NO" sz="2000" b="0" i="0" smtClean="0">
                              <a:latin typeface="Cambria Math" panose="02040503050406030204" pitchFamily="18" charset="0"/>
                            </a:rPr>
                            <m:t>volvability</m:t>
                          </m:r>
                        </m:e>
                        <m:sub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000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blipFill>
                <a:blip r:embed="rId21"/>
                <a:stretch>
                  <a:fillRect b="-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688" t="8248" b="7930"/>
          <a:stretch/>
        </p:blipFill>
        <p:spPr>
          <a:xfrm>
            <a:off x="9445073" y="7176321"/>
            <a:ext cx="5580158" cy="2102886"/>
          </a:xfrm>
          <a:prstGeom prst="rect">
            <a:avLst/>
          </a:prstGeom>
        </p:spPr>
      </p:pic>
      <p:pic>
        <p:nvPicPr>
          <p:cNvPr id="44" name="Picture 43" descr="A graph of a graph showing the integration index&#10;&#10;Description automatically generated with medium confidence">
            <a:extLst>
              <a:ext uri="{FF2B5EF4-FFF2-40B4-BE49-F238E27FC236}">
                <a16:creationId xmlns:a16="http://schemas.microsoft.com/office/drawing/2014/main" id="{5B7EDE5F-3945-32F5-38CC-FF2F0C6A31AA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293" t="8906" b="6885"/>
          <a:stretch/>
        </p:blipFill>
        <p:spPr>
          <a:xfrm>
            <a:off x="12721081" y="14600843"/>
            <a:ext cx="5155824" cy="224478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5732414" y="3501802"/>
            <a:ext cx="32008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The evolution of sexual dimorphism is likely multifactorial, but the role of evolvability remains unclear</a:t>
            </a:r>
            <a:endParaRPr lang="en-NO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51596" y="7360533"/>
            <a:ext cx="26686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Low evolvability may slow the pace of evolutionary change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evolvability may promote greater morphological diversification and faster evolutionary change </a:t>
            </a:r>
            <a:endParaRPr lang="en-NO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68086" y="14783794"/>
            <a:ext cx="39029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50 species from two simian clades: </a:t>
            </a:r>
            <a:r>
              <a:rPr lang="en-GB" dirty="0" err="1">
                <a:latin typeface="+mj-lt"/>
              </a:rPr>
              <a:t>Platyrrhini</a:t>
            </a:r>
            <a:r>
              <a:rPr lang="en-GB" dirty="0">
                <a:latin typeface="+mj-lt"/>
              </a:rPr>
              <a:t> and </a:t>
            </a:r>
            <a:r>
              <a:rPr lang="en-GB" dirty="0" err="1">
                <a:latin typeface="+mj-lt"/>
              </a:rPr>
              <a:t>Catarrhini</a:t>
            </a: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38 linear cranial measurements collected from simian skulls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~ 2.520 simian skulls measured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b="1" dirty="0">
                <a:latin typeface="+mj-lt"/>
              </a:rPr>
              <a:t>P </a:t>
            </a:r>
            <a:r>
              <a:rPr lang="en-GB" dirty="0">
                <a:latin typeface="+mj-lt"/>
              </a:rPr>
              <a:t>matrices estimated for each species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was measured as the </a:t>
            </a:r>
            <a:r>
              <a:rPr lang="en-GB" b="1" dirty="0">
                <a:latin typeface="+mj-lt"/>
              </a:rPr>
              <a:t>norm</a:t>
            </a:r>
            <a:r>
              <a:rPr lang="en-GB" dirty="0">
                <a:latin typeface="+mj-lt"/>
              </a:rPr>
              <a:t> of the vector difference between males and females</a:t>
            </a:r>
            <a:endParaRPr lang="en-NO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5223335" y="7461196"/>
            <a:ext cx="2496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9201836" y="14868609"/>
            <a:ext cx="29677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No relationship was found between evolvability and morphological integration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4348644" y="17945387"/>
            <a:ext cx="34272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8940213" y="20680848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Excluding </a:t>
            </a:r>
            <a:r>
              <a:rPr lang="en-GB" b="1" dirty="0">
                <a:latin typeface="+mj-lt"/>
              </a:rPr>
              <a:t>P</a:t>
            </a:r>
            <a:r>
              <a:rPr lang="en-GB" b="1" baseline="-25000" dirty="0">
                <a:latin typeface="+mj-lt"/>
              </a:rPr>
              <a:t>max</a:t>
            </a:r>
            <a:r>
              <a:rPr lang="en-GB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84" t="19321" r="8955" b="13901"/>
          <a:stretch/>
        </p:blipFill>
        <p:spPr>
          <a:xfrm>
            <a:off x="6365535" y="17770640"/>
            <a:ext cx="1899398" cy="1074593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19859" y="20216032"/>
            <a:ext cx="4442773" cy="3207857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1959760" y="2596554"/>
            <a:ext cx="529563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1960520" y="6691820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046487" y="10509947"/>
            <a:ext cx="5319085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035104" y="13961376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013493" y="19206760"/>
            <a:ext cx="530652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1111996" y="6628180"/>
            <a:ext cx="5349842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0840699" y="22689909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2800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000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2000">
                          <a:latin typeface="Cambria Math" panose="02040503050406030204" pitchFamily="18" charset="0"/>
                        </a:rPr>
                        <m:t>=1 −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2000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blipFill>
                <a:blip r:embed="rId26"/>
                <a:stretch>
                  <a:fillRect l="-2344" r="-1563" b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236" y="-17556"/>
            <a:ext cx="12355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b="0" i="0" smtClean="0">
                        <a:latin typeface="Cambria Math" panose="02040503050406030204" pitchFamily="18" charset="0"/>
                      </a:rPr>
                      <m:t>conditional</m:t>
                    </m:r>
                    <m:r>
                      <a:rPr lang="nb-NO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NO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nb-NO" sz="2000" b="0" i="0" smtClean="0">
                            <a:latin typeface="Cambria Math" panose="02040503050406030204" pitchFamily="18" charset="0"/>
                          </a:rPr>
                          <m:t>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nb-NO" sz="20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NO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en-NO" sz="2000" dirty="0">
                    <a:latin typeface="+mj-lt"/>
                  </a:rPr>
                  <a:t> 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i="0">
                        <a:latin typeface="Cambria Math" panose="02040503050406030204" pitchFamily="18" charset="0"/>
                      </a:rPr>
                      <m:t>integration</m:t>
                    </m:r>
                  </m:oMath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blipFill>
                <a:blip r:embed="rId27"/>
                <a:stretch>
                  <a:fillRect l="-1328" t="-17857" b="-3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2264" y="19967844"/>
            <a:ext cx="4277595" cy="372302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7743903" y="17923969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0601598" y="927190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8426424" y="8050436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7911C2-7C71-5445-46F1-CDA5D2BE44CF}"/>
              </a:ext>
            </a:extLst>
          </p:cNvPr>
          <p:cNvSpPr txBox="1"/>
          <p:nvPr/>
        </p:nvSpPr>
        <p:spPr>
          <a:xfrm rot="16200000">
            <a:off x="11706330" y="15523328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4207886" y="16891879"/>
            <a:ext cx="268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Morphological Integration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8399720" y="18468780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0591877" y="19647318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1192119" y="17113266"/>
            <a:ext cx="1480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+mj-lt"/>
              </a:rPr>
              <a:t>S</a:t>
            </a:r>
            <a:r>
              <a:rPr lang="en-NO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3778750" y="2223686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1767263" y="20817395"/>
            <a:ext cx="1672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 </a:t>
            </a:r>
          </a:p>
          <a:p>
            <a:r>
              <a:rPr lang="en-NO" b="1" dirty="0">
                <a:latin typeface="+mj-lt"/>
              </a:rPr>
              <a:t>outside P</a:t>
            </a:r>
            <a:r>
              <a:rPr lang="en-NO" b="1" baseline="-25000" dirty="0">
                <a:latin typeface="+mj-lt"/>
              </a:rPr>
              <a:t>max</a:t>
            </a:r>
          </a:p>
        </p:txBody>
      </p:sp>
      <p:pic>
        <p:nvPicPr>
          <p:cNvPr id="41" name="Picture 40" descr="A graph of different colored arrows&#10;&#10;Description automatically generated with medium confidence">
            <a:extLst>
              <a:ext uri="{FF2B5EF4-FFF2-40B4-BE49-F238E27FC236}">
                <a16:creationId xmlns:a16="http://schemas.microsoft.com/office/drawing/2014/main" id="{35213895-F13E-2458-CF47-461563EEF13D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307" b="7773"/>
          <a:stretch/>
        </p:blipFill>
        <p:spPr>
          <a:xfrm>
            <a:off x="13264958" y="9878970"/>
            <a:ext cx="4716670" cy="196823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B42770E-1AC1-3561-0F35-F29EE786C0DB}"/>
              </a:ext>
            </a:extLst>
          </p:cNvPr>
          <p:cNvSpPr txBox="1"/>
          <p:nvPr/>
        </p:nvSpPr>
        <p:spPr>
          <a:xfrm>
            <a:off x="14111605" y="11783241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CE1698-F0BB-552A-1BC1-91CE3B726E33}"/>
              </a:ext>
            </a:extLst>
          </p:cNvPr>
          <p:cNvSpPr txBox="1"/>
          <p:nvPr/>
        </p:nvSpPr>
        <p:spPr>
          <a:xfrm rot="16200000">
            <a:off x="12451399" y="10598646"/>
            <a:ext cx="1316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C481D-4748-B266-F45B-DA83419E08BE}"/>
              </a:ext>
            </a:extLst>
          </p:cNvPr>
          <p:cNvSpPr txBox="1"/>
          <p:nvPr/>
        </p:nvSpPr>
        <p:spPr>
          <a:xfrm>
            <a:off x="10283484" y="14165234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D41C7F-22FE-C8F6-F696-BC120DC45B2D}"/>
              </a:ext>
            </a:extLst>
          </p:cNvPr>
          <p:cNvSpPr txBox="1"/>
          <p:nvPr/>
        </p:nvSpPr>
        <p:spPr>
          <a:xfrm rot="16200000">
            <a:off x="8439723" y="12790815"/>
            <a:ext cx="1641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Conditional</a:t>
            </a:r>
          </a:p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99EAD4-8B3F-3A39-937F-0E31510DEAEC}"/>
              </a:ext>
            </a:extLst>
          </p:cNvPr>
          <p:cNvSpPr txBox="1"/>
          <p:nvPr/>
        </p:nvSpPr>
        <p:spPr>
          <a:xfrm>
            <a:off x="9254931" y="10340466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Evolvability in the direction of sexual dimorphism is higher than the average evolvability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9E2430-32B8-6B89-0A66-A1EC76ABB186}"/>
              </a:ext>
            </a:extLst>
          </p:cNvPr>
          <p:cNvSpPr txBox="1"/>
          <p:nvPr/>
        </p:nvSpPr>
        <p:spPr>
          <a:xfrm>
            <a:off x="14342467" y="12374256"/>
            <a:ext cx="34272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Despite some variation, conditional evolvability in the direction of sexual dimorphism is higher than the average conditional evolvability</a:t>
            </a:r>
          </a:p>
        </p:txBody>
      </p:sp>
      <p:pic>
        <p:nvPicPr>
          <p:cNvPr id="1027" name="Picture 10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7589CC9-3E4A-2CD5-702A-2F6DF96218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13525147" y="9687564"/>
            <a:ext cx="1535007" cy="488726"/>
          </a:xfrm>
          <a:prstGeom prst="rect">
            <a:avLst/>
          </a:prstGeom>
        </p:spPr>
      </p:pic>
      <p:pic>
        <p:nvPicPr>
          <p:cNvPr id="1031" name="Picture 103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A8CF46C-8C30-52A6-2DC2-09EF230DB76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9845740" y="12124785"/>
            <a:ext cx="1535007" cy="4887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6770718" y="1316472"/>
            <a:ext cx="42209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1800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9209063" y="23373372"/>
            <a:ext cx="8617987" cy="203132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tends to evolve along highly evolvable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Integration alone does not explain variation in evolvability among species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Measurement error does not substantially alter the observed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Identify additional predictors of evolvability in the direction of sexual dimorphism.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Test whether these patterns are phylogenetically widespread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Examine the consequences of removing </a:t>
            </a:r>
            <a:r>
              <a:rPr lang="en-GB" b="1" dirty="0">
                <a:latin typeface="+mj-lt"/>
              </a:rPr>
              <a:t>Pmax</a:t>
            </a:r>
            <a:r>
              <a:rPr lang="en-GB" dirty="0">
                <a:latin typeface="+mj-lt"/>
              </a:rPr>
              <a:t> on evolvability estimates.</a:t>
            </a:r>
            <a:endParaRPr lang="en-NO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623293" y="1275756"/>
            <a:ext cx="805220" cy="80522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8253677" y="17943510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Picture 11" descr="A graph with a line and a line&#10;&#10;Description automatically generated">
            <a:extLst>
              <a:ext uri="{FF2B5EF4-FFF2-40B4-BE49-F238E27FC236}">
                <a16:creationId xmlns:a16="http://schemas.microsoft.com/office/drawing/2014/main" id="{590595B3-3CF8-E2A1-8307-779C9CEEAFC3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6605" y="11223169"/>
            <a:ext cx="4469087" cy="2388594"/>
          </a:xfrm>
          <a:prstGeom prst="rect">
            <a:avLst/>
          </a:prstGeom>
        </p:spPr>
      </p:pic>
      <p:pic>
        <p:nvPicPr>
          <p:cNvPr id="20" name="Picture 19" descr="A graph showing a graph of a bear and a rhinoceros&#10;&#10;Description automatically generated">
            <a:extLst>
              <a:ext uri="{FF2B5EF4-FFF2-40B4-BE49-F238E27FC236}">
                <a16:creationId xmlns:a16="http://schemas.microsoft.com/office/drawing/2014/main" id="{6FB0F683-66A7-F080-AD2E-B4F0DF5CFE42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59505" y="11217725"/>
            <a:ext cx="4051481" cy="2408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5936</TotalTime>
  <Words>357</Words>
  <Application>Microsoft Macintosh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178</cp:revision>
  <dcterms:created xsi:type="dcterms:W3CDTF">2026-05-18T08:52:12Z</dcterms:created>
  <dcterms:modified xsi:type="dcterms:W3CDTF">2026-05-29T14:00:12Z</dcterms:modified>
</cp:coreProperties>
</file>