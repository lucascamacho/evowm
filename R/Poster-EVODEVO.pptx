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30240288" cy="42479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A22D"/>
    <a:srgbClr val="84E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50"/>
  </p:normalViewPr>
  <p:slideViewPr>
    <p:cSldViewPr snapToGrid="0">
      <p:cViewPr>
        <p:scale>
          <a:sx n="56" d="100"/>
          <a:sy n="56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E91DE-0533-6F41-AE75-D5FC9CC3F2AF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2038" y="1143000"/>
            <a:ext cx="2193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BB365-FF71-1A43-B719-377EB4D56167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01689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69340" rtl="0" eaLnBrk="1" latinLnBrk="0" hangingPunct="1">
      <a:defRPr sz="1929" kern="1200">
        <a:solidFill>
          <a:schemeClr val="tx1"/>
        </a:solidFill>
        <a:latin typeface="+mn-lt"/>
        <a:ea typeface="+mn-ea"/>
        <a:cs typeface="+mn-cs"/>
      </a:defRPr>
    </a:lvl1pPr>
    <a:lvl2pPr marL="734670" algn="l" defTabSz="1469340" rtl="0" eaLnBrk="1" latinLnBrk="0" hangingPunct="1">
      <a:defRPr sz="1929" kern="1200">
        <a:solidFill>
          <a:schemeClr val="tx1"/>
        </a:solidFill>
        <a:latin typeface="+mn-lt"/>
        <a:ea typeface="+mn-ea"/>
        <a:cs typeface="+mn-cs"/>
      </a:defRPr>
    </a:lvl2pPr>
    <a:lvl3pPr marL="1469340" algn="l" defTabSz="1469340" rtl="0" eaLnBrk="1" latinLnBrk="0" hangingPunct="1">
      <a:defRPr sz="1929" kern="1200">
        <a:solidFill>
          <a:schemeClr val="tx1"/>
        </a:solidFill>
        <a:latin typeface="+mn-lt"/>
        <a:ea typeface="+mn-ea"/>
        <a:cs typeface="+mn-cs"/>
      </a:defRPr>
    </a:lvl3pPr>
    <a:lvl4pPr marL="2204009" algn="l" defTabSz="1469340" rtl="0" eaLnBrk="1" latinLnBrk="0" hangingPunct="1">
      <a:defRPr sz="1929" kern="1200">
        <a:solidFill>
          <a:schemeClr val="tx1"/>
        </a:solidFill>
        <a:latin typeface="+mn-lt"/>
        <a:ea typeface="+mn-ea"/>
        <a:cs typeface="+mn-cs"/>
      </a:defRPr>
    </a:lvl4pPr>
    <a:lvl5pPr marL="2938679" algn="l" defTabSz="1469340" rtl="0" eaLnBrk="1" latinLnBrk="0" hangingPunct="1">
      <a:defRPr sz="1929" kern="1200">
        <a:solidFill>
          <a:schemeClr val="tx1"/>
        </a:solidFill>
        <a:latin typeface="+mn-lt"/>
        <a:ea typeface="+mn-ea"/>
        <a:cs typeface="+mn-cs"/>
      </a:defRPr>
    </a:lvl5pPr>
    <a:lvl6pPr marL="3673350" algn="l" defTabSz="1469340" rtl="0" eaLnBrk="1" latinLnBrk="0" hangingPunct="1">
      <a:defRPr sz="1929" kern="1200">
        <a:solidFill>
          <a:schemeClr val="tx1"/>
        </a:solidFill>
        <a:latin typeface="+mn-lt"/>
        <a:ea typeface="+mn-ea"/>
        <a:cs typeface="+mn-cs"/>
      </a:defRPr>
    </a:lvl6pPr>
    <a:lvl7pPr marL="4408020" algn="l" defTabSz="1469340" rtl="0" eaLnBrk="1" latinLnBrk="0" hangingPunct="1">
      <a:defRPr sz="1929" kern="1200">
        <a:solidFill>
          <a:schemeClr val="tx1"/>
        </a:solidFill>
        <a:latin typeface="+mn-lt"/>
        <a:ea typeface="+mn-ea"/>
        <a:cs typeface="+mn-cs"/>
      </a:defRPr>
    </a:lvl7pPr>
    <a:lvl8pPr marL="5142690" algn="l" defTabSz="1469340" rtl="0" eaLnBrk="1" latinLnBrk="0" hangingPunct="1">
      <a:defRPr sz="1929" kern="1200">
        <a:solidFill>
          <a:schemeClr val="tx1"/>
        </a:solidFill>
        <a:latin typeface="+mn-lt"/>
        <a:ea typeface="+mn-ea"/>
        <a:cs typeface="+mn-cs"/>
      </a:defRPr>
    </a:lvl8pPr>
    <a:lvl9pPr marL="5877359" algn="l" defTabSz="1469340" rtl="0" eaLnBrk="1" latinLnBrk="0" hangingPunct="1">
      <a:defRPr sz="19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2038" y="1143000"/>
            <a:ext cx="21939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BB365-FF71-1A43-B719-377EB4D56167}" type="slidenum">
              <a:rPr lang="en-NO" smtClean="0"/>
              <a:t>1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996578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6952156"/>
            <a:ext cx="25704245" cy="14789303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311791"/>
            <a:ext cx="22680216" cy="10256143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1752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0245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590491"/>
            <a:ext cx="26082248" cy="17670461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428121"/>
            <a:ext cx="26082248" cy="9292478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>
                    <a:tint val="82000"/>
                  </a:schemeClr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82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09015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308310"/>
            <a:ext cx="12852122" cy="26953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308310"/>
            <a:ext cx="12852122" cy="26953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7685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61671"/>
            <a:ext cx="26082248" cy="821082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413482"/>
            <a:ext cx="12793057" cy="5103486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516968"/>
            <a:ext cx="12793057" cy="228231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413482"/>
            <a:ext cx="12856061" cy="5103486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516968"/>
            <a:ext cx="12856061" cy="228231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86084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68718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871761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31994"/>
            <a:ext cx="9753280" cy="9911980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116330"/>
            <a:ext cx="15309146" cy="30188272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743974"/>
            <a:ext cx="9753280" cy="23609788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622605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31994"/>
            <a:ext cx="9753280" cy="9911980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116330"/>
            <a:ext cx="15309146" cy="30188272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743974"/>
            <a:ext cx="9753280" cy="23609788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398906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08898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261662"/>
            <a:ext cx="6520562" cy="359997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261662"/>
            <a:ext cx="19183683" cy="359997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13316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261671"/>
            <a:ext cx="26082248" cy="8210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308310"/>
            <a:ext cx="26082248" cy="26953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39372595"/>
            <a:ext cx="6804065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CA32F-3B16-A94D-8B63-DB7C7F7FAD13}" type="datetimeFigureOut">
              <a:rPr lang="en-NO" smtClean="0"/>
              <a:t>04/06/2026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39372595"/>
            <a:ext cx="10206097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39372595"/>
            <a:ext cx="6804065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E3458-8B87-924A-9CD1-D8DA2C5C4198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338720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jpe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lucascamacho.github.io" TargetMode="External"/><Relationship Id="rId24" Type="http://schemas.openxmlformats.org/officeDocument/2006/relationships/image" Target="../media/image21.png"/><Relationship Id="rId5" Type="http://schemas.openxmlformats.org/officeDocument/2006/relationships/image" Target="../media/image3.jpe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31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DAF4E1-5F2D-C2DF-8880-AB1A4AFDF397}"/>
              </a:ext>
            </a:extLst>
          </p:cNvPr>
          <p:cNvSpPr/>
          <p:nvPr/>
        </p:nvSpPr>
        <p:spPr>
          <a:xfrm>
            <a:off x="0" y="-14560"/>
            <a:ext cx="30240288" cy="3637453"/>
          </a:xfrm>
          <a:prstGeom prst="rect">
            <a:avLst/>
          </a:prstGeom>
          <a:solidFill>
            <a:srgbClr val="84E29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4773" dirty="0">
              <a:solidFill>
                <a:schemeClr val="tx1"/>
              </a:solidFill>
              <a:latin typeface="+mj-lt"/>
              <a:ea typeface="Cambria Math" panose="02040503050406030204" pitchFamily="18" charset="0"/>
            </a:endParaRPr>
          </a:p>
        </p:txBody>
      </p:sp>
      <p:pic>
        <p:nvPicPr>
          <p:cNvPr id="1026" name="Picture 2" descr="FAPESP - Fundação de Amparo à Pesquisa do Estado de São Paulo">
            <a:extLst>
              <a:ext uri="{FF2B5EF4-FFF2-40B4-BE49-F238E27FC236}">
                <a16:creationId xmlns:a16="http://schemas.microsoft.com/office/drawing/2014/main" id="{8B05F258-189A-84A1-0514-9D7570613A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7" t="21637" r="8958" b="9849"/>
          <a:stretch/>
        </p:blipFill>
        <p:spPr bwMode="auto">
          <a:xfrm>
            <a:off x="26402198" y="40425174"/>
            <a:ext cx="3719897" cy="1408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tipo USP – 90 anos – USP – Identidade Visual">
            <a:extLst>
              <a:ext uri="{FF2B5EF4-FFF2-40B4-BE49-F238E27FC236}">
                <a16:creationId xmlns:a16="http://schemas.microsoft.com/office/drawing/2014/main" id="{4D7D12F5-7E36-89F1-D359-8296BAE6B9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54" b="15153"/>
          <a:stretch/>
        </p:blipFill>
        <p:spPr bwMode="auto">
          <a:xfrm>
            <a:off x="13724821" y="40205209"/>
            <a:ext cx="2962657" cy="1573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02_uio_full_logo_no_pos | UiO - Senter for utvikling og miljø">
            <a:extLst>
              <a:ext uri="{FF2B5EF4-FFF2-40B4-BE49-F238E27FC236}">
                <a16:creationId xmlns:a16="http://schemas.microsoft.com/office/drawing/2014/main" id="{5938A65B-0501-02B6-69AF-C5DBF0BE2F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56" t="25405" r="14977" b="28959"/>
          <a:stretch/>
        </p:blipFill>
        <p:spPr bwMode="auto">
          <a:xfrm>
            <a:off x="251653" y="40238666"/>
            <a:ext cx="4568663" cy="148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EES emblem.">
            <a:extLst>
              <a:ext uri="{FF2B5EF4-FFF2-40B4-BE49-F238E27FC236}">
                <a16:creationId xmlns:a16="http://schemas.microsoft.com/office/drawing/2014/main" id="{875380F1-A00E-3388-8AAA-A7A757E81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373" y="40550789"/>
            <a:ext cx="3366643" cy="96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A523D8-FE18-6092-47BD-6DF55AFBA852}"/>
              </a:ext>
            </a:extLst>
          </p:cNvPr>
          <p:cNvSpPr txBox="1"/>
          <p:nvPr/>
        </p:nvSpPr>
        <p:spPr>
          <a:xfrm>
            <a:off x="4741045" y="221078"/>
            <a:ext cx="20690856" cy="9901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834" b="1" dirty="0">
                <a:latin typeface="+mj-lt"/>
              </a:rPr>
              <a:t>Integration and Evolvability of Simian Cranial Sexual Dimorphism</a:t>
            </a:r>
            <a:endParaRPr lang="en-NO" sz="5834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1CCBBE-602C-5683-8E16-829069615DC0}"/>
              </a:ext>
            </a:extLst>
          </p:cNvPr>
          <p:cNvSpPr txBox="1"/>
          <p:nvPr/>
        </p:nvSpPr>
        <p:spPr>
          <a:xfrm>
            <a:off x="8727145" y="1208008"/>
            <a:ext cx="12728484" cy="1969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243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Lucas A. Camacho¹, Thomas F. Hansen², Gabriel Marroig</a:t>
            </a:r>
            <a:r>
              <a:rPr lang="en-GB" sz="4243" baseline="30000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endParaRPr lang="en-GB" sz="3713" dirty="0">
              <a:latin typeface="+mj-lt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endParaRPr lang="en-NO" sz="4243" dirty="0">
              <a:latin typeface="+mj-lt"/>
              <a:ea typeface="Cambria Math" panose="020405030504060302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862209-F51A-4201-913F-A26208FF0C44}"/>
              </a:ext>
            </a:extLst>
          </p:cNvPr>
          <p:cNvCxnSpPr>
            <a:cxnSpLocks/>
          </p:cNvCxnSpPr>
          <p:nvPr/>
        </p:nvCxnSpPr>
        <p:spPr>
          <a:xfrm>
            <a:off x="15018389" y="3716854"/>
            <a:ext cx="3797" cy="360186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1" name="Picture 30" descr="A diagram of the skull&#10;&#10;Description automatically generated with medium confidence">
            <a:extLst>
              <a:ext uri="{FF2B5EF4-FFF2-40B4-BE49-F238E27FC236}">
                <a16:creationId xmlns:a16="http://schemas.microsoft.com/office/drawing/2014/main" id="{7FBEE8A0-D514-9C08-4555-5809E83FB8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824" y="22778546"/>
            <a:ext cx="7954266" cy="5110384"/>
          </a:xfrm>
          <a:prstGeom prst="rect">
            <a:avLst/>
          </a:prstGeom>
        </p:spPr>
      </p:pic>
      <p:pic>
        <p:nvPicPr>
          <p:cNvPr id="1034" name="Picture 10" descr="Flag of Brazil - Wikipedia">
            <a:extLst>
              <a:ext uri="{FF2B5EF4-FFF2-40B4-BE49-F238E27FC236}">
                <a16:creationId xmlns:a16="http://schemas.microsoft.com/office/drawing/2014/main" id="{81F0234D-C419-892E-4D71-5DC74713E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3987" y="1982050"/>
            <a:ext cx="1811710" cy="126819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6FFA4BBE-7404-52A2-50C6-C23494207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4500" y="364152"/>
            <a:ext cx="1829230" cy="13319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Evo-Devo-Genomics at UB - Home">
            <a:extLst>
              <a:ext uri="{FF2B5EF4-FFF2-40B4-BE49-F238E27FC236}">
                <a16:creationId xmlns:a16="http://schemas.microsoft.com/office/drawing/2014/main" id="{DE45EEBD-B9CE-B217-67B7-449C9D79D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72" y="1342641"/>
            <a:ext cx="2610586" cy="225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A344BD9-B774-A5BE-5D38-2B7089399071}"/>
              </a:ext>
            </a:extLst>
          </p:cNvPr>
          <p:cNvSpPr/>
          <p:nvPr/>
        </p:nvSpPr>
        <p:spPr>
          <a:xfrm>
            <a:off x="0" y="41787438"/>
            <a:ext cx="30240287" cy="6943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sz="2387"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A2E326-C29C-D20F-9376-142C3DD0AC8D}"/>
              </a:ext>
            </a:extLst>
          </p:cNvPr>
          <p:cNvSpPr txBox="1"/>
          <p:nvPr/>
        </p:nvSpPr>
        <p:spPr>
          <a:xfrm>
            <a:off x="26635395" y="41879043"/>
            <a:ext cx="3286412" cy="459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387" b="1" dirty="0">
                <a:latin typeface="+mj-lt"/>
                <a:hlinkClick r:id="rId11"/>
              </a:rPr>
              <a:t>l</a:t>
            </a:r>
            <a:r>
              <a:rPr lang="en-NO" sz="2387" b="1" dirty="0">
                <a:latin typeface="+mj-lt"/>
                <a:hlinkClick r:id="rId11"/>
              </a:rPr>
              <a:t>ucascamacho.github.io</a:t>
            </a:r>
            <a:endParaRPr lang="en-NO" sz="2387" b="1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211A44-7084-B71F-6FB5-C2D6B89D0362}"/>
              </a:ext>
            </a:extLst>
          </p:cNvPr>
          <p:cNvSpPr txBox="1"/>
          <p:nvPr/>
        </p:nvSpPr>
        <p:spPr>
          <a:xfrm>
            <a:off x="247025" y="41916267"/>
            <a:ext cx="9219255" cy="459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387" b="1" dirty="0">
                <a:latin typeface="+mj-lt"/>
              </a:rPr>
              <a:t>10th European Society for Evolutionary Development Biology Meeting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AB7ECD-54BA-3ABF-7D54-BA5A8E688A5E}"/>
              </a:ext>
            </a:extLst>
          </p:cNvPr>
          <p:cNvSpPr txBox="1"/>
          <p:nvPr/>
        </p:nvSpPr>
        <p:spPr>
          <a:xfrm>
            <a:off x="14670433" y="41930928"/>
            <a:ext cx="845103" cy="459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387" b="1" dirty="0">
                <a:latin typeface="+mj-lt"/>
              </a:rPr>
              <a:t>2026</a:t>
            </a:r>
          </a:p>
        </p:txBody>
      </p:sp>
      <p:pic>
        <p:nvPicPr>
          <p:cNvPr id="38" name="Picture 4" descr="IB | Instituto de Biociências | Universidade de São Paulo | USP - IB">
            <a:extLst>
              <a:ext uri="{FF2B5EF4-FFF2-40B4-BE49-F238E27FC236}">
                <a16:creationId xmlns:a16="http://schemas.microsoft.com/office/drawing/2014/main" id="{35848352-2E0E-F507-98CD-FE10203A4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2768" y="40374648"/>
            <a:ext cx="3428692" cy="123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diagram of a person's relationship&#10;&#10;Description automatically generated with medium confidence">
            <a:extLst>
              <a:ext uri="{FF2B5EF4-FFF2-40B4-BE49-F238E27FC236}">
                <a16:creationId xmlns:a16="http://schemas.microsoft.com/office/drawing/2014/main" id="{8C12DC9D-6690-4365-DE9B-961066A401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5107" y="28175613"/>
            <a:ext cx="3070870" cy="1675019"/>
          </a:xfrm>
          <a:prstGeom prst="rect">
            <a:avLst/>
          </a:prstGeom>
        </p:spPr>
      </p:pic>
      <p:pic>
        <p:nvPicPr>
          <p:cNvPr id="40" name="Picture 39" descr="A diagram of a graph&#10;&#10;Description automatically generated">
            <a:extLst>
              <a:ext uri="{FF2B5EF4-FFF2-40B4-BE49-F238E27FC236}">
                <a16:creationId xmlns:a16="http://schemas.microsoft.com/office/drawing/2014/main" id="{5DF79BCD-08EA-E892-1798-5DE3E0B530B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1314"/>
          <a:stretch/>
        </p:blipFill>
        <p:spPr>
          <a:xfrm>
            <a:off x="16399684" y="4035952"/>
            <a:ext cx="12726411" cy="6156240"/>
          </a:xfrm>
          <a:prstGeom prst="rect">
            <a:avLst/>
          </a:prstGeom>
        </p:spPr>
      </p:pic>
      <p:pic>
        <p:nvPicPr>
          <p:cNvPr id="43" name="Picture 42" descr="A diagram of evolution of a variety of rocks&#10;&#10;Description automatically generated with medium confidence">
            <a:extLst>
              <a:ext uri="{FF2B5EF4-FFF2-40B4-BE49-F238E27FC236}">
                <a16:creationId xmlns:a16="http://schemas.microsoft.com/office/drawing/2014/main" id="{FF0767CB-53D5-89AC-A09C-B2E9B1CE3E7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16315"/>
          <a:stretch/>
        </p:blipFill>
        <p:spPr>
          <a:xfrm>
            <a:off x="5520211" y="11714571"/>
            <a:ext cx="9365912" cy="4275223"/>
          </a:xfrm>
          <a:prstGeom prst="rect">
            <a:avLst/>
          </a:prstGeom>
        </p:spPr>
      </p:pic>
      <p:pic>
        <p:nvPicPr>
          <p:cNvPr id="51" name="Picture 50" descr="A collage of monkeys in the jungle&#10;&#10;Description automatically generated">
            <a:extLst>
              <a:ext uri="{FF2B5EF4-FFF2-40B4-BE49-F238E27FC236}">
                <a16:creationId xmlns:a16="http://schemas.microsoft.com/office/drawing/2014/main" id="{8BB89542-A1B0-8BA5-4182-156DB7C0DB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5691" y="5160390"/>
            <a:ext cx="8750517" cy="4773008"/>
          </a:xfrm>
          <a:prstGeom prst="rect">
            <a:avLst/>
          </a:prstGeom>
        </p:spPr>
      </p:pic>
      <p:pic>
        <p:nvPicPr>
          <p:cNvPr id="27" name="Picture 26" descr="A diagram of different numbers and points&#10;&#10;Description automatically generated with medium confidence">
            <a:extLst>
              <a:ext uri="{FF2B5EF4-FFF2-40B4-BE49-F238E27FC236}">
                <a16:creationId xmlns:a16="http://schemas.microsoft.com/office/drawing/2014/main" id="{A3DA5014-7D47-4BC5-15AA-8A356D53F3E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3232" t="8000" b="6818"/>
          <a:stretch/>
        </p:blipFill>
        <p:spPr>
          <a:xfrm>
            <a:off x="21744968" y="16860301"/>
            <a:ext cx="7717515" cy="3396788"/>
          </a:xfrm>
          <a:prstGeom prst="rect">
            <a:avLst/>
          </a:prstGeom>
        </p:spPr>
      </p:pic>
      <p:pic>
        <p:nvPicPr>
          <p:cNvPr id="32" name="Picture 31" descr="A graph showing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75ED077E-1710-D422-468B-E7A4C9E52A0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2888" t="7800" b="7420"/>
          <a:stretch/>
        </p:blipFill>
        <p:spPr>
          <a:xfrm>
            <a:off x="16530412" y="21107491"/>
            <a:ext cx="7932532" cy="30297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9A9E8-B951-97EB-43F3-BE603E60476C}"/>
                  </a:ext>
                </a:extLst>
              </p:cNvPr>
              <p:cNvSpPr txBox="1"/>
              <p:nvPr/>
            </p:nvSpPr>
            <p:spPr>
              <a:xfrm>
                <a:off x="475718" y="37874974"/>
                <a:ext cx="6415722" cy="9959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O" sz="3118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b-NO" sz="3118">
                              <a:latin typeface="Cambria Math" panose="02040503050406030204" pitchFamily="18" charset="0"/>
                            </a:rPr>
                            <m:t>evolvability</m:t>
                          </m:r>
                        </m:e>
                        <m:sub>
                          <m:r>
                            <a:rPr lang="nb-NO" sz="3118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nb-NO" sz="3118">
                              <a:latin typeface="Cambria Math" panose="02040503050406030204" pitchFamily="18" charset="0"/>
                            </a:rPr>
                            <m:t>SD</m:t>
                          </m:r>
                          <m:r>
                            <a:rPr lang="nb-NO" sz="3118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nb-NO" sz="3118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118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nb-NO" sz="3118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b-NO" sz="3118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nb-NO" sz="3118">
                                      <a:latin typeface="Cambria Math" panose="02040503050406030204" pitchFamily="18" charset="0"/>
                                    </a:rPr>
                                    <m:t>SD</m:t>
                                  </m:r>
                                  <m:r>
                                    <a:rPr lang="nb-NO" sz="3118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nb-NO" sz="3118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ε</m:t>
                                  </m:r>
                                </m:e>
                              </m:d>
                            </m:e>
                            <m:sup>
                              <m:r>
                                <a:rPr lang="nb-NO" sz="3118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nb-NO" sz="3118" b="1"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nb-NO" sz="3118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nb-NO" sz="3118">
                              <a:latin typeface="Cambria Math" panose="02040503050406030204" pitchFamily="18" charset="0"/>
                            </a:rPr>
                            <m:t>SD</m:t>
                          </m:r>
                        </m:num>
                        <m:den>
                          <m:sSup>
                            <m:sSupPr>
                              <m:ctrlPr>
                                <a:rPr lang="nb-NO" sz="3118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nb-NO" sz="3118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nb-NO" sz="3118">
                                      <a:latin typeface="Cambria Math" panose="02040503050406030204" pitchFamily="18" charset="0"/>
                                    </a:rPr>
                                    <m:t>SD</m:t>
                                  </m:r>
                                  <m:r>
                                    <a:rPr lang="nb-NO" sz="3118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nb-NO" sz="3118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ε</m:t>
                                  </m:r>
                                </m:e>
                              </m:d>
                            </m:e>
                            <m:sup>
                              <m:r>
                                <a:rPr lang="nb-NO" sz="3118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NO" sz="3118" dirty="0">
                  <a:latin typeface="+mj-lt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9A9E8-B951-97EB-43F3-BE603E604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18" y="37874974"/>
                <a:ext cx="6415722" cy="995978"/>
              </a:xfrm>
              <a:prstGeom prst="rect">
                <a:avLst/>
              </a:prstGeom>
              <a:blipFill>
                <a:blip r:embed="rId19"/>
                <a:stretch>
                  <a:fillRect t="-5063" b="-75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38" descr="A graph of a person with a blue line&#10;&#10;Description automatically generated with medium confidence">
            <a:extLst>
              <a:ext uri="{FF2B5EF4-FFF2-40B4-BE49-F238E27FC236}">
                <a16:creationId xmlns:a16="http://schemas.microsoft.com/office/drawing/2014/main" id="{4E42F50B-85B8-4CDF-4CB7-D73F7AE2CF6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2688" t="8248" b="7930"/>
          <a:stretch/>
        </p:blipFill>
        <p:spPr>
          <a:xfrm>
            <a:off x="16228158" y="12196059"/>
            <a:ext cx="8698051" cy="327786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0881627-FDED-36CB-2825-F9C9AA8A4510}"/>
              </a:ext>
            </a:extLst>
          </p:cNvPr>
          <p:cNvSpPr txBox="1"/>
          <p:nvPr/>
        </p:nvSpPr>
        <p:spPr>
          <a:xfrm>
            <a:off x="9812453" y="5268345"/>
            <a:ext cx="4989269" cy="4528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Sexual dimorphism shows extensive interspecific variation</a:t>
            </a:r>
          </a:p>
          <a:p>
            <a:pPr algn="just"/>
            <a:endParaRPr lang="en-GB" sz="3203" dirty="0">
              <a:latin typeface="+mj-lt"/>
            </a:endParaRPr>
          </a:p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The evolution of sexual dimorphism is likely multifactorial, but the role of evolvability remains unclear</a:t>
            </a:r>
            <a:endParaRPr lang="en-NO" sz="3203" dirty="0">
              <a:latin typeface="+mj-l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A98857-C5C4-81C4-8F03-CB72965DF8D4}"/>
              </a:ext>
            </a:extLst>
          </p:cNvPr>
          <p:cNvSpPr txBox="1"/>
          <p:nvPr/>
        </p:nvSpPr>
        <p:spPr>
          <a:xfrm>
            <a:off x="482309" y="11473206"/>
            <a:ext cx="4689602" cy="4528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Low evolvability may slow the pace of evolutionary change</a:t>
            </a:r>
          </a:p>
          <a:p>
            <a:pPr algn="just"/>
            <a:endParaRPr lang="en-GB" sz="3203" dirty="0">
              <a:latin typeface="+mj-lt"/>
            </a:endParaRPr>
          </a:p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High evolvability may promote greater morphological diversification and faster evolutionary change </a:t>
            </a:r>
            <a:endParaRPr lang="en-NO" sz="3203" dirty="0">
              <a:latin typeface="+mj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EBE397-DFED-67A9-A73E-E53C0E6A70F1}"/>
              </a:ext>
            </a:extLst>
          </p:cNvPr>
          <p:cNvSpPr txBox="1"/>
          <p:nvPr/>
        </p:nvSpPr>
        <p:spPr>
          <a:xfrm>
            <a:off x="579291" y="23044187"/>
            <a:ext cx="6083691" cy="7485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50 species from two simian clades: </a:t>
            </a:r>
            <a:r>
              <a:rPr lang="en-GB" sz="3203" dirty="0" err="1">
                <a:latin typeface="+mj-lt"/>
              </a:rPr>
              <a:t>Platyrrhini</a:t>
            </a:r>
            <a:r>
              <a:rPr lang="en-GB" sz="3203" dirty="0">
                <a:latin typeface="+mj-lt"/>
              </a:rPr>
              <a:t> and </a:t>
            </a:r>
            <a:r>
              <a:rPr lang="en-GB" sz="3203" dirty="0" err="1">
                <a:latin typeface="+mj-lt"/>
              </a:rPr>
              <a:t>Catarrhini</a:t>
            </a:r>
            <a:endParaRPr lang="en-GB" sz="3203" dirty="0">
              <a:latin typeface="+mj-lt"/>
            </a:endParaRPr>
          </a:p>
          <a:p>
            <a:pPr marL="445400" indent="-445400" algn="just">
              <a:buFont typeface="Arial" panose="020B0604020202020204" pitchFamily="34" charset="0"/>
              <a:buChar char="•"/>
            </a:pPr>
            <a:endParaRPr lang="en-GB" sz="3203" dirty="0">
              <a:latin typeface="+mj-lt"/>
            </a:endParaRPr>
          </a:p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38 linear cranial measurements collected from simian skulls</a:t>
            </a:r>
          </a:p>
          <a:p>
            <a:pPr marL="445400" indent="-445400" algn="just">
              <a:buFont typeface="Arial" panose="020B0604020202020204" pitchFamily="34" charset="0"/>
              <a:buChar char="•"/>
            </a:pPr>
            <a:endParaRPr lang="en-GB" sz="3203" dirty="0">
              <a:latin typeface="+mj-lt"/>
            </a:endParaRPr>
          </a:p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~ 5.416 simian skulls measured</a:t>
            </a:r>
          </a:p>
          <a:p>
            <a:pPr algn="just"/>
            <a:endParaRPr lang="en-GB" sz="3203" dirty="0">
              <a:latin typeface="+mj-lt"/>
            </a:endParaRPr>
          </a:p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b="1" dirty="0">
                <a:latin typeface="+mj-lt"/>
              </a:rPr>
              <a:t>P </a:t>
            </a:r>
            <a:r>
              <a:rPr lang="en-GB" sz="3203" dirty="0">
                <a:latin typeface="+mj-lt"/>
              </a:rPr>
              <a:t>matrices estimated for each species</a:t>
            </a:r>
          </a:p>
          <a:p>
            <a:pPr marL="445400" indent="-445400" algn="just">
              <a:buFont typeface="Arial" panose="020B0604020202020204" pitchFamily="34" charset="0"/>
              <a:buChar char="•"/>
            </a:pPr>
            <a:endParaRPr lang="en-GB" sz="3203" dirty="0">
              <a:latin typeface="+mj-lt"/>
            </a:endParaRPr>
          </a:p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Sexual dimorphism was measured as the </a:t>
            </a:r>
            <a:r>
              <a:rPr lang="en-GB" sz="3203" b="1" dirty="0">
                <a:latin typeface="+mj-lt"/>
              </a:rPr>
              <a:t>norm</a:t>
            </a:r>
            <a:r>
              <a:rPr lang="en-GB" sz="3203" dirty="0">
                <a:latin typeface="+mj-lt"/>
              </a:rPr>
              <a:t> of the vector difference between males and females</a:t>
            </a:r>
            <a:endParaRPr lang="en-NO" sz="3203" dirty="0">
              <a:latin typeface="+mj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1187A56-B1FA-9F27-B2FB-0993F32A9119}"/>
              </a:ext>
            </a:extLst>
          </p:cNvPr>
          <p:cNvSpPr txBox="1"/>
          <p:nvPr/>
        </p:nvSpPr>
        <p:spPr>
          <a:xfrm>
            <a:off x="25536889" y="12640107"/>
            <a:ext cx="3891284" cy="206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Greater sexual dimorphism is associated with higher evolvability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6BAD45-69D6-6421-B4AA-A5B6C3B3184E}"/>
              </a:ext>
            </a:extLst>
          </p:cNvPr>
          <p:cNvSpPr txBox="1"/>
          <p:nvPr/>
        </p:nvSpPr>
        <p:spPr>
          <a:xfrm>
            <a:off x="24308808" y="29573763"/>
            <a:ext cx="4626022" cy="4035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No relationship was found between evolvability and constraint</a:t>
            </a:r>
          </a:p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Removing </a:t>
            </a:r>
            <a:r>
              <a:rPr lang="en-GB" sz="3203" b="1" dirty="0">
                <a:latin typeface="+mj-lt"/>
              </a:rPr>
              <a:t>P</a:t>
            </a:r>
            <a:r>
              <a:rPr lang="en-GB" sz="3203" b="1" baseline="-25000" dirty="0">
                <a:latin typeface="+mj-lt"/>
              </a:rPr>
              <a:t>max</a:t>
            </a:r>
            <a:r>
              <a:rPr lang="en-GB" sz="3203" dirty="0">
                <a:latin typeface="+mj-lt"/>
              </a:rPr>
              <a:t> results in constraint values close to the theoretical maximum (1)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0CE742-0D43-A6BB-C3BB-CF3E199A61FC}"/>
              </a:ext>
            </a:extLst>
          </p:cNvPr>
          <p:cNvSpPr txBox="1"/>
          <p:nvPr/>
        </p:nvSpPr>
        <p:spPr>
          <a:xfrm>
            <a:off x="15168109" y="17376386"/>
            <a:ext cx="5342226" cy="255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400" indent="-445400" algn="just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High measurement error weakens and may eliminate the relationship between sexual dimorphism and evolvability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8FCEDC-53FA-9566-1DCA-3D30F4F58BAD}"/>
              </a:ext>
            </a:extLst>
          </p:cNvPr>
          <p:cNvSpPr txBox="1"/>
          <p:nvPr/>
        </p:nvSpPr>
        <p:spPr>
          <a:xfrm>
            <a:off x="24667426" y="22066796"/>
            <a:ext cx="5078209" cy="157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400" indent="-445400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Excluding </a:t>
            </a:r>
            <a:r>
              <a:rPr lang="en-GB" sz="3203" b="1" dirty="0">
                <a:latin typeface="+mj-lt"/>
              </a:rPr>
              <a:t>P</a:t>
            </a:r>
            <a:r>
              <a:rPr lang="en-GB" sz="3203" b="1" baseline="-25000" dirty="0">
                <a:latin typeface="+mj-lt"/>
              </a:rPr>
              <a:t>max</a:t>
            </a:r>
            <a:r>
              <a:rPr lang="en-GB" sz="3203" dirty="0">
                <a:latin typeface="+mj-lt"/>
              </a:rPr>
              <a:t> changes the relationship, making it nonlinear  and inverse</a:t>
            </a:r>
          </a:p>
        </p:txBody>
      </p:sp>
      <p:pic>
        <p:nvPicPr>
          <p:cNvPr id="61" name="Picture 60" descr="A math equation with symbols&#10;&#10;Description automatically generated with medium confidence">
            <a:extLst>
              <a:ext uri="{FF2B5EF4-FFF2-40B4-BE49-F238E27FC236}">
                <a16:creationId xmlns:a16="http://schemas.microsoft.com/office/drawing/2014/main" id="{2BFF21E1-6AC6-E62E-F3E5-83CF54A18B20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18084" t="19321" r="8955" b="13901"/>
          <a:stretch/>
        </p:blipFill>
        <p:spPr>
          <a:xfrm>
            <a:off x="10951549" y="27957634"/>
            <a:ext cx="3213731" cy="1818184"/>
          </a:xfrm>
          <a:prstGeom prst="rect">
            <a:avLst/>
          </a:prstGeom>
        </p:spPr>
      </p:pic>
      <p:pic>
        <p:nvPicPr>
          <p:cNvPr id="1029" name="Picture 1028" descr="A skull of a dog&#10;&#10;Description automatically generated">
            <a:extLst>
              <a:ext uri="{FF2B5EF4-FFF2-40B4-BE49-F238E27FC236}">
                <a16:creationId xmlns:a16="http://schemas.microsoft.com/office/drawing/2014/main" id="{6C2BD6E5-CBA4-88FD-2385-A17D48AA77A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65785" y="31957935"/>
            <a:ext cx="6925157" cy="5000236"/>
          </a:xfrm>
          <a:prstGeom prst="rect">
            <a:avLst/>
          </a:prstGeom>
        </p:spPr>
      </p:pic>
      <p:sp>
        <p:nvSpPr>
          <p:cNvPr id="1037" name="Rounded Rectangle 1036">
            <a:extLst>
              <a:ext uri="{FF2B5EF4-FFF2-40B4-BE49-F238E27FC236}">
                <a16:creationId xmlns:a16="http://schemas.microsoft.com/office/drawing/2014/main" id="{300BAC21-9399-FCAE-9F98-FD7970E8DDBB}"/>
              </a:ext>
            </a:extLst>
          </p:cNvPr>
          <p:cNvSpPr/>
          <p:nvPr/>
        </p:nvSpPr>
        <p:spPr>
          <a:xfrm>
            <a:off x="4145680" y="4047371"/>
            <a:ext cx="8254559" cy="7369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O" sz="4365" b="1" dirty="0">
                <a:solidFill>
                  <a:schemeClr val="tx1"/>
                </a:solidFill>
                <a:latin typeface="+mj-lt"/>
              </a:rPr>
              <a:t>Sexual Dimorphism</a:t>
            </a:r>
          </a:p>
        </p:txBody>
      </p:sp>
      <p:sp>
        <p:nvSpPr>
          <p:cNvPr id="1038" name="Rounded Rectangle 1037">
            <a:extLst>
              <a:ext uri="{FF2B5EF4-FFF2-40B4-BE49-F238E27FC236}">
                <a16:creationId xmlns:a16="http://schemas.microsoft.com/office/drawing/2014/main" id="{EA698633-EF29-C53E-B1BB-EF12DD48ADF3}"/>
              </a:ext>
            </a:extLst>
          </p:cNvPr>
          <p:cNvSpPr/>
          <p:nvPr/>
        </p:nvSpPr>
        <p:spPr>
          <a:xfrm>
            <a:off x="4146863" y="10430851"/>
            <a:ext cx="8346642" cy="7369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O" sz="4365" b="1" dirty="0">
                <a:solidFill>
                  <a:schemeClr val="tx1"/>
                </a:solidFill>
                <a:latin typeface="+mj-lt"/>
              </a:rPr>
              <a:t>Evolvability and Modularity</a:t>
            </a:r>
          </a:p>
        </p:txBody>
      </p:sp>
      <p:sp>
        <p:nvSpPr>
          <p:cNvPr id="1039" name="Rounded Rectangle 1038">
            <a:extLst>
              <a:ext uri="{FF2B5EF4-FFF2-40B4-BE49-F238E27FC236}">
                <a16:creationId xmlns:a16="http://schemas.microsoft.com/office/drawing/2014/main" id="{F0A8E366-2C2C-6F7B-4CEB-BD36A1479088}"/>
              </a:ext>
            </a:extLst>
          </p:cNvPr>
          <p:cNvSpPr/>
          <p:nvPr/>
        </p:nvSpPr>
        <p:spPr>
          <a:xfrm>
            <a:off x="4280867" y="16382344"/>
            <a:ext cx="8291104" cy="7369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O" sz="4365" b="1" dirty="0">
                <a:solidFill>
                  <a:schemeClr val="tx1"/>
                </a:solidFill>
                <a:latin typeface="+mj-lt"/>
              </a:rPr>
              <a:t>Hypothesis</a:t>
            </a:r>
          </a:p>
        </p:txBody>
      </p:sp>
      <p:sp>
        <p:nvSpPr>
          <p:cNvPr id="1040" name="Rounded Rectangle 1039">
            <a:extLst>
              <a:ext uri="{FF2B5EF4-FFF2-40B4-BE49-F238E27FC236}">
                <a16:creationId xmlns:a16="http://schemas.microsoft.com/office/drawing/2014/main" id="{9A6DA982-1054-CC35-98C6-43A7E1DCF124}"/>
              </a:ext>
            </a:extLst>
          </p:cNvPr>
          <p:cNvSpPr/>
          <p:nvPr/>
        </p:nvSpPr>
        <p:spPr>
          <a:xfrm>
            <a:off x="4263120" y="21762246"/>
            <a:ext cx="8346642" cy="7369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O" sz="4365" b="1" dirty="0">
                <a:solidFill>
                  <a:schemeClr val="tx1"/>
                </a:solidFill>
                <a:latin typeface="+mj-lt"/>
              </a:rPr>
              <a:t>Data</a:t>
            </a:r>
          </a:p>
        </p:txBody>
      </p:sp>
      <p:sp>
        <p:nvSpPr>
          <p:cNvPr id="1041" name="Rounded Rectangle 1040">
            <a:extLst>
              <a:ext uri="{FF2B5EF4-FFF2-40B4-BE49-F238E27FC236}">
                <a16:creationId xmlns:a16="http://schemas.microsoft.com/office/drawing/2014/main" id="{B0D4F162-82BE-1786-3981-375FE8C911A8}"/>
              </a:ext>
            </a:extLst>
          </p:cNvPr>
          <p:cNvSpPr/>
          <p:nvPr/>
        </p:nvSpPr>
        <p:spPr>
          <a:xfrm>
            <a:off x="4229436" y="30579977"/>
            <a:ext cx="8271534" cy="7369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O" sz="4365" b="1" dirty="0">
                <a:solidFill>
                  <a:schemeClr val="tx1"/>
                </a:solidFill>
                <a:latin typeface="+mj-lt"/>
              </a:rPr>
              <a:t>Analysis</a:t>
            </a:r>
          </a:p>
        </p:txBody>
      </p:sp>
      <p:sp>
        <p:nvSpPr>
          <p:cNvPr id="1042" name="Rounded Rectangle 1041">
            <a:extLst>
              <a:ext uri="{FF2B5EF4-FFF2-40B4-BE49-F238E27FC236}">
                <a16:creationId xmlns:a16="http://schemas.microsoft.com/office/drawing/2014/main" id="{33AA6340-4997-B6DA-E7E5-8621CD217A88}"/>
              </a:ext>
            </a:extLst>
          </p:cNvPr>
          <p:cNvSpPr/>
          <p:nvPr/>
        </p:nvSpPr>
        <p:spPr>
          <a:xfrm>
            <a:off x="18411696" y="10793924"/>
            <a:ext cx="8339046" cy="7369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O" sz="4365" b="1" dirty="0">
                <a:solidFill>
                  <a:schemeClr val="tx1"/>
                </a:solidFill>
                <a:latin typeface="+mj-lt"/>
              </a:rPr>
              <a:t>Results</a:t>
            </a:r>
          </a:p>
        </p:txBody>
      </p:sp>
      <p:sp>
        <p:nvSpPr>
          <p:cNvPr id="1043" name="Rounded Rectangle 1042">
            <a:extLst>
              <a:ext uri="{FF2B5EF4-FFF2-40B4-BE49-F238E27FC236}">
                <a16:creationId xmlns:a16="http://schemas.microsoft.com/office/drawing/2014/main" id="{633596AB-2662-9308-363B-3AAF6CB3AEA8}"/>
              </a:ext>
            </a:extLst>
          </p:cNvPr>
          <p:cNvSpPr/>
          <p:nvPr/>
        </p:nvSpPr>
        <p:spPr>
          <a:xfrm>
            <a:off x="17981255" y="34130512"/>
            <a:ext cx="8346642" cy="7369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4365" b="1" dirty="0">
                <a:solidFill>
                  <a:schemeClr val="tx1"/>
                </a:solidFill>
                <a:latin typeface="+mj-lt"/>
              </a:rPr>
              <a:t>Conclusions and Next Steps</a:t>
            </a:r>
            <a:endParaRPr lang="en-NO" sz="4365" b="1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C4658F56-FD04-6315-A713-8900B0A49ADA}"/>
                  </a:ext>
                </a:extLst>
              </p:cNvPr>
              <p:cNvSpPr txBox="1"/>
              <p:nvPr/>
            </p:nvSpPr>
            <p:spPr>
              <a:xfrm>
                <a:off x="3564590" y="39204944"/>
                <a:ext cx="8489632" cy="10757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O" sz="3118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b-NO" sz="3118">
                              <a:latin typeface="Cambria Math" panose="02040503050406030204" pitchFamily="18" charset="0"/>
                            </a:rPr>
                            <m:t>constraint</m:t>
                          </m:r>
                        </m:e>
                        <m:sub>
                          <m:r>
                            <a:rPr lang="nb-NO" sz="3118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nb-NO" sz="3118">
                              <a:latin typeface="Cambria Math" panose="02040503050406030204" pitchFamily="18" charset="0"/>
                            </a:rPr>
                            <m:t>SD</m:t>
                          </m:r>
                          <m:r>
                            <a:rPr lang="nb-NO" sz="3118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nb-NO" sz="3118">
                          <a:latin typeface="Cambria Math" panose="02040503050406030204" pitchFamily="18" charset="0"/>
                        </a:rPr>
                        <m:t>=1 − </m:t>
                      </m:r>
                      <m:f>
                        <m:fPr>
                          <m:ctrlPr>
                            <a:rPr lang="nb-NO" sz="3118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nb-NO" sz="3118">
                              <a:latin typeface="Cambria Math" panose="02040503050406030204" pitchFamily="18" charset="0"/>
                            </a:rPr>
                            <m:t>conditional</m:t>
                          </m:r>
                          <m:r>
                            <a:rPr lang="nb-NO" sz="3118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O" sz="3118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b-NO" sz="3118">
                                  <a:latin typeface="Cambria Math" panose="02040503050406030204" pitchFamily="18" charset="0"/>
                                </a:rPr>
                                <m:t>evolvability</m:t>
                              </m:r>
                            </m:e>
                            <m:sub>
                              <m:r>
                                <a:rPr lang="nb-NO" sz="3118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nb-NO" sz="3118">
                                  <a:latin typeface="Cambria Math" panose="02040503050406030204" pitchFamily="18" charset="0"/>
                                </a:rPr>
                                <m:t>SD</m:t>
                              </m:r>
                              <m:r>
                                <a:rPr lang="nb-NO" sz="3118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NO" sz="3118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nb-NO" sz="3118">
                                  <a:latin typeface="Cambria Math" panose="02040503050406030204" pitchFamily="18" charset="0"/>
                                </a:rPr>
                                <m:t>evolvability</m:t>
                              </m:r>
                            </m:e>
                            <m:sub>
                              <m:r>
                                <a:rPr lang="nb-NO" sz="3118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nb-NO" sz="3118">
                                  <a:latin typeface="Cambria Math" panose="02040503050406030204" pitchFamily="18" charset="0"/>
                                </a:rPr>
                                <m:t>SD</m:t>
                              </m:r>
                              <m:r>
                                <a:rPr lang="nb-NO" sz="3118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NO" sz="3118" dirty="0">
                  <a:latin typeface="+mj-lt"/>
                </a:endParaRPr>
              </a:p>
            </p:txBody>
          </p:sp>
        </mc:Choice>
        <mc:Fallback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C4658F56-FD04-6315-A713-8900B0A49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590" y="39204944"/>
                <a:ext cx="8489632" cy="1075744"/>
              </a:xfrm>
              <a:prstGeom prst="rect">
                <a:avLst/>
              </a:prstGeom>
              <a:blipFill>
                <a:blip r:embed="rId23"/>
                <a:stretch>
                  <a:fillRect l="-598" t="-5814" r="-598" b="-116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85B8B2C-8554-EAB5-803F-16437826B93D}"/>
              </a:ext>
            </a:extLst>
          </p:cNvPr>
          <p:cNvSpPr txBox="1"/>
          <p:nvPr/>
        </p:nvSpPr>
        <p:spPr>
          <a:xfrm>
            <a:off x="131452" y="-27364"/>
            <a:ext cx="1925845" cy="668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3741" dirty="0">
                <a:latin typeface="+mj-lt"/>
              </a:rPr>
              <a:t>P265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371677-7AD5-CD61-93B0-75D49FC0EEB2}"/>
                  </a:ext>
                </a:extLst>
              </p:cNvPr>
              <p:cNvSpPr txBox="1"/>
              <p:nvPr/>
            </p:nvSpPr>
            <p:spPr>
              <a:xfrm>
                <a:off x="6016010" y="37749092"/>
                <a:ext cx="10423887" cy="901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b-NO" sz="3118">
                          <a:latin typeface="Cambria Math" panose="02040503050406030204" pitchFamily="18" charset="0"/>
                        </a:rPr>
                        <m:t>conditional</m:t>
                      </m:r>
                      <m:r>
                        <a:rPr lang="nb-NO" sz="3118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O" sz="3118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nb-NO" sz="3118">
                              <a:latin typeface="Cambria Math" panose="02040503050406030204" pitchFamily="18" charset="0"/>
                            </a:rPr>
                            <m:t>evolvability</m:t>
                          </m:r>
                        </m:e>
                        <m:sub>
                          <m:r>
                            <a:rPr lang="nb-NO" sz="3118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nb-NO" sz="3118">
                              <a:latin typeface="Cambria Math" panose="02040503050406030204" pitchFamily="18" charset="0"/>
                            </a:rPr>
                            <m:t>SD</m:t>
                          </m:r>
                          <m:r>
                            <a:rPr lang="nb-NO" sz="3118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nb-NO" sz="3118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118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118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nb-NO" sz="3118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nb-NO" sz="3118">
                                  <a:latin typeface="Cambria Math" panose="02040503050406030204" pitchFamily="18" charset="0"/>
                                </a:rPr>
                                <m:t>SD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nb-NO" sz="3118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sSup>
                            <m:sSupPr>
                              <m:ctrlPr>
                                <a:rPr lang="nb-NO" sz="3118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b-NO" sz="3118" b="1"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p>
                              <m:r>
                                <a:rPr lang="nb-NO" sz="3118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nb-NO" sz="3118">
                              <a:latin typeface="Cambria Math" panose="02040503050406030204" pitchFamily="18" charset="0"/>
                            </a:rPr>
                            <m:t>SD</m:t>
                          </m:r>
                        </m:den>
                      </m:f>
                    </m:oMath>
                  </m:oMathPara>
                </a14:m>
                <a:endParaRPr lang="en-NO" sz="3118" dirty="0">
                  <a:latin typeface="+mj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371677-7AD5-CD61-93B0-75D49FC0E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010" y="37749092"/>
                <a:ext cx="10423887" cy="901850"/>
              </a:xfrm>
              <a:prstGeom prst="rect">
                <a:avLst/>
              </a:prstGeom>
              <a:blipFill>
                <a:blip r:embed="rId24"/>
                <a:stretch>
                  <a:fillRect t="-1389"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 descr="A diagram of a circle with arrows and lines&#10;&#10;Description automatically generated">
            <a:extLst>
              <a:ext uri="{FF2B5EF4-FFF2-40B4-BE49-F238E27FC236}">
                <a16:creationId xmlns:a16="http://schemas.microsoft.com/office/drawing/2014/main" id="{47973FEA-B44F-5AA7-2B0F-D631BEC5281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7542" y="31628518"/>
            <a:ext cx="6667686" cy="5803244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19766E-2FDB-64AF-67B3-11673E52E7AC}"/>
              </a:ext>
            </a:extLst>
          </p:cNvPr>
          <p:cNvCxnSpPr>
            <a:cxnSpLocks/>
          </p:cNvCxnSpPr>
          <p:nvPr/>
        </p:nvCxnSpPr>
        <p:spPr>
          <a:xfrm>
            <a:off x="13284698" y="28196635"/>
            <a:ext cx="0" cy="155875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5F5218-F84D-A8AF-F265-BF61FD15AAAB}"/>
              </a:ext>
            </a:extLst>
          </p:cNvPr>
          <p:cNvSpPr txBox="1"/>
          <p:nvPr/>
        </p:nvSpPr>
        <p:spPr>
          <a:xfrm>
            <a:off x="18030887" y="15462544"/>
            <a:ext cx="4889480" cy="58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3" b="1" dirty="0">
                <a:latin typeface="+mj-lt"/>
              </a:rPr>
              <a:t>Sexual Dimorphism (norm)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BAE2C7-AA4F-6698-8F03-A5ACA7ABAA65}"/>
              </a:ext>
            </a:extLst>
          </p:cNvPr>
          <p:cNvSpPr txBox="1"/>
          <p:nvPr/>
        </p:nvSpPr>
        <p:spPr>
          <a:xfrm rot="16200000">
            <a:off x="14525610" y="13053021"/>
            <a:ext cx="2788712" cy="58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3" b="1" dirty="0">
                <a:latin typeface="+mj-lt"/>
              </a:rPr>
              <a:t>Evolvability</a:t>
            </a:r>
            <a:r>
              <a:rPr lang="en-NO" sz="3203" b="1" baseline="-25000" dirty="0">
                <a:latin typeface="+mj-lt"/>
              </a:rPr>
              <a:t> (SD)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E77A99-4921-B75B-57FB-16CA99761FE3}"/>
              </a:ext>
            </a:extLst>
          </p:cNvPr>
          <p:cNvSpPr txBox="1"/>
          <p:nvPr/>
        </p:nvSpPr>
        <p:spPr>
          <a:xfrm>
            <a:off x="18807821" y="32440036"/>
            <a:ext cx="2556084" cy="58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3" b="1" dirty="0">
                <a:latin typeface="+mj-lt"/>
              </a:rPr>
              <a:t>Constraint</a:t>
            </a:r>
            <a:r>
              <a:rPr lang="en-NO" sz="3203" b="1" baseline="-25000" dirty="0">
                <a:latin typeface="+mj-lt"/>
              </a:rPr>
              <a:t>(SD)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91DC4E-95C4-7F90-8F94-12EB61E3C750}"/>
              </a:ext>
            </a:extLst>
          </p:cNvPr>
          <p:cNvSpPr txBox="1"/>
          <p:nvPr/>
        </p:nvSpPr>
        <p:spPr>
          <a:xfrm rot="16200000">
            <a:off x="20044714" y="18226626"/>
            <a:ext cx="2788712" cy="58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3" b="1" dirty="0">
                <a:latin typeface="+mj-lt"/>
              </a:rPr>
              <a:t>Evolvability</a:t>
            </a:r>
            <a:r>
              <a:rPr lang="en-NO" sz="3203" b="1" baseline="-25000" dirty="0">
                <a:latin typeface="+mj-lt"/>
              </a:rPr>
              <a:t> (SD)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BEC410-798F-7C9D-6C33-140118440E48}"/>
              </a:ext>
            </a:extLst>
          </p:cNvPr>
          <p:cNvSpPr txBox="1"/>
          <p:nvPr/>
        </p:nvSpPr>
        <p:spPr>
          <a:xfrm>
            <a:off x="23821953" y="20427507"/>
            <a:ext cx="4889480" cy="58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3" b="1" dirty="0">
                <a:latin typeface="+mj-lt"/>
              </a:rPr>
              <a:t>Sexual Dimorphism (norm)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B07C81-120D-7ABD-9F3F-D9928D26A251}"/>
              </a:ext>
            </a:extLst>
          </p:cNvPr>
          <p:cNvSpPr txBox="1"/>
          <p:nvPr/>
        </p:nvSpPr>
        <p:spPr>
          <a:xfrm>
            <a:off x="24926210" y="16320824"/>
            <a:ext cx="2490169" cy="58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3" b="1" dirty="0">
                <a:latin typeface="+mj-lt"/>
              </a:rPr>
              <a:t>S</a:t>
            </a:r>
            <a:r>
              <a:rPr lang="en-NO" sz="3203" b="1" dirty="0">
                <a:latin typeface="+mj-lt"/>
              </a:rPr>
              <a:t>igma values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3A1D74-A8F0-06D4-96B6-13253B881487}"/>
              </a:ext>
            </a:extLst>
          </p:cNvPr>
          <p:cNvSpPr txBox="1"/>
          <p:nvPr/>
        </p:nvSpPr>
        <p:spPr>
          <a:xfrm>
            <a:off x="17896935" y="24135284"/>
            <a:ext cx="4889480" cy="58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3" b="1" dirty="0">
                <a:latin typeface="+mj-lt"/>
              </a:rPr>
              <a:t>Sexual Dimorphism (norm)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F09B08-B70D-E077-5E5F-A6D7F738EC59}"/>
              </a:ext>
            </a:extLst>
          </p:cNvPr>
          <p:cNvSpPr txBox="1"/>
          <p:nvPr/>
        </p:nvSpPr>
        <p:spPr>
          <a:xfrm rot="16200000">
            <a:off x="14644088" y="21386569"/>
            <a:ext cx="2841612" cy="1078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3" b="1" dirty="0">
                <a:latin typeface="+mj-lt"/>
              </a:rPr>
              <a:t>Evolvability</a:t>
            </a:r>
            <a:r>
              <a:rPr lang="en-NO" sz="3203" b="1" baseline="-25000" dirty="0">
                <a:latin typeface="+mj-lt"/>
              </a:rPr>
              <a:t> (SD) </a:t>
            </a:r>
          </a:p>
          <a:p>
            <a:r>
              <a:rPr lang="en-NO" sz="3203" b="1" dirty="0">
                <a:latin typeface="+mj-lt"/>
              </a:rPr>
              <a:t>outside P</a:t>
            </a:r>
            <a:r>
              <a:rPr lang="en-NO" sz="3203" b="1" baseline="-25000" dirty="0">
                <a:latin typeface="+mj-lt"/>
              </a:rPr>
              <a:t>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E5BA5-673A-956F-5B96-019C1882195E}"/>
              </a:ext>
            </a:extLst>
          </p:cNvPr>
          <p:cNvSpPr txBox="1"/>
          <p:nvPr/>
        </p:nvSpPr>
        <p:spPr>
          <a:xfrm>
            <a:off x="11289190" y="2052047"/>
            <a:ext cx="7290522" cy="18805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6" baseline="30000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  <a:r>
              <a:rPr lang="en-GB" sz="2806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Universidade de São Paulo (USP), Brazil</a:t>
            </a:r>
          </a:p>
          <a:p>
            <a:pPr algn="ctr"/>
            <a:r>
              <a:rPr lang="en-GB" sz="2806" baseline="30000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r>
              <a:rPr lang="en-GB" sz="2806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University of Oslo (</a:t>
            </a:r>
            <a:r>
              <a:rPr lang="en-GB" sz="2806" dirty="0" err="1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UiO</a:t>
            </a:r>
            <a:r>
              <a:rPr lang="en-GB" sz="2806" dirty="0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), Norway </a:t>
            </a:r>
          </a:p>
          <a:p>
            <a:pPr algn="ctr"/>
            <a:r>
              <a:rPr lang="en-GB" sz="2806" dirty="0" err="1">
                <a:latin typeface="+mj-lt"/>
                <a:ea typeface="Cambria Math" panose="02040503050406030204" pitchFamily="18" charset="0"/>
                <a:cs typeface="Arial" panose="020B0604020202020204" pitchFamily="34" charset="0"/>
              </a:rPr>
              <a:t>lucas.camacho@usp.br</a:t>
            </a:r>
            <a:endParaRPr lang="en-GB" sz="2806" dirty="0">
              <a:latin typeface="+mj-lt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endParaRPr lang="en-NO" sz="3203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16A01-93A4-1F4F-E369-30B9F31E4F89}"/>
              </a:ext>
            </a:extLst>
          </p:cNvPr>
          <p:cNvSpPr txBox="1"/>
          <p:nvPr/>
        </p:nvSpPr>
        <p:spPr>
          <a:xfrm>
            <a:off x="15582151" y="35315725"/>
            <a:ext cx="13433257" cy="345100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445400" indent="-445400">
              <a:buFont typeface="Arial" panose="020B0604020202020204" pitchFamily="34" charset="0"/>
              <a:buChar char="•"/>
            </a:pPr>
            <a:r>
              <a:rPr lang="en-GB" sz="3118" dirty="0">
                <a:latin typeface="+mj-lt"/>
              </a:rPr>
              <a:t>Sexual dimorphism tends to evolve along highly evolvable directions</a:t>
            </a:r>
          </a:p>
          <a:p>
            <a:pPr marL="445400" indent="-445400">
              <a:buFont typeface="Arial" panose="020B0604020202020204" pitchFamily="34" charset="0"/>
              <a:buChar char="•"/>
            </a:pPr>
            <a:r>
              <a:rPr lang="en-GB" sz="3118" dirty="0">
                <a:latin typeface="+mj-lt"/>
              </a:rPr>
              <a:t>Constraint alone does not influence evolvability among species</a:t>
            </a:r>
          </a:p>
          <a:p>
            <a:pPr marL="445400" indent="-445400">
              <a:buFont typeface="Arial" panose="020B0604020202020204" pitchFamily="34" charset="0"/>
              <a:buChar char="•"/>
            </a:pPr>
            <a:r>
              <a:rPr lang="en-GB" sz="3118" dirty="0">
                <a:latin typeface="+mj-lt"/>
              </a:rPr>
              <a:t>Measurement error is important but does not substantially alter the observed patterns</a:t>
            </a:r>
          </a:p>
          <a:p>
            <a:pPr marL="445400" indent="-445400">
              <a:buFont typeface="Arial" panose="020B0604020202020204" pitchFamily="34" charset="0"/>
              <a:buChar char="•"/>
            </a:pPr>
            <a:endParaRPr lang="en-GB" sz="3118" dirty="0">
              <a:latin typeface="+mj-lt"/>
            </a:endParaRPr>
          </a:p>
          <a:p>
            <a:pPr marL="445400" indent="-445400">
              <a:buFont typeface="Arial" panose="020B0604020202020204" pitchFamily="34" charset="0"/>
              <a:buChar char="•"/>
            </a:pPr>
            <a:r>
              <a:rPr lang="en-GB" sz="3118" dirty="0">
                <a:latin typeface="+mj-lt"/>
              </a:rPr>
              <a:t>Test whether these patterns are phylogenetically widespread </a:t>
            </a:r>
          </a:p>
          <a:p>
            <a:pPr marL="445400" indent="-445400">
              <a:buFont typeface="Arial" panose="020B0604020202020204" pitchFamily="34" charset="0"/>
              <a:buChar char="•"/>
            </a:pPr>
            <a:r>
              <a:rPr lang="en-GB" sz="3118" dirty="0">
                <a:latin typeface="+mj-lt"/>
              </a:rPr>
              <a:t>Better examine the consequences of removing </a:t>
            </a:r>
            <a:r>
              <a:rPr lang="en-GB" sz="3118" b="1" dirty="0">
                <a:latin typeface="+mj-lt"/>
              </a:rPr>
              <a:t>Pmax</a:t>
            </a:r>
            <a:r>
              <a:rPr lang="en-GB" sz="3118" dirty="0">
                <a:latin typeface="+mj-lt"/>
              </a:rPr>
              <a:t> on evolvability estimates.</a:t>
            </a:r>
            <a:endParaRPr lang="en-NO" sz="3118" dirty="0">
              <a:latin typeface="+mj-lt"/>
            </a:endParaRPr>
          </a:p>
        </p:txBody>
      </p:sp>
      <p:pic>
        <p:nvPicPr>
          <p:cNvPr id="10" name="Picture 9" descr="A qr code with a dinosaur&#10;&#10;Description automatically generated">
            <a:extLst>
              <a:ext uri="{FF2B5EF4-FFF2-40B4-BE49-F238E27FC236}">
                <a16:creationId xmlns:a16="http://schemas.microsoft.com/office/drawing/2014/main" id="{99A15442-F3F8-0C0E-65BB-8E10F168726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399577" y="1988582"/>
            <a:ext cx="1255133" cy="125513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33078A-FF5C-010A-BAC4-EF32B9723129}"/>
              </a:ext>
            </a:extLst>
          </p:cNvPr>
          <p:cNvCxnSpPr>
            <a:cxnSpLocks/>
          </p:cNvCxnSpPr>
          <p:nvPr/>
        </p:nvCxnSpPr>
        <p:spPr>
          <a:xfrm>
            <a:off x="14128034" y="28219837"/>
            <a:ext cx="0" cy="1558754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19" descr="A graph showing a graph of a bear and a rhinoceros&#10;&#10;Description automatically generated">
            <a:extLst>
              <a:ext uri="{FF2B5EF4-FFF2-40B4-BE49-F238E27FC236}">
                <a16:creationId xmlns:a16="http://schemas.microsoft.com/office/drawing/2014/main" id="{6FB0F683-66A7-F080-AD2E-B4F0DF5CFE4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22876" y="17485590"/>
            <a:ext cx="6575662" cy="3909191"/>
          </a:xfrm>
          <a:prstGeom prst="rect">
            <a:avLst/>
          </a:prstGeom>
        </p:spPr>
      </p:pic>
      <p:pic>
        <p:nvPicPr>
          <p:cNvPr id="13" name="Picture 12" descr="A graph of a graph showing the difference between high integration and high integration&#10;&#10;Description automatically generated">
            <a:extLst>
              <a:ext uri="{FF2B5EF4-FFF2-40B4-BE49-F238E27FC236}">
                <a16:creationId xmlns:a16="http://schemas.microsoft.com/office/drawing/2014/main" id="{1FE259EC-9DE3-53E0-8A1C-61BCDE1F2A3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77869" y="17498400"/>
            <a:ext cx="7126057" cy="37531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916B1D5-299C-5417-D5AF-2AEFA34B4462}"/>
              </a:ext>
            </a:extLst>
          </p:cNvPr>
          <p:cNvSpPr txBox="1"/>
          <p:nvPr/>
        </p:nvSpPr>
        <p:spPr>
          <a:xfrm rot="16200000">
            <a:off x="14574367" y="30335753"/>
            <a:ext cx="2841612" cy="58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3" b="1" dirty="0">
                <a:latin typeface="+mj-lt"/>
              </a:rPr>
              <a:t>Evolvability</a:t>
            </a:r>
            <a:r>
              <a:rPr lang="en-NO" sz="3203" b="1" baseline="-25000" dirty="0">
                <a:latin typeface="+mj-lt"/>
              </a:rPr>
              <a:t> (SD) </a:t>
            </a:r>
          </a:p>
        </p:txBody>
      </p:sp>
      <p:pic>
        <p:nvPicPr>
          <p:cNvPr id="44" name="Picture 43" descr="A graph of a number of dots&#10;&#10;Description automatically generated">
            <a:extLst>
              <a:ext uri="{FF2B5EF4-FFF2-40B4-BE49-F238E27FC236}">
                <a16:creationId xmlns:a16="http://schemas.microsoft.com/office/drawing/2014/main" id="{0147F0B5-EF5E-9980-9114-6E846DBD1BC8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086" b="7101"/>
          <a:stretch/>
        </p:blipFill>
        <p:spPr>
          <a:xfrm>
            <a:off x="22019610" y="25597584"/>
            <a:ext cx="7106679" cy="29803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6589F92-2C6A-3F19-3A2A-792733A8ABB1}"/>
              </a:ext>
            </a:extLst>
          </p:cNvPr>
          <p:cNvSpPr txBox="1"/>
          <p:nvPr/>
        </p:nvSpPr>
        <p:spPr>
          <a:xfrm>
            <a:off x="23874016" y="28633917"/>
            <a:ext cx="4889480" cy="585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3" b="1" dirty="0">
                <a:latin typeface="+mj-lt"/>
              </a:rPr>
              <a:t>Sexual Dimorphism (norm)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A7A565-CEFC-5428-F30E-DEC85A4CEFF6}"/>
              </a:ext>
            </a:extLst>
          </p:cNvPr>
          <p:cNvSpPr txBox="1"/>
          <p:nvPr/>
        </p:nvSpPr>
        <p:spPr>
          <a:xfrm rot="16200000">
            <a:off x="19975460" y="26113889"/>
            <a:ext cx="2841611" cy="1571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O" sz="3203" b="1" dirty="0">
                <a:latin typeface="+mj-lt"/>
              </a:rPr>
              <a:t>Conditional </a:t>
            </a:r>
          </a:p>
          <a:p>
            <a:pPr algn="ctr"/>
            <a:r>
              <a:rPr lang="en-NO" sz="3203" b="1" dirty="0">
                <a:latin typeface="+mj-lt"/>
              </a:rPr>
              <a:t>Evolvability</a:t>
            </a:r>
            <a:r>
              <a:rPr lang="en-NO" sz="3203" b="1" baseline="-25000" dirty="0">
                <a:latin typeface="+mj-lt"/>
              </a:rPr>
              <a:t> (SD) </a:t>
            </a:r>
          </a:p>
          <a:p>
            <a:pPr algn="ctr"/>
            <a:r>
              <a:rPr lang="en-NO" sz="3203" b="1" dirty="0">
                <a:latin typeface="+mj-lt"/>
              </a:rPr>
              <a:t>outside P</a:t>
            </a:r>
            <a:r>
              <a:rPr lang="en-NO" sz="3203" b="1" baseline="-25000" dirty="0">
                <a:latin typeface="+mj-lt"/>
              </a:rPr>
              <a:t>max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BFE4C2-93EC-3B20-E61A-CCD00BDBDA1F}"/>
              </a:ext>
            </a:extLst>
          </p:cNvPr>
          <p:cNvSpPr txBox="1"/>
          <p:nvPr/>
        </p:nvSpPr>
        <p:spPr>
          <a:xfrm>
            <a:off x="15223266" y="25632352"/>
            <a:ext cx="5078209" cy="206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5400" indent="-445400">
              <a:buFont typeface="Arial" panose="020B0604020202020204" pitchFamily="34" charset="0"/>
              <a:buChar char="•"/>
            </a:pPr>
            <a:r>
              <a:rPr lang="en-GB" sz="3203" dirty="0">
                <a:latin typeface="+mj-lt"/>
              </a:rPr>
              <a:t>Conditional evolvability of sexual dimorphism drops to practically zero after controlling for </a:t>
            </a:r>
            <a:r>
              <a:rPr lang="en-GB" sz="3203" b="1" dirty="0">
                <a:latin typeface="+mj-lt"/>
              </a:rPr>
              <a:t>P</a:t>
            </a:r>
            <a:r>
              <a:rPr lang="en-GB" sz="3203" b="1" baseline="-25000" dirty="0">
                <a:latin typeface="+mj-lt"/>
              </a:rPr>
              <a:t>max</a:t>
            </a:r>
            <a:endParaRPr lang="en-GB" sz="3203" dirty="0">
              <a:latin typeface="+mj-lt"/>
            </a:endParaRPr>
          </a:p>
        </p:txBody>
      </p:sp>
      <p:pic>
        <p:nvPicPr>
          <p:cNvPr id="53" name="Picture 52" descr="A graph of black dots and blue line&#10;&#10;Description automatically generated">
            <a:extLst>
              <a:ext uri="{FF2B5EF4-FFF2-40B4-BE49-F238E27FC236}">
                <a16:creationId xmlns:a16="http://schemas.microsoft.com/office/drawing/2014/main" id="{892EABBD-82CF-B9DF-462F-0604B053F6A8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3073" b="6764"/>
          <a:stretch/>
        </p:blipFill>
        <p:spPr>
          <a:xfrm>
            <a:off x="25349488" y="24993834"/>
            <a:ext cx="4173120" cy="175620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272F805-AF24-1409-ADC1-E1FD6A003932}"/>
              </a:ext>
            </a:extLst>
          </p:cNvPr>
          <p:cNvSpPr txBox="1"/>
          <p:nvPr/>
        </p:nvSpPr>
        <p:spPr>
          <a:xfrm>
            <a:off x="25718208" y="26620679"/>
            <a:ext cx="3501555" cy="428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sz="2182" b="1" dirty="0">
                <a:latin typeface="+mj-lt"/>
              </a:rPr>
              <a:t>Sexual Dimorphism (norm)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C407169-2AD7-48D6-BF9F-E6EA532B8B54}"/>
              </a:ext>
            </a:extLst>
          </p:cNvPr>
          <p:cNvSpPr txBox="1"/>
          <p:nvPr/>
        </p:nvSpPr>
        <p:spPr>
          <a:xfrm rot="16200000">
            <a:off x="23982731" y="25391040"/>
            <a:ext cx="1990609" cy="763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O" sz="2182" b="1" dirty="0">
                <a:latin typeface="+mj-lt"/>
              </a:rPr>
              <a:t>Conditional </a:t>
            </a:r>
          </a:p>
          <a:p>
            <a:pPr algn="ctr"/>
            <a:r>
              <a:rPr lang="en-NO" sz="2182" b="1" dirty="0">
                <a:latin typeface="+mj-lt"/>
              </a:rPr>
              <a:t>Evolvability</a:t>
            </a:r>
            <a:r>
              <a:rPr lang="en-NO" sz="2182" b="1" baseline="-25000" dirty="0">
                <a:latin typeface="+mj-lt"/>
              </a:rPr>
              <a:t> (SD) </a:t>
            </a:r>
          </a:p>
        </p:txBody>
      </p:sp>
      <p:pic>
        <p:nvPicPr>
          <p:cNvPr id="1024" name="Picture 1023" descr="A graph of a graph showing the difference between a certain index and a certain index&#10;&#10;Description automatically generated with medium confidence">
            <a:extLst>
              <a:ext uri="{FF2B5EF4-FFF2-40B4-BE49-F238E27FC236}">
                <a16:creationId xmlns:a16="http://schemas.microsoft.com/office/drawing/2014/main" id="{608427C8-E821-CE58-B636-FE7137B19706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l="3262" t="9235" b="8553"/>
          <a:stretch/>
        </p:blipFill>
        <p:spPr>
          <a:xfrm>
            <a:off x="16330887" y="29394727"/>
            <a:ext cx="7106679" cy="30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5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7666</TotalTime>
  <Words>347</Words>
  <Application>Microsoft Macintosh PowerPoint</Application>
  <PresentationFormat>Custom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Camacho</dc:creator>
  <cp:lastModifiedBy>Lucas Camacho</cp:lastModifiedBy>
  <cp:revision>227</cp:revision>
  <dcterms:created xsi:type="dcterms:W3CDTF">2026-05-18T08:52:12Z</dcterms:created>
  <dcterms:modified xsi:type="dcterms:W3CDTF">2026-06-04T12:03:43Z</dcterms:modified>
</cp:coreProperties>
</file>