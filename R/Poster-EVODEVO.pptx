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48"/>
  </p:normalViewPr>
  <p:slideViewPr>
    <p:cSldViewPr snapToGrid="0">
      <p:cViewPr>
        <p:scale>
          <a:sx n="105" d="100"/>
          <a:sy n="105" d="100"/>
        </p:scale>
        <p:origin x="-1416" y="-11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9975" y="1143000"/>
            <a:ext cx="2178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1pPr>
    <a:lvl2pPr marL="521894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2pPr>
    <a:lvl3pPr marL="1043788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3pPr>
    <a:lvl4pPr marL="1565681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4pPr>
    <a:lvl5pPr marL="2087575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5pPr>
    <a:lvl6pPr marL="2609469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6pPr>
    <a:lvl7pPr marL="3131363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7pPr>
    <a:lvl8pPr marL="3653257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8pPr>
    <a:lvl9pPr marL="4175150" algn="l" defTabSz="1043788" rtl="0" eaLnBrk="1" latinLnBrk="0" hangingPunct="1">
      <a:defRPr sz="137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9975" y="1143000"/>
            <a:ext cx="21780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89564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777253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473039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249204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348541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40661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37064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05348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44425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081293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736611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04/06/2026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802243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openxmlformats.org/officeDocument/2006/relationships/image" Target="../media/image1.jpeg"/><Relationship Id="rId21" Type="http://schemas.openxmlformats.org/officeDocument/2006/relationships/image" Target="../media/image18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hyperlink" Target="lucascamacho.github.io" TargetMode="External"/><Relationship Id="rId24" Type="http://schemas.openxmlformats.org/officeDocument/2006/relationships/image" Target="../media/image21.png"/><Relationship Id="rId5" Type="http://schemas.openxmlformats.org/officeDocument/2006/relationships/image" Target="../media/image3.jpe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0" y="-10377"/>
            <a:ext cx="21383625" cy="2592394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3402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18732473" y="28810811"/>
            <a:ext cx="2651151" cy="1003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9697373" y="28654043"/>
            <a:ext cx="2111470" cy="1121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95116" y="28677888"/>
            <a:ext cx="3256062" cy="1060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617" y="28900336"/>
            <a:ext cx="2399389" cy="685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3267712" y="157561"/>
            <a:ext cx="14800205" cy="7321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158" b="1" dirty="0">
                <a:latin typeface="+mj-lt"/>
              </a:rPr>
              <a:t>Integration and Evolvability of Simian Cranial Sexual Dimorphism</a:t>
            </a:r>
            <a:endParaRPr lang="en-NO" sz="4158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6109747" y="860941"/>
            <a:ext cx="9123139" cy="14302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024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3024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2646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3024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10619292" y="2648982"/>
            <a:ext cx="2706" cy="25670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0293" y="16234151"/>
            <a:ext cx="5668964" cy="3642144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0208" y="1412596"/>
            <a:ext cx="1291196" cy="90383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0209" y="259529"/>
            <a:ext cx="1303683" cy="94924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16" y="956893"/>
            <a:ext cx="1860551" cy="1609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1" y="29781689"/>
            <a:ext cx="21383624" cy="49485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1701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18898671" y="29846976"/>
            <a:ext cx="2398670" cy="3540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701" b="1" dirty="0">
                <a:latin typeface="+mj-lt"/>
                <a:hlinkClick r:id="rId11"/>
              </a:rPr>
              <a:t>l</a:t>
            </a:r>
            <a:r>
              <a:rPr lang="en-NO" sz="1701" b="1" dirty="0">
                <a:latin typeface="+mj-lt"/>
                <a:hlinkClick r:id="rId11"/>
              </a:rPr>
              <a:t>ucascamacho.github.io</a:t>
            </a:r>
            <a:endParaRPr lang="en-NO" sz="1701" b="1" dirty="0"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91817" y="29873505"/>
            <a:ext cx="6625403" cy="3540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701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10371305" y="29883954"/>
            <a:ext cx="652743" cy="3540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701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329" y="28774801"/>
            <a:ext cx="2443611" cy="87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50138" y="20080612"/>
            <a:ext cx="2188593" cy="1193777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11314"/>
          <a:stretch/>
        </p:blipFill>
        <p:spPr>
          <a:xfrm>
            <a:off x="11603733" y="2876402"/>
            <a:ext cx="9070047" cy="4387520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16315"/>
          <a:stretch/>
        </p:blipFill>
        <p:spPr>
          <a:xfrm>
            <a:off x="3849989" y="8348913"/>
            <a:ext cx="6675037" cy="3046929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0087" y="3677783"/>
            <a:ext cx="6236448" cy="3401698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3232" t="8000" b="6818"/>
          <a:stretch/>
        </p:blipFill>
        <p:spPr>
          <a:xfrm>
            <a:off x="15413289" y="12016248"/>
            <a:ext cx="5500233" cy="2420873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l="2888" t="7800" b="7420"/>
          <a:stretch/>
        </p:blipFill>
        <p:spPr>
          <a:xfrm>
            <a:off x="11696903" y="15043199"/>
            <a:ext cx="5653474" cy="21592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254806" y="26993297"/>
                <a:ext cx="4572452" cy="7089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222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evolvability</m:t>
                          </m:r>
                        </m:e>
                        <m:sub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2222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2222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2222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2222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222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222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222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222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2222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2222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2222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222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222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222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222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2222" dirty="0">
                  <a:latin typeface="+mj-lt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806" y="26993297"/>
                <a:ext cx="4572452" cy="708977"/>
              </a:xfrm>
              <a:prstGeom prst="rect">
                <a:avLst/>
              </a:prstGeom>
              <a:blipFill>
                <a:blip r:embed="rId19"/>
                <a:stretch>
                  <a:fillRect t="-3509" b="-70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4E42F50B-85B8-4CDF-4CB7-D73F7AE2CF6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2688" t="8248" b="7930"/>
          <a:stretch/>
        </p:blipFill>
        <p:spPr>
          <a:xfrm>
            <a:off x="11481488" y="8692068"/>
            <a:ext cx="6199056" cy="2336118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6909048" y="3754722"/>
            <a:ext cx="3555826" cy="3254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Sexual dimorphism shows extensive interspecific variation</a:t>
            </a:r>
          </a:p>
          <a:p>
            <a:pPr algn="just"/>
            <a:endParaRPr lang="en-GB" sz="2283" dirty="0">
              <a:latin typeface="+mj-lt"/>
            </a:endParaRPr>
          </a:p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The evolution of sexual dimorphism is likely multifactorial, but the role of evolvability remains unclear</a:t>
            </a:r>
            <a:endParaRPr lang="en-NO" sz="2283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259503" y="8176894"/>
            <a:ext cx="3342255" cy="3605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Low evolvability may slow the pace of evolutionary change</a:t>
            </a:r>
          </a:p>
          <a:p>
            <a:pPr algn="just"/>
            <a:endParaRPr lang="en-GB" sz="2283" dirty="0">
              <a:latin typeface="+mj-lt"/>
            </a:endParaRPr>
          </a:p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High evolvability may promote greater morphological diversification and faster evolutionary change </a:t>
            </a:r>
            <a:endParaRPr lang="en-NO" sz="2283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328621" y="16423472"/>
            <a:ext cx="4335815" cy="5362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50 species from two simian clades: </a:t>
            </a:r>
            <a:r>
              <a:rPr lang="en-GB" sz="2283" dirty="0" err="1">
                <a:latin typeface="+mj-lt"/>
              </a:rPr>
              <a:t>Platyrrhini</a:t>
            </a:r>
            <a:r>
              <a:rPr lang="en-GB" sz="2283" dirty="0">
                <a:latin typeface="+mj-lt"/>
              </a:rPr>
              <a:t> and </a:t>
            </a:r>
            <a:r>
              <a:rPr lang="en-GB" sz="2283" dirty="0" err="1">
                <a:latin typeface="+mj-lt"/>
              </a:rPr>
              <a:t>Catarrhini</a:t>
            </a:r>
            <a:endParaRPr lang="en-GB" sz="2283" dirty="0">
              <a:latin typeface="+mj-lt"/>
            </a:endParaRPr>
          </a:p>
          <a:p>
            <a:pPr marL="317440" indent="-317440" algn="just">
              <a:buFont typeface="Arial" panose="020B0604020202020204" pitchFamily="34" charset="0"/>
              <a:buChar char="•"/>
            </a:pPr>
            <a:endParaRPr lang="en-GB" sz="2283" dirty="0">
              <a:latin typeface="+mj-lt"/>
            </a:endParaRPr>
          </a:p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38 linear cranial measurements collected from simian skulls</a:t>
            </a:r>
          </a:p>
          <a:p>
            <a:pPr marL="317440" indent="-317440" algn="just">
              <a:buFont typeface="Arial" panose="020B0604020202020204" pitchFamily="34" charset="0"/>
              <a:buChar char="•"/>
            </a:pPr>
            <a:endParaRPr lang="en-GB" sz="2283" dirty="0">
              <a:latin typeface="+mj-lt"/>
            </a:endParaRPr>
          </a:p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~ 5.416 simian skulls measured</a:t>
            </a:r>
          </a:p>
          <a:p>
            <a:pPr algn="just"/>
            <a:endParaRPr lang="en-GB" sz="2283" dirty="0">
              <a:latin typeface="+mj-lt"/>
            </a:endParaRPr>
          </a:p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b="1" dirty="0">
                <a:latin typeface="+mj-lt"/>
              </a:rPr>
              <a:t>P </a:t>
            </a:r>
            <a:r>
              <a:rPr lang="en-GB" sz="2283" dirty="0">
                <a:latin typeface="+mj-lt"/>
              </a:rPr>
              <a:t>matrices estimated for each species</a:t>
            </a:r>
          </a:p>
          <a:p>
            <a:pPr marL="317440" indent="-317440" algn="just">
              <a:buFont typeface="Arial" panose="020B0604020202020204" pitchFamily="34" charset="0"/>
              <a:buChar char="•"/>
            </a:pPr>
            <a:endParaRPr lang="en-GB" sz="2283" dirty="0">
              <a:latin typeface="+mj-lt"/>
            </a:endParaRPr>
          </a:p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Sexual dimorphism was measured as the </a:t>
            </a:r>
            <a:r>
              <a:rPr lang="en-GB" sz="2283" b="1" dirty="0">
                <a:latin typeface="+mj-lt"/>
              </a:rPr>
              <a:t>norm</a:t>
            </a:r>
            <a:r>
              <a:rPr lang="en-GB" sz="2283" dirty="0">
                <a:latin typeface="+mj-lt"/>
              </a:rPr>
              <a:t> of the vector difference between males and females</a:t>
            </a:r>
            <a:endParaRPr lang="en-NO" sz="2283" dirty="0">
              <a:latin typeface="+mj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18115772" y="9008538"/>
            <a:ext cx="2773298" cy="14975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Greater sexual dimorphism is associated with higher evolvability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17240525" y="21077067"/>
            <a:ext cx="3296942" cy="2902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No relationship was found between evolvability and constraint</a:t>
            </a:r>
          </a:p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Removing </a:t>
            </a:r>
            <a:r>
              <a:rPr lang="en-GB" sz="2283" b="1" dirty="0">
                <a:latin typeface="+mj-lt"/>
              </a:rPr>
              <a:t>P</a:t>
            </a:r>
            <a:r>
              <a:rPr lang="en-GB" sz="2283" b="1" baseline="-25000" dirty="0">
                <a:latin typeface="+mj-lt"/>
              </a:rPr>
              <a:t>max</a:t>
            </a:r>
            <a:r>
              <a:rPr lang="en-GB" sz="2283" dirty="0">
                <a:latin typeface="+mj-lt"/>
              </a:rPr>
              <a:t> results in constraint values close to the theoretical maximum (1)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0725996" y="12384059"/>
            <a:ext cx="3807377" cy="1848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7440" indent="-317440" algn="just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17496110" y="15726890"/>
            <a:ext cx="3619213" cy="11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7440" indent="-317440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Excluding </a:t>
            </a:r>
            <a:r>
              <a:rPr lang="en-GB" sz="2283" b="1" dirty="0">
                <a:latin typeface="+mj-lt"/>
              </a:rPr>
              <a:t>P</a:t>
            </a:r>
            <a:r>
              <a:rPr lang="en-GB" sz="2283" b="1" baseline="-25000" dirty="0">
                <a:latin typeface="+mj-lt"/>
              </a:rPr>
              <a:t>max</a:t>
            </a:r>
            <a:r>
              <a:rPr lang="en-GB" sz="2283" dirty="0">
                <a:latin typeface="+mj-lt"/>
              </a:rPr>
              <a:t> changes the relationship, making it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l="18084" t="19321" r="8955" b="13901"/>
          <a:stretch/>
        </p:blipFill>
        <p:spPr>
          <a:xfrm>
            <a:off x="7720876" y="19925260"/>
            <a:ext cx="2290409" cy="1295810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521668" y="22776254"/>
            <a:ext cx="4935523" cy="3563642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2870368" y="2884540"/>
            <a:ext cx="5882981" cy="52524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3111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2871212" y="7434013"/>
            <a:ext cx="5948608" cy="52524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3111" b="1" dirty="0">
                <a:solidFill>
                  <a:schemeClr val="tx1"/>
                </a:solidFill>
                <a:latin typeface="+mj-lt"/>
              </a:rPr>
              <a:t>Evolvability and Modularity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2966715" y="11675611"/>
            <a:ext cx="5909027" cy="52524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3111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2954068" y="15509839"/>
            <a:ext cx="5948608" cy="52524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3111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2930061" y="21794190"/>
            <a:ext cx="5895079" cy="52524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3111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3037683" y="7692773"/>
            <a:ext cx="5943195" cy="52524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3111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2730911" y="24324638"/>
            <a:ext cx="5948608" cy="52524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3111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3111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2456229" y="27941159"/>
                <a:ext cx="6043706" cy="7659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222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constraint</m:t>
                          </m:r>
                        </m:e>
                        <m:sub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2222">
                          <a:latin typeface="Cambria Math" panose="02040503050406030204" pitchFamily="18" charset="0"/>
                        </a:rPr>
                        <m:t>=1 − </m:t>
                      </m:r>
                      <m:f>
                        <m:fPr>
                          <m:ctrlPr>
                            <a:rPr lang="nb-NO" sz="2222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conditional</m:t>
                          </m:r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NO" sz="2222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b-NO" sz="2222">
                                  <a:latin typeface="Cambria Math" panose="02040503050406030204" pitchFamily="18" charset="0"/>
                                </a:rPr>
                                <m:t>evolvability</m:t>
                              </m:r>
                            </m:e>
                            <m:sub>
                              <m:r>
                                <a:rPr lang="nb-NO" sz="2222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nb-NO" sz="2222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  <m:r>
                                <a:rPr lang="nb-NO" sz="2222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O" sz="2222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b-NO" sz="2222">
                                  <a:latin typeface="Cambria Math" panose="02040503050406030204" pitchFamily="18" charset="0"/>
                                </a:rPr>
                                <m:t>evolvability</m:t>
                              </m:r>
                            </m:e>
                            <m:sub>
                              <m:r>
                                <a:rPr lang="nb-NO" sz="2222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nb-NO" sz="2222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  <m:r>
                                <a:rPr lang="nb-NO" sz="2222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NO" sz="2222" dirty="0">
                  <a:latin typeface="+mj-lt"/>
                </a:endParaRPr>
              </a:p>
            </p:txBody>
          </p:sp>
        </mc:Choice>
        <mc:Fallback xmlns="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6229" y="27941159"/>
                <a:ext cx="6043706" cy="765915"/>
              </a:xfrm>
              <a:prstGeom prst="rect">
                <a:avLst/>
              </a:prstGeom>
              <a:blipFill>
                <a:blip r:embed="rId23"/>
                <a:stretch>
                  <a:fillRect l="-629" t="-6557" r="-419" b="-11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9449" y="-19503"/>
            <a:ext cx="1372540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666" dirty="0">
                <a:latin typeface="+mj-lt"/>
              </a:rPr>
              <a:t>P265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4203343" y="26903581"/>
                <a:ext cx="7429050" cy="6419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2222">
                          <a:latin typeface="Cambria Math" panose="02040503050406030204" pitchFamily="18" charset="0"/>
                        </a:rPr>
                        <m:t>conditional</m:t>
                      </m:r>
                      <m:r>
                        <a:rPr lang="nb-NO" sz="2222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NO" sz="2222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evolvability</m:t>
                          </m:r>
                        </m:e>
                        <m:sub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2222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2222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2222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2222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2222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2222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2222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2222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2222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2222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2222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3343" y="26903581"/>
                <a:ext cx="7429050" cy="641907"/>
              </a:xfrm>
              <a:prstGeom prst="rect">
                <a:avLst/>
              </a:prstGeom>
              <a:blipFill>
                <a:blip r:embed="rId24"/>
                <a:stretch>
                  <a:fillRect t="-1923" b="-115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16470" y="22541480"/>
            <a:ext cx="4752025" cy="41359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>
            <a:cxnSpLocks/>
          </p:cNvCxnSpPr>
          <p:nvPr/>
        </p:nvCxnSpPr>
        <p:spPr>
          <a:xfrm>
            <a:off x="9383699" y="20095595"/>
            <a:ext cx="0" cy="1110916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2766283" y="11020074"/>
            <a:ext cx="3536096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Sexual Dimorphism (norm)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10242587" y="9289539"/>
            <a:ext cx="2038507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Evolvability</a:t>
            </a:r>
            <a:r>
              <a:rPr lang="en-NO" sz="2283" b="1" baseline="-25000" dirty="0">
                <a:latin typeface="+mj-lt"/>
              </a:rPr>
              <a:t> (SD)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3320000" y="23119844"/>
            <a:ext cx="1873526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Constraint</a:t>
            </a:r>
            <a:r>
              <a:rPr lang="en-NO" sz="2283" b="1" baseline="-25000" dirty="0">
                <a:latin typeface="+mj-lt"/>
              </a:rPr>
              <a:t>(SD)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14176024" y="12976740"/>
            <a:ext cx="2038507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Evolvability</a:t>
            </a:r>
            <a:r>
              <a:rPr lang="en-NO" sz="2283" b="1" baseline="-25000" dirty="0">
                <a:latin typeface="+mj-lt"/>
              </a:rPr>
              <a:t> (SD)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16893546" y="14558577"/>
            <a:ext cx="3536096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Sexual Dimorphism (norm)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17680544" y="11631766"/>
            <a:ext cx="1826206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83" b="1" dirty="0">
                <a:latin typeface="+mj-lt"/>
              </a:rPr>
              <a:t>S</a:t>
            </a:r>
            <a:r>
              <a:rPr lang="en-NO" sz="2283" b="1" dirty="0">
                <a:latin typeface="+mj-lt"/>
              </a:rPr>
              <a:t>igma values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2670816" y="17201091"/>
            <a:ext cx="3536096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Sexual Dimorphism (norm)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0327443" y="15228799"/>
            <a:ext cx="2075376" cy="7949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Evolvability</a:t>
            </a:r>
            <a:r>
              <a:rPr lang="en-NO" sz="2283" b="1" baseline="-25000" dirty="0">
                <a:latin typeface="+mj-lt"/>
              </a:rPr>
              <a:t> (SD) </a:t>
            </a:r>
          </a:p>
          <a:p>
            <a:r>
              <a:rPr lang="en-NO" sz="2283" b="1" dirty="0">
                <a:latin typeface="+mj-lt"/>
              </a:rPr>
              <a:t>outside P</a:t>
            </a:r>
            <a:r>
              <a:rPr lang="en-NO" sz="2283" b="1" baseline="-25000" dirty="0">
                <a:latin typeface="+mj-lt"/>
              </a:rPr>
              <a:t>max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8251145" y="1462483"/>
            <a:ext cx="4616648" cy="13669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2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20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2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20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2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20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2000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sz="2283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11021082" y="25169333"/>
            <a:ext cx="9573812" cy="3169907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317440" indent="-317440">
              <a:buFont typeface="Arial" panose="020B0604020202020204" pitchFamily="34" charset="0"/>
              <a:buChar char="•"/>
            </a:pPr>
            <a:r>
              <a:rPr lang="en-GB" sz="2222" dirty="0">
                <a:latin typeface="+mj-lt"/>
              </a:rPr>
              <a:t>Sexual dimorphism tends to evolve along highly evolvable directions</a:t>
            </a:r>
          </a:p>
          <a:p>
            <a:pPr marL="317440" indent="-317440">
              <a:buFont typeface="Arial" panose="020B0604020202020204" pitchFamily="34" charset="0"/>
              <a:buChar char="•"/>
            </a:pPr>
            <a:r>
              <a:rPr lang="en-GB" sz="2222" dirty="0">
                <a:latin typeface="+mj-lt"/>
              </a:rPr>
              <a:t>Constraint alone does not influence evolvability among species</a:t>
            </a:r>
          </a:p>
          <a:p>
            <a:pPr marL="317440" indent="-317440">
              <a:buFont typeface="Arial" panose="020B0604020202020204" pitchFamily="34" charset="0"/>
              <a:buChar char="•"/>
            </a:pPr>
            <a:r>
              <a:rPr lang="en-GB" sz="2222" dirty="0">
                <a:latin typeface="+mj-lt"/>
              </a:rPr>
              <a:t>Measurement error is important but does not substantially alter the observed patterns</a:t>
            </a:r>
          </a:p>
          <a:p>
            <a:pPr marL="317440" indent="-317440">
              <a:buFont typeface="Arial" panose="020B0604020202020204" pitchFamily="34" charset="0"/>
              <a:buChar char="•"/>
            </a:pPr>
            <a:endParaRPr lang="en-GB" sz="2222" dirty="0">
              <a:latin typeface="+mj-lt"/>
            </a:endParaRPr>
          </a:p>
          <a:p>
            <a:pPr marL="317440" indent="-317440">
              <a:buFont typeface="Arial" panose="020B0604020202020204" pitchFamily="34" charset="0"/>
              <a:buChar char="•"/>
            </a:pPr>
            <a:r>
              <a:rPr lang="en-GB" sz="2222" dirty="0">
                <a:latin typeface="+mj-lt"/>
              </a:rPr>
              <a:t>Identify additional predictors of evolvability in the direction of sexual dimorphism.</a:t>
            </a:r>
          </a:p>
          <a:p>
            <a:pPr marL="317440" indent="-317440">
              <a:buFont typeface="Arial" panose="020B0604020202020204" pitchFamily="34" charset="0"/>
              <a:buChar char="•"/>
            </a:pPr>
            <a:r>
              <a:rPr lang="en-GB" sz="2222" dirty="0">
                <a:latin typeface="+mj-lt"/>
              </a:rPr>
              <a:t>Test whether these patterns are phylogenetically widespread </a:t>
            </a:r>
          </a:p>
          <a:p>
            <a:pPr marL="317440" indent="-317440">
              <a:buFont typeface="Arial" panose="020B0604020202020204" pitchFamily="34" charset="0"/>
              <a:buChar char="•"/>
            </a:pPr>
            <a:r>
              <a:rPr lang="en-GB" sz="2222" dirty="0">
                <a:latin typeface="+mj-lt"/>
              </a:rPr>
              <a:t>Examine the consequences of removing </a:t>
            </a:r>
            <a:r>
              <a:rPr lang="en-GB" sz="2222" b="1" dirty="0">
                <a:latin typeface="+mj-lt"/>
              </a:rPr>
              <a:t>Pmax</a:t>
            </a:r>
            <a:r>
              <a:rPr lang="en-GB" sz="2222" dirty="0">
                <a:latin typeface="+mj-lt"/>
              </a:rPr>
              <a:t> on evolvability estimates.</a:t>
            </a:r>
            <a:endParaRPr lang="en-NO" sz="2222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633226" y="1417251"/>
            <a:ext cx="894527" cy="894527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A33078A-FF5C-010A-BAC4-EF32B9723129}"/>
              </a:ext>
            </a:extLst>
          </p:cNvPr>
          <p:cNvCxnSpPr>
            <a:cxnSpLocks/>
          </p:cNvCxnSpPr>
          <p:nvPr/>
        </p:nvCxnSpPr>
        <p:spPr>
          <a:xfrm>
            <a:off x="9974396" y="20117303"/>
            <a:ext cx="0" cy="1110916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" name="Picture 19" descr="A graph showing a graph of a bear and a rhinoceros&#10;&#10;Description automatically generated">
            <a:extLst>
              <a:ext uri="{FF2B5EF4-FFF2-40B4-BE49-F238E27FC236}">
                <a16:creationId xmlns:a16="http://schemas.microsoft.com/office/drawing/2014/main" id="{6FB0F683-66A7-F080-AD2E-B4F0DF5CFE42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88415" y="12461889"/>
            <a:ext cx="4686440" cy="2786060"/>
          </a:xfrm>
          <a:prstGeom prst="rect">
            <a:avLst/>
          </a:prstGeom>
        </p:spPr>
      </p:pic>
      <p:pic>
        <p:nvPicPr>
          <p:cNvPr id="13" name="Picture 12" descr="A graph of a graph showing the difference between high integration and high integration&#10;&#10;Description automatically generated">
            <a:extLst>
              <a:ext uri="{FF2B5EF4-FFF2-40B4-BE49-F238E27FC236}">
                <a16:creationId xmlns:a16="http://schemas.microsoft.com/office/drawing/2014/main" id="{1FE259EC-9DE3-53E0-8A1C-61BCDE1F2A35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59011" y="12471018"/>
            <a:ext cx="5078704" cy="267487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16B1D5-299C-5417-D5AF-2AEFA34B4462}"/>
              </a:ext>
            </a:extLst>
          </p:cNvPr>
          <p:cNvSpPr txBox="1"/>
          <p:nvPr/>
        </p:nvSpPr>
        <p:spPr>
          <a:xfrm rot="16200000">
            <a:off x="10277753" y="21606852"/>
            <a:ext cx="2075376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Evolvability</a:t>
            </a:r>
            <a:r>
              <a:rPr lang="en-NO" sz="2283" b="1" baseline="-25000" dirty="0">
                <a:latin typeface="+mj-lt"/>
              </a:rPr>
              <a:t> (SD) </a:t>
            </a:r>
          </a:p>
        </p:txBody>
      </p:sp>
      <p:pic>
        <p:nvPicPr>
          <p:cNvPr id="44" name="Picture 43" descr="A graph of a number of dots&#10;&#10;Description automatically generated">
            <a:extLst>
              <a:ext uri="{FF2B5EF4-FFF2-40B4-BE49-F238E27FC236}">
                <a16:creationId xmlns:a16="http://schemas.microsoft.com/office/drawing/2014/main" id="{0147F0B5-EF5E-9980-9114-6E846DBD1BC8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086" b="7101"/>
          <a:stretch/>
        </p:blipFill>
        <p:spPr>
          <a:xfrm>
            <a:off x="15609025" y="18243265"/>
            <a:ext cx="5064893" cy="2124084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A6589F92-2C6A-3F19-3A2A-792733A8ABB1}"/>
              </a:ext>
            </a:extLst>
          </p:cNvPr>
          <p:cNvSpPr txBox="1"/>
          <p:nvPr/>
        </p:nvSpPr>
        <p:spPr>
          <a:xfrm>
            <a:off x="16930651" y="20407243"/>
            <a:ext cx="3536096" cy="443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283" b="1" dirty="0">
                <a:latin typeface="+mj-lt"/>
              </a:rPr>
              <a:t>Sexual Dimorphism (norm)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A7A565-CEFC-5428-F30E-DEC85A4CEFF6}"/>
              </a:ext>
            </a:extLst>
          </p:cNvPr>
          <p:cNvSpPr txBox="1"/>
          <p:nvPr/>
        </p:nvSpPr>
        <p:spPr>
          <a:xfrm rot="16200000">
            <a:off x="14127083" y="18597918"/>
            <a:ext cx="2075375" cy="11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O" sz="2283" b="1" dirty="0">
                <a:latin typeface="+mj-lt"/>
              </a:rPr>
              <a:t>Conditional </a:t>
            </a:r>
          </a:p>
          <a:p>
            <a:pPr algn="ctr"/>
            <a:r>
              <a:rPr lang="en-NO" sz="2283" b="1" dirty="0">
                <a:latin typeface="+mj-lt"/>
              </a:rPr>
              <a:t>Evolvability</a:t>
            </a:r>
            <a:r>
              <a:rPr lang="en-NO" sz="2283" b="1" baseline="-25000" dirty="0">
                <a:latin typeface="+mj-lt"/>
              </a:rPr>
              <a:t> (SD) </a:t>
            </a:r>
          </a:p>
          <a:p>
            <a:pPr algn="ctr"/>
            <a:r>
              <a:rPr lang="en-NO" sz="2283" b="1" dirty="0">
                <a:latin typeface="+mj-lt"/>
              </a:rPr>
              <a:t>outside P</a:t>
            </a:r>
            <a:r>
              <a:rPr lang="en-NO" sz="2283" b="1" baseline="-25000" dirty="0">
                <a:latin typeface="+mj-lt"/>
              </a:rPr>
              <a:t>max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BFE4C2-93EC-3B20-E61A-CCD00BDBDA1F}"/>
              </a:ext>
            </a:extLst>
          </p:cNvPr>
          <p:cNvSpPr txBox="1"/>
          <p:nvPr/>
        </p:nvSpPr>
        <p:spPr>
          <a:xfrm>
            <a:off x="10765306" y="18268044"/>
            <a:ext cx="3619213" cy="14975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7440" indent="-317440">
              <a:buFont typeface="Arial" panose="020B0604020202020204" pitchFamily="34" charset="0"/>
              <a:buChar char="•"/>
            </a:pPr>
            <a:r>
              <a:rPr lang="en-GB" sz="2283" dirty="0">
                <a:latin typeface="+mj-lt"/>
              </a:rPr>
              <a:t>Conditional evolvability of sexual dimorphism drops to practically zero after controlling for </a:t>
            </a:r>
            <a:r>
              <a:rPr lang="en-GB" sz="2283" b="1" dirty="0">
                <a:latin typeface="+mj-lt"/>
              </a:rPr>
              <a:t>P</a:t>
            </a:r>
            <a:r>
              <a:rPr lang="en-GB" sz="2283" b="1" baseline="-25000" dirty="0">
                <a:latin typeface="+mj-lt"/>
              </a:rPr>
              <a:t>max</a:t>
            </a:r>
            <a:endParaRPr lang="en-GB" sz="2283" dirty="0">
              <a:latin typeface="+mj-lt"/>
            </a:endParaRPr>
          </a:p>
        </p:txBody>
      </p:sp>
      <p:pic>
        <p:nvPicPr>
          <p:cNvPr id="53" name="Picture 52" descr="A graph of black dots and blue line&#10;&#10;Description automatically generated">
            <a:extLst>
              <a:ext uri="{FF2B5EF4-FFF2-40B4-BE49-F238E27FC236}">
                <a16:creationId xmlns:a16="http://schemas.microsoft.com/office/drawing/2014/main" id="{892EABBD-82CF-B9DF-462F-0604B053F6A8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l="3073" b="6764"/>
          <a:stretch/>
        </p:blipFill>
        <p:spPr>
          <a:xfrm>
            <a:off x="17982212" y="17812975"/>
            <a:ext cx="2974161" cy="1251636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272F805-AF24-1409-ADC1-E1FD6A003932}"/>
              </a:ext>
            </a:extLst>
          </p:cNvPr>
          <p:cNvSpPr txBox="1"/>
          <p:nvPr/>
        </p:nvSpPr>
        <p:spPr>
          <a:xfrm>
            <a:off x="18244997" y="18972419"/>
            <a:ext cx="2495540" cy="331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1555" b="1" dirty="0">
                <a:latin typeface="+mj-lt"/>
              </a:rPr>
              <a:t>Sexual Dimorphism (norm)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07169-2AD7-48D6-BF9F-E6EA532B8B54}"/>
              </a:ext>
            </a:extLst>
          </p:cNvPr>
          <p:cNvSpPr txBox="1"/>
          <p:nvPr/>
        </p:nvSpPr>
        <p:spPr>
          <a:xfrm rot="16200000">
            <a:off x="16982086" y="18082821"/>
            <a:ext cx="1470787" cy="5709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O" sz="1555" b="1" dirty="0">
                <a:latin typeface="+mj-lt"/>
              </a:rPr>
              <a:t>Conditional </a:t>
            </a:r>
          </a:p>
          <a:p>
            <a:pPr algn="ctr"/>
            <a:r>
              <a:rPr lang="en-NO" sz="1555" b="1" dirty="0">
                <a:latin typeface="+mj-lt"/>
              </a:rPr>
              <a:t>Evolvability</a:t>
            </a:r>
            <a:r>
              <a:rPr lang="en-NO" sz="1555" b="1" baseline="-25000" dirty="0">
                <a:latin typeface="+mj-lt"/>
              </a:rPr>
              <a:t> (SD) </a:t>
            </a:r>
          </a:p>
        </p:txBody>
      </p:sp>
      <p:pic>
        <p:nvPicPr>
          <p:cNvPr id="1024" name="Picture 1023" descr="A graph of a graph showing the difference between a certain index and a certain index&#10;&#10;Description automatically generated with medium confidence">
            <a:extLst>
              <a:ext uri="{FF2B5EF4-FFF2-40B4-BE49-F238E27FC236}">
                <a16:creationId xmlns:a16="http://schemas.microsoft.com/office/drawing/2014/main" id="{608427C8-E821-CE58-B636-FE7137B19706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 l="3262" t="9235" b="8553"/>
          <a:stretch/>
        </p:blipFill>
        <p:spPr>
          <a:xfrm>
            <a:off x="11554702" y="20949469"/>
            <a:ext cx="5064893" cy="218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7646</TotalTime>
  <Words>358</Words>
  <Application>Microsoft Macintosh PowerPoint</Application>
  <PresentationFormat>Custom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222</cp:revision>
  <dcterms:created xsi:type="dcterms:W3CDTF">2026-05-18T08:52:12Z</dcterms:created>
  <dcterms:modified xsi:type="dcterms:W3CDTF">2026-06-04T09:15:46Z</dcterms:modified>
</cp:coreProperties>
</file>