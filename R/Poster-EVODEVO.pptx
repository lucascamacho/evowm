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08" r:id="rId1"/>
  </p:sldMasterIdLst>
  <p:notesMasterIdLst>
    <p:notesMasterId r:id="rId3"/>
  </p:notesMasterIdLst>
  <p:sldIdLst>
    <p:sldId id="256" r:id="rId2"/>
  </p:sldIdLst>
  <p:sldSz cx="30240288" cy="4247991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4CA22D"/>
    <a:srgbClr val="84E29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vertBarState="minimized">
    <p:restoredLeft sz="5854"/>
    <p:restoredTop sz="94648"/>
  </p:normalViewPr>
  <p:slideViewPr>
    <p:cSldViewPr snapToGrid="0">
      <p:cViewPr>
        <p:scale>
          <a:sx n="72" d="100"/>
          <a:sy n="72" d="100"/>
        </p:scale>
        <p:origin x="176" y="2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NO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9BE91DE-0533-6F41-AE75-D5FC9CC3F2AF}" type="datetimeFigureOut">
              <a:rPr lang="en-NO" smtClean="0"/>
              <a:t>04/06/2026</a:t>
            </a:fld>
            <a:endParaRPr lang="en-NO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332038" y="1143000"/>
            <a:ext cx="219392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NO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NO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NO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34BB365-FF71-1A43-B719-377EB4D56167}" type="slidenum">
              <a:rPr lang="en-NO" smtClean="0"/>
              <a:t>‹#›</a:t>
            </a:fld>
            <a:endParaRPr lang="en-NO"/>
          </a:p>
        </p:txBody>
      </p:sp>
    </p:spTree>
    <p:extLst>
      <p:ext uri="{BB962C8B-B14F-4D97-AF65-F5344CB8AC3E}">
        <p14:creationId xmlns:p14="http://schemas.microsoft.com/office/powerpoint/2010/main" val="100168992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1469340" rtl="0" eaLnBrk="1" latinLnBrk="0" hangingPunct="1">
      <a:defRPr sz="1929" kern="1200">
        <a:solidFill>
          <a:schemeClr val="tx1"/>
        </a:solidFill>
        <a:latin typeface="+mn-lt"/>
        <a:ea typeface="+mn-ea"/>
        <a:cs typeface="+mn-cs"/>
      </a:defRPr>
    </a:lvl1pPr>
    <a:lvl2pPr marL="734670" algn="l" defTabSz="1469340" rtl="0" eaLnBrk="1" latinLnBrk="0" hangingPunct="1">
      <a:defRPr sz="1929" kern="1200">
        <a:solidFill>
          <a:schemeClr val="tx1"/>
        </a:solidFill>
        <a:latin typeface="+mn-lt"/>
        <a:ea typeface="+mn-ea"/>
        <a:cs typeface="+mn-cs"/>
      </a:defRPr>
    </a:lvl2pPr>
    <a:lvl3pPr marL="1469340" algn="l" defTabSz="1469340" rtl="0" eaLnBrk="1" latinLnBrk="0" hangingPunct="1">
      <a:defRPr sz="1929" kern="1200">
        <a:solidFill>
          <a:schemeClr val="tx1"/>
        </a:solidFill>
        <a:latin typeface="+mn-lt"/>
        <a:ea typeface="+mn-ea"/>
        <a:cs typeface="+mn-cs"/>
      </a:defRPr>
    </a:lvl3pPr>
    <a:lvl4pPr marL="2204009" algn="l" defTabSz="1469340" rtl="0" eaLnBrk="1" latinLnBrk="0" hangingPunct="1">
      <a:defRPr sz="1929" kern="1200">
        <a:solidFill>
          <a:schemeClr val="tx1"/>
        </a:solidFill>
        <a:latin typeface="+mn-lt"/>
        <a:ea typeface="+mn-ea"/>
        <a:cs typeface="+mn-cs"/>
      </a:defRPr>
    </a:lvl4pPr>
    <a:lvl5pPr marL="2938679" algn="l" defTabSz="1469340" rtl="0" eaLnBrk="1" latinLnBrk="0" hangingPunct="1">
      <a:defRPr sz="1929" kern="1200">
        <a:solidFill>
          <a:schemeClr val="tx1"/>
        </a:solidFill>
        <a:latin typeface="+mn-lt"/>
        <a:ea typeface="+mn-ea"/>
        <a:cs typeface="+mn-cs"/>
      </a:defRPr>
    </a:lvl5pPr>
    <a:lvl6pPr marL="3673350" algn="l" defTabSz="1469340" rtl="0" eaLnBrk="1" latinLnBrk="0" hangingPunct="1">
      <a:defRPr sz="1929" kern="1200">
        <a:solidFill>
          <a:schemeClr val="tx1"/>
        </a:solidFill>
        <a:latin typeface="+mn-lt"/>
        <a:ea typeface="+mn-ea"/>
        <a:cs typeface="+mn-cs"/>
      </a:defRPr>
    </a:lvl6pPr>
    <a:lvl7pPr marL="4408020" algn="l" defTabSz="1469340" rtl="0" eaLnBrk="1" latinLnBrk="0" hangingPunct="1">
      <a:defRPr sz="1929" kern="1200">
        <a:solidFill>
          <a:schemeClr val="tx1"/>
        </a:solidFill>
        <a:latin typeface="+mn-lt"/>
        <a:ea typeface="+mn-ea"/>
        <a:cs typeface="+mn-cs"/>
      </a:defRPr>
    </a:lvl7pPr>
    <a:lvl8pPr marL="5142690" algn="l" defTabSz="1469340" rtl="0" eaLnBrk="1" latinLnBrk="0" hangingPunct="1">
      <a:defRPr sz="1929" kern="1200">
        <a:solidFill>
          <a:schemeClr val="tx1"/>
        </a:solidFill>
        <a:latin typeface="+mn-lt"/>
        <a:ea typeface="+mn-ea"/>
        <a:cs typeface="+mn-cs"/>
      </a:defRPr>
    </a:lvl8pPr>
    <a:lvl9pPr marL="5877359" algn="l" defTabSz="1469340" rtl="0" eaLnBrk="1" latinLnBrk="0" hangingPunct="1">
      <a:defRPr sz="1929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332038" y="1143000"/>
            <a:ext cx="2193925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O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4BB365-FF71-1A43-B719-377EB4D56167}" type="slidenum">
              <a:rPr lang="en-NO" smtClean="0"/>
              <a:t>1</a:t>
            </a:fld>
            <a:endParaRPr lang="en-NO"/>
          </a:p>
        </p:txBody>
      </p:sp>
    </p:spTree>
    <p:extLst>
      <p:ext uri="{BB962C8B-B14F-4D97-AF65-F5344CB8AC3E}">
        <p14:creationId xmlns:p14="http://schemas.microsoft.com/office/powerpoint/2010/main" val="299657846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268022" y="6952156"/>
            <a:ext cx="25704245" cy="14789303"/>
          </a:xfrm>
        </p:spPr>
        <p:txBody>
          <a:bodyPr anchor="b"/>
          <a:lstStyle>
            <a:lvl1pPr algn="ctr">
              <a:defRPr sz="19843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780036" y="22311791"/>
            <a:ext cx="22680216" cy="10256143"/>
          </a:xfrm>
        </p:spPr>
        <p:txBody>
          <a:bodyPr/>
          <a:lstStyle>
            <a:lvl1pPr marL="0" indent="0" algn="ctr">
              <a:buNone/>
              <a:defRPr sz="7937"/>
            </a:lvl1pPr>
            <a:lvl2pPr marL="1512006" indent="0" algn="ctr">
              <a:buNone/>
              <a:defRPr sz="6614"/>
            </a:lvl2pPr>
            <a:lvl3pPr marL="3024012" indent="0" algn="ctr">
              <a:buNone/>
              <a:defRPr sz="5953"/>
            </a:lvl3pPr>
            <a:lvl4pPr marL="4536018" indent="0" algn="ctr">
              <a:buNone/>
              <a:defRPr sz="5291"/>
            </a:lvl4pPr>
            <a:lvl5pPr marL="6048024" indent="0" algn="ctr">
              <a:buNone/>
              <a:defRPr sz="5291"/>
            </a:lvl5pPr>
            <a:lvl6pPr marL="7560031" indent="0" algn="ctr">
              <a:buNone/>
              <a:defRPr sz="5291"/>
            </a:lvl6pPr>
            <a:lvl7pPr marL="9072037" indent="0" algn="ctr">
              <a:buNone/>
              <a:defRPr sz="5291"/>
            </a:lvl7pPr>
            <a:lvl8pPr marL="10584043" indent="0" algn="ctr">
              <a:buNone/>
              <a:defRPr sz="5291"/>
            </a:lvl8pPr>
            <a:lvl9pPr marL="12096049" indent="0" algn="ctr">
              <a:buNone/>
              <a:defRPr sz="5291"/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1CA32F-3B16-A94D-8B63-DB7C7F7FAD13}" type="datetimeFigureOut">
              <a:rPr lang="en-NO" smtClean="0"/>
              <a:t>04/06/2026</a:t>
            </a:fld>
            <a:endParaRPr lang="en-NO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O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6E3458-8B87-924A-9CD1-D8DA2C5C4198}" type="slidenum">
              <a:rPr lang="en-NO" smtClean="0"/>
              <a:t>‹#›</a:t>
            </a:fld>
            <a:endParaRPr lang="en-NO"/>
          </a:p>
        </p:txBody>
      </p:sp>
    </p:spTree>
    <p:extLst>
      <p:ext uri="{BB962C8B-B14F-4D97-AF65-F5344CB8AC3E}">
        <p14:creationId xmlns:p14="http://schemas.microsoft.com/office/powerpoint/2010/main" val="101752944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1CA32F-3B16-A94D-8B63-DB7C7F7FAD13}" type="datetimeFigureOut">
              <a:rPr lang="en-NO" smtClean="0"/>
              <a:t>04/06/2026</a:t>
            </a:fld>
            <a:endParaRPr lang="en-NO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O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6E3458-8B87-924A-9CD1-D8DA2C5C4198}" type="slidenum">
              <a:rPr lang="en-NO" smtClean="0"/>
              <a:t>‹#›</a:t>
            </a:fld>
            <a:endParaRPr lang="en-NO"/>
          </a:p>
        </p:txBody>
      </p:sp>
    </p:spTree>
    <p:extLst>
      <p:ext uri="{BB962C8B-B14F-4D97-AF65-F5344CB8AC3E}">
        <p14:creationId xmlns:p14="http://schemas.microsoft.com/office/powerpoint/2010/main" val="370245399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63272" y="10590491"/>
            <a:ext cx="26082248" cy="17670461"/>
          </a:xfrm>
        </p:spPr>
        <p:txBody>
          <a:bodyPr anchor="b"/>
          <a:lstStyle>
            <a:lvl1pPr>
              <a:defRPr sz="19843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063272" y="28428121"/>
            <a:ext cx="26082248" cy="9292478"/>
          </a:xfrm>
        </p:spPr>
        <p:txBody>
          <a:bodyPr/>
          <a:lstStyle>
            <a:lvl1pPr marL="0" indent="0">
              <a:buNone/>
              <a:defRPr sz="7937">
                <a:solidFill>
                  <a:schemeClr val="tx1">
                    <a:tint val="82000"/>
                  </a:schemeClr>
                </a:solidFill>
              </a:defRPr>
            </a:lvl1pPr>
            <a:lvl2pPr marL="1512006" indent="0">
              <a:buNone/>
              <a:defRPr sz="6614">
                <a:solidFill>
                  <a:schemeClr val="tx1">
                    <a:tint val="82000"/>
                  </a:schemeClr>
                </a:solidFill>
              </a:defRPr>
            </a:lvl2pPr>
            <a:lvl3pPr marL="3024012" indent="0">
              <a:buNone/>
              <a:defRPr sz="5953">
                <a:solidFill>
                  <a:schemeClr val="tx1">
                    <a:tint val="82000"/>
                  </a:schemeClr>
                </a:solidFill>
              </a:defRPr>
            </a:lvl3pPr>
            <a:lvl4pPr marL="4536018" indent="0">
              <a:buNone/>
              <a:defRPr sz="5291">
                <a:solidFill>
                  <a:schemeClr val="tx1">
                    <a:tint val="82000"/>
                  </a:schemeClr>
                </a:solidFill>
              </a:defRPr>
            </a:lvl4pPr>
            <a:lvl5pPr marL="6048024" indent="0">
              <a:buNone/>
              <a:defRPr sz="5291">
                <a:solidFill>
                  <a:schemeClr val="tx1">
                    <a:tint val="82000"/>
                  </a:schemeClr>
                </a:solidFill>
              </a:defRPr>
            </a:lvl5pPr>
            <a:lvl6pPr marL="7560031" indent="0">
              <a:buNone/>
              <a:defRPr sz="5291">
                <a:solidFill>
                  <a:schemeClr val="tx1">
                    <a:tint val="82000"/>
                  </a:schemeClr>
                </a:solidFill>
              </a:defRPr>
            </a:lvl6pPr>
            <a:lvl7pPr marL="9072037" indent="0">
              <a:buNone/>
              <a:defRPr sz="5291">
                <a:solidFill>
                  <a:schemeClr val="tx1">
                    <a:tint val="82000"/>
                  </a:schemeClr>
                </a:solidFill>
              </a:defRPr>
            </a:lvl7pPr>
            <a:lvl8pPr marL="10584043" indent="0">
              <a:buNone/>
              <a:defRPr sz="5291">
                <a:solidFill>
                  <a:schemeClr val="tx1">
                    <a:tint val="82000"/>
                  </a:schemeClr>
                </a:solidFill>
              </a:defRPr>
            </a:lvl8pPr>
            <a:lvl9pPr marL="12096049" indent="0">
              <a:buNone/>
              <a:defRPr sz="5291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1CA32F-3B16-A94D-8B63-DB7C7F7FAD13}" type="datetimeFigureOut">
              <a:rPr lang="en-NO" smtClean="0"/>
              <a:t>04/06/2026</a:t>
            </a:fld>
            <a:endParaRPr lang="en-NO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O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6E3458-8B87-924A-9CD1-D8DA2C5C4198}" type="slidenum">
              <a:rPr lang="en-NO" smtClean="0"/>
              <a:t>‹#›</a:t>
            </a:fld>
            <a:endParaRPr lang="en-NO"/>
          </a:p>
        </p:txBody>
      </p:sp>
    </p:spTree>
    <p:extLst>
      <p:ext uri="{BB962C8B-B14F-4D97-AF65-F5344CB8AC3E}">
        <p14:creationId xmlns:p14="http://schemas.microsoft.com/office/powerpoint/2010/main" val="209015114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079020" y="11308310"/>
            <a:ext cx="12852122" cy="26953115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5309146" y="11308310"/>
            <a:ext cx="12852122" cy="26953115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1CA32F-3B16-A94D-8B63-DB7C7F7FAD13}" type="datetimeFigureOut">
              <a:rPr lang="en-NO" smtClean="0"/>
              <a:t>04/06/2026</a:t>
            </a:fld>
            <a:endParaRPr lang="en-NO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O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6E3458-8B87-924A-9CD1-D8DA2C5C4198}" type="slidenum">
              <a:rPr lang="en-NO" smtClean="0"/>
              <a:t>‹#›</a:t>
            </a:fld>
            <a:endParaRPr lang="en-NO"/>
          </a:p>
        </p:txBody>
      </p:sp>
    </p:spTree>
    <p:extLst>
      <p:ext uri="{BB962C8B-B14F-4D97-AF65-F5344CB8AC3E}">
        <p14:creationId xmlns:p14="http://schemas.microsoft.com/office/powerpoint/2010/main" val="17768501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82959" y="2261671"/>
            <a:ext cx="26082248" cy="8210820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082962" y="10413482"/>
            <a:ext cx="12793057" cy="5103486"/>
          </a:xfrm>
        </p:spPr>
        <p:txBody>
          <a:bodyPr anchor="b"/>
          <a:lstStyle>
            <a:lvl1pPr marL="0" indent="0">
              <a:buNone/>
              <a:defRPr sz="7937" b="1"/>
            </a:lvl1pPr>
            <a:lvl2pPr marL="1512006" indent="0">
              <a:buNone/>
              <a:defRPr sz="6614" b="1"/>
            </a:lvl2pPr>
            <a:lvl3pPr marL="3024012" indent="0">
              <a:buNone/>
              <a:defRPr sz="5953" b="1"/>
            </a:lvl3pPr>
            <a:lvl4pPr marL="4536018" indent="0">
              <a:buNone/>
              <a:defRPr sz="5291" b="1"/>
            </a:lvl4pPr>
            <a:lvl5pPr marL="6048024" indent="0">
              <a:buNone/>
              <a:defRPr sz="5291" b="1"/>
            </a:lvl5pPr>
            <a:lvl6pPr marL="7560031" indent="0">
              <a:buNone/>
              <a:defRPr sz="5291" b="1"/>
            </a:lvl6pPr>
            <a:lvl7pPr marL="9072037" indent="0">
              <a:buNone/>
              <a:defRPr sz="5291" b="1"/>
            </a:lvl7pPr>
            <a:lvl8pPr marL="10584043" indent="0">
              <a:buNone/>
              <a:defRPr sz="5291" b="1"/>
            </a:lvl8pPr>
            <a:lvl9pPr marL="12096049" indent="0">
              <a:buNone/>
              <a:defRPr sz="5291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082962" y="15516968"/>
            <a:ext cx="12793057" cy="22823123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5309148" y="10413482"/>
            <a:ext cx="12856061" cy="5103486"/>
          </a:xfrm>
        </p:spPr>
        <p:txBody>
          <a:bodyPr anchor="b"/>
          <a:lstStyle>
            <a:lvl1pPr marL="0" indent="0">
              <a:buNone/>
              <a:defRPr sz="7937" b="1"/>
            </a:lvl1pPr>
            <a:lvl2pPr marL="1512006" indent="0">
              <a:buNone/>
              <a:defRPr sz="6614" b="1"/>
            </a:lvl2pPr>
            <a:lvl3pPr marL="3024012" indent="0">
              <a:buNone/>
              <a:defRPr sz="5953" b="1"/>
            </a:lvl3pPr>
            <a:lvl4pPr marL="4536018" indent="0">
              <a:buNone/>
              <a:defRPr sz="5291" b="1"/>
            </a:lvl4pPr>
            <a:lvl5pPr marL="6048024" indent="0">
              <a:buNone/>
              <a:defRPr sz="5291" b="1"/>
            </a:lvl5pPr>
            <a:lvl6pPr marL="7560031" indent="0">
              <a:buNone/>
              <a:defRPr sz="5291" b="1"/>
            </a:lvl6pPr>
            <a:lvl7pPr marL="9072037" indent="0">
              <a:buNone/>
              <a:defRPr sz="5291" b="1"/>
            </a:lvl7pPr>
            <a:lvl8pPr marL="10584043" indent="0">
              <a:buNone/>
              <a:defRPr sz="5291" b="1"/>
            </a:lvl8pPr>
            <a:lvl9pPr marL="12096049" indent="0">
              <a:buNone/>
              <a:defRPr sz="5291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5309148" y="15516968"/>
            <a:ext cx="12856061" cy="22823123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1CA32F-3B16-A94D-8B63-DB7C7F7FAD13}" type="datetimeFigureOut">
              <a:rPr lang="en-NO" smtClean="0"/>
              <a:t>04/06/2026</a:t>
            </a:fld>
            <a:endParaRPr lang="en-NO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O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6E3458-8B87-924A-9CD1-D8DA2C5C4198}" type="slidenum">
              <a:rPr lang="en-NO" smtClean="0"/>
              <a:t>‹#›</a:t>
            </a:fld>
            <a:endParaRPr lang="en-NO"/>
          </a:p>
        </p:txBody>
      </p:sp>
    </p:spTree>
    <p:extLst>
      <p:ext uri="{BB962C8B-B14F-4D97-AF65-F5344CB8AC3E}">
        <p14:creationId xmlns:p14="http://schemas.microsoft.com/office/powerpoint/2010/main" val="10860842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1CA32F-3B16-A94D-8B63-DB7C7F7FAD13}" type="datetimeFigureOut">
              <a:rPr lang="en-NO" smtClean="0"/>
              <a:t>04/06/2026</a:t>
            </a:fld>
            <a:endParaRPr lang="en-NO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O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6E3458-8B87-924A-9CD1-D8DA2C5C4198}" type="slidenum">
              <a:rPr lang="en-NO" smtClean="0"/>
              <a:t>‹#›</a:t>
            </a:fld>
            <a:endParaRPr lang="en-NO"/>
          </a:p>
        </p:txBody>
      </p:sp>
    </p:spTree>
    <p:extLst>
      <p:ext uri="{BB962C8B-B14F-4D97-AF65-F5344CB8AC3E}">
        <p14:creationId xmlns:p14="http://schemas.microsoft.com/office/powerpoint/2010/main" val="368718538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1CA32F-3B16-A94D-8B63-DB7C7F7FAD13}" type="datetimeFigureOut">
              <a:rPr lang="en-NO" smtClean="0"/>
              <a:t>04/06/2026</a:t>
            </a:fld>
            <a:endParaRPr lang="en-NO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O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6E3458-8B87-924A-9CD1-D8DA2C5C4198}" type="slidenum">
              <a:rPr lang="en-NO" smtClean="0"/>
              <a:t>‹#›</a:t>
            </a:fld>
            <a:endParaRPr lang="en-NO"/>
          </a:p>
        </p:txBody>
      </p:sp>
    </p:spTree>
    <p:extLst>
      <p:ext uri="{BB962C8B-B14F-4D97-AF65-F5344CB8AC3E}">
        <p14:creationId xmlns:p14="http://schemas.microsoft.com/office/powerpoint/2010/main" val="287176160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82959" y="2831994"/>
            <a:ext cx="9753280" cy="9911980"/>
          </a:xfrm>
        </p:spPr>
        <p:txBody>
          <a:bodyPr anchor="b"/>
          <a:lstStyle>
            <a:lvl1pPr>
              <a:defRPr sz="10583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2856061" y="6116330"/>
            <a:ext cx="15309146" cy="30188272"/>
          </a:xfrm>
        </p:spPr>
        <p:txBody>
          <a:bodyPr/>
          <a:lstStyle>
            <a:lvl1pPr>
              <a:defRPr sz="10583"/>
            </a:lvl1pPr>
            <a:lvl2pPr>
              <a:defRPr sz="9260"/>
            </a:lvl2pPr>
            <a:lvl3pPr>
              <a:defRPr sz="7937"/>
            </a:lvl3pPr>
            <a:lvl4pPr>
              <a:defRPr sz="6614"/>
            </a:lvl4pPr>
            <a:lvl5pPr>
              <a:defRPr sz="6614"/>
            </a:lvl5pPr>
            <a:lvl6pPr>
              <a:defRPr sz="6614"/>
            </a:lvl6pPr>
            <a:lvl7pPr>
              <a:defRPr sz="6614"/>
            </a:lvl7pPr>
            <a:lvl8pPr>
              <a:defRPr sz="6614"/>
            </a:lvl8pPr>
            <a:lvl9pPr>
              <a:defRPr sz="6614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082959" y="12743974"/>
            <a:ext cx="9753280" cy="23609788"/>
          </a:xfrm>
        </p:spPr>
        <p:txBody>
          <a:bodyPr/>
          <a:lstStyle>
            <a:lvl1pPr marL="0" indent="0">
              <a:buNone/>
              <a:defRPr sz="5291"/>
            </a:lvl1pPr>
            <a:lvl2pPr marL="1512006" indent="0">
              <a:buNone/>
              <a:defRPr sz="4630"/>
            </a:lvl2pPr>
            <a:lvl3pPr marL="3024012" indent="0">
              <a:buNone/>
              <a:defRPr sz="3969"/>
            </a:lvl3pPr>
            <a:lvl4pPr marL="4536018" indent="0">
              <a:buNone/>
              <a:defRPr sz="3307"/>
            </a:lvl4pPr>
            <a:lvl5pPr marL="6048024" indent="0">
              <a:buNone/>
              <a:defRPr sz="3307"/>
            </a:lvl5pPr>
            <a:lvl6pPr marL="7560031" indent="0">
              <a:buNone/>
              <a:defRPr sz="3307"/>
            </a:lvl6pPr>
            <a:lvl7pPr marL="9072037" indent="0">
              <a:buNone/>
              <a:defRPr sz="3307"/>
            </a:lvl7pPr>
            <a:lvl8pPr marL="10584043" indent="0">
              <a:buNone/>
              <a:defRPr sz="3307"/>
            </a:lvl8pPr>
            <a:lvl9pPr marL="12096049" indent="0">
              <a:buNone/>
              <a:defRPr sz="3307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1CA32F-3B16-A94D-8B63-DB7C7F7FAD13}" type="datetimeFigureOut">
              <a:rPr lang="en-NO" smtClean="0"/>
              <a:t>04/06/2026</a:t>
            </a:fld>
            <a:endParaRPr lang="en-NO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O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6E3458-8B87-924A-9CD1-D8DA2C5C4198}" type="slidenum">
              <a:rPr lang="en-NO" smtClean="0"/>
              <a:t>‹#›</a:t>
            </a:fld>
            <a:endParaRPr lang="en-NO"/>
          </a:p>
        </p:txBody>
      </p:sp>
    </p:spTree>
    <p:extLst>
      <p:ext uri="{BB962C8B-B14F-4D97-AF65-F5344CB8AC3E}">
        <p14:creationId xmlns:p14="http://schemas.microsoft.com/office/powerpoint/2010/main" val="162260566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82959" y="2831994"/>
            <a:ext cx="9753280" cy="9911980"/>
          </a:xfrm>
        </p:spPr>
        <p:txBody>
          <a:bodyPr anchor="b"/>
          <a:lstStyle>
            <a:lvl1pPr>
              <a:defRPr sz="10583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2856061" y="6116330"/>
            <a:ext cx="15309146" cy="30188272"/>
          </a:xfrm>
        </p:spPr>
        <p:txBody>
          <a:bodyPr anchor="t"/>
          <a:lstStyle>
            <a:lvl1pPr marL="0" indent="0">
              <a:buNone/>
              <a:defRPr sz="10583"/>
            </a:lvl1pPr>
            <a:lvl2pPr marL="1512006" indent="0">
              <a:buNone/>
              <a:defRPr sz="9260"/>
            </a:lvl2pPr>
            <a:lvl3pPr marL="3024012" indent="0">
              <a:buNone/>
              <a:defRPr sz="7937"/>
            </a:lvl3pPr>
            <a:lvl4pPr marL="4536018" indent="0">
              <a:buNone/>
              <a:defRPr sz="6614"/>
            </a:lvl4pPr>
            <a:lvl5pPr marL="6048024" indent="0">
              <a:buNone/>
              <a:defRPr sz="6614"/>
            </a:lvl5pPr>
            <a:lvl6pPr marL="7560031" indent="0">
              <a:buNone/>
              <a:defRPr sz="6614"/>
            </a:lvl6pPr>
            <a:lvl7pPr marL="9072037" indent="0">
              <a:buNone/>
              <a:defRPr sz="6614"/>
            </a:lvl7pPr>
            <a:lvl8pPr marL="10584043" indent="0">
              <a:buNone/>
              <a:defRPr sz="6614"/>
            </a:lvl8pPr>
            <a:lvl9pPr marL="12096049" indent="0">
              <a:buNone/>
              <a:defRPr sz="6614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082959" y="12743974"/>
            <a:ext cx="9753280" cy="23609788"/>
          </a:xfrm>
        </p:spPr>
        <p:txBody>
          <a:bodyPr/>
          <a:lstStyle>
            <a:lvl1pPr marL="0" indent="0">
              <a:buNone/>
              <a:defRPr sz="5291"/>
            </a:lvl1pPr>
            <a:lvl2pPr marL="1512006" indent="0">
              <a:buNone/>
              <a:defRPr sz="4630"/>
            </a:lvl2pPr>
            <a:lvl3pPr marL="3024012" indent="0">
              <a:buNone/>
              <a:defRPr sz="3969"/>
            </a:lvl3pPr>
            <a:lvl4pPr marL="4536018" indent="0">
              <a:buNone/>
              <a:defRPr sz="3307"/>
            </a:lvl4pPr>
            <a:lvl5pPr marL="6048024" indent="0">
              <a:buNone/>
              <a:defRPr sz="3307"/>
            </a:lvl5pPr>
            <a:lvl6pPr marL="7560031" indent="0">
              <a:buNone/>
              <a:defRPr sz="3307"/>
            </a:lvl6pPr>
            <a:lvl7pPr marL="9072037" indent="0">
              <a:buNone/>
              <a:defRPr sz="3307"/>
            </a:lvl7pPr>
            <a:lvl8pPr marL="10584043" indent="0">
              <a:buNone/>
              <a:defRPr sz="3307"/>
            </a:lvl8pPr>
            <a:lvl9pPr marL="12096049" indent="0">
              <a:buNone/>
              <a:defRPr sz="3307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1CA32F-3B16-A94D-8B63-DB7C7F7FAD13}" type="datetimeFigureOut">
              <a:rPr lang="en-NO" smtClean="0"/>
              <a:t>04/06/2026</a:t>
            </a:fld>
            <a:endParaRPr lang="en-NO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O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6E3458-8B87-924A-9CD1-D8DA2C5C4198}" type="slidenum">
              <a:rPr lang="en-NO" smtClean="0"/>
              <a:t>‹#›</a:t>
            </a:fld>
            <a:endParaRPr lang="en-NO"/>
          </a:p>
        </p:txBody>
      </p:sp>
    </p:spTree>
    <p:extLst>
      <p:ext uri="{BB962C8B-B14F-4D97-AF65-F5344CB8AC3E}">
        <p14:creationId xmlns:p14="http://schemas.microsoft.com/office/powerpoint/2010/main" val="139890681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1CA32F-3B16-A94D-8B63-DB7C7F7FAD13}" type="datetimeFigureOut">
              <a:rPr lang="en-NO" smtClean="0"/>
              <a:t>04/06/2026</a:t>
            </a:fld>
            <a:endParaRPr lang="en-NO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O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6E3458-8B87-924A-9CD1-D8DA2C5C4198}" type="slidenum">
              <a:rPr lang="en-NO" smtClean="0"/>
              <a:t>‹#›</a:t>
            </a:fld>
            <a:endParaRPr lang="en-NO"/>
          </a:p>
        </p:txBody>
      </p:sp>
    </p:spTree>
    <p:extLst>
      <p:ext uri="{BB962C8B-B14F-4D97-AF65-F5344CB8AC3E}">
        <p14:creationId xmlns:p14="http://schemas.microsoft.com/office/powerpoint/2010/main" val="408898153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21640708" y="2261662"/>
            <a:ext cx="6520562" cy="35999763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079021" y="2261662"/>
            <a:ext cx="19183683" cy="35999763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1CA32F-3B16-A94D-8B63-DB7C7F7FAD13}" type="datetimeFigureOut">
              <a:rPr lang="en-NO" smtClean="0"/>
              <a:t>04/06/2026</a:t>
            </a:fld>
            <a:endParaRPr lang="en-NO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O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6E3458-8B87-924A-9CD1-D8DA2C5C4198}" type="slidenum">
              <a:rPr lang="en-NO" smtClean="0"/>
              <a:t>‹#›</a:t>
            </a:fld>
            <a:endParaRPr lang="en-NO"/>
          </a:p>
        </p:txBody>
      </p:sp>
    </p:spTree>
    <p:extLst>
      <p:ext uri="{BB962C8B-B14F-4D97-AF65-F5344CB8AC3E}">
        <p14:creationId xmlns:p14="http://schemas.microsoft.com/office/powerpoint/2010/main" val="413316749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079020" y="2261671"/>
            <a:ext cx="26082248" cy="821082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079020" y="11308310"/>
            <a:ext cx="26082248" cy="2695311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2079020" y="39372595"/>
            <a:ext cx="6804065" cy="226166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3969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61CA32F-3B16-A94D-8B63-DB7C7F7FAD13}" type="datetimeFigureOut">
              <a:rPr lang="en-NO" smtClean="0"/>
              <a:t>04/06/2026</a:t>
            </a:fld>
            <a:endParaRPr lang="en-NO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0017096" y="39372595"/>
            <a:ext cx="10206097" cy="226166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3969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NO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21357203" y="39372595"/>
            <a:ext cx="6804065" cy="226166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3969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E6E3458-8B87-924A-9CD1-D8DA2C5C4198}" type="slidenum">
              <a:rPr lang="en-NO" smtClean="0"/>
              <a:t>‹#›</a:t>
            </a:fld>
            <a:endParaRPr lang="en-NO"/>
          </a:p>
        </p:txBody>
      </p:sp>
    </p:spTree>
    <p:extLst>
      <p:ext uri="{BB962C8B-B14F-4D97-AF65-F5344CB8AC3E}">
        <p14:creationId xmlns:p14="http://schemas.microsoft.com/office/powerpoint/2010/main" val="33387209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9" r:id="rId1"/>
    <p:sldLayoutId id="2147483710" r:id="rId2"/>
    <p:sldLayoutId id="2147483711" r:id="rId3"/>
    <p:sldLayoutId id="2147483712" r:id="rId4"/>
    <p:sldLayoutId id="2147483713" r:id="rId5"/>
    <p:sldLayoutId id="2147483714" r:id="rId6"/>
    <p:sldLayoutId id="2147483715" r:id="rId7"/>
    <p:sldLayoutId id="2147483716" r:id="rId8"/>
    <p:sldLayoutId id="2147483717" r:id="rId9"/>
    <p:sldLayoutId id="2147483718" r:id="rId10"/>
    <p:sldLayoutId id="2147483719" r:id="rId11"/>
  </p:sldLayoutIdLst>
  <p:txStyles>
    <p:titleStyle>
      <a:lvl1pPr algn="l" defTabSz="3024012" rtl="0" eaLnBrk="1" latinLnBrk="0" hangingPunct="1">
        <a:lnSpc>
          <a:spcPct val="90000"/>
        </a:lnSpc>
        <a:spcBef>
          <a:spcPct val="0"/>
        </a:spcBef>
        <a:buNone/>
        <a:defRPr sz="1455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756003" indent="-756003" algn="l" defTabSz="3024012" rtl="0" eaLnBrk="1" latinLnBrk="0" hangingPunct="1">
        <a:lnSpc>
          <a:spcPct val="90000"/>
        </a:lnSpc>
        <a:spcBef>
          <a:spcPts val="3307"/>
        </a:spcBef>
        <a:buFont typeface="Arial" panose="020B0604020202020204" pitchFamily="34" charset="0"/>
        <a:buChar char="•"/>
        <a:defRPr sz="9260" kern="1200">
          <a:solidFill>
            <a:schemeClr val="tx1"/>
          </a:solidFill>
          <a:latin typeface="+mn-lt"/>
          <a:ea typeface="+mn-ea"/>
          <a:cs typeface="+mn-cs"/>
        </a:defRPr>
      </a:lvl1pPr>
      <a:lvl2pPr marL="2268009" indent="-756003" algn="l" defTabSz="3024012" rtl="0" eaLnBrk="1" latinLnBrk="0" hangingPunct="1">
        <a:lnSpc>
          <a:spcPct val="90000"/>
        </a:lnSpc>
        <a:spcBef>
          <a:spcPts val="1654"/>
        </a:spcBef>
        <a:buFont typeface="Arial" panose="020B0604020202020204" pitchFamily="34" charset="0"/>
        <a:buChar char="•"/>
        <a:defRPr sz="7937" kern="1200">
          <a:solidFill>
            <a:schemeClr val="tx1"/>
          </a:solidFill>
          <a:latin typeface="+mn-lt"/>
          <a:ea typeface="+mn-ea"/>
          <a:cs typeface="+mn-cs"/>
        </a:defRPr>
      </a:lvl2pPr>
      <a:lvl3pPr marL="3780015" indent="-756003" algn="l" defTabSz="3024012" rtl="0" eaLnBrk="1" latinLnBrk="0" hangingPunct="1">
        <a:lnSpc>
          <a:spcPct val="90000"/>
        </a:lnSpc>
        <a:spcBef>
          <a:spcPts val="1654"/>
        </a:spcBef>
        <a:buFont typeface="Arial" panose="020B0604020202020204" pitchFamily="34" charset="0"/>
        <a:buChar char="•"/>
        <a:defRPr sz="6614" kern="1200">
          <a:solidFill>
            <a:schemeClr val="tx1"/>
          </a:solidFill>
          <a:latin typeface="+mn-lt"/>
          <a:ea typeface="+mn-ea"/>
          <a:cs typeface="+mn-cs"/>
        </a:defRPr>
      </a:lvl3pPr>
      <a:lvl4pPr marL="5292021" indent="-756003" algn="l" defTabSz="3024012" rtl="0" eaLnBrk="1" latinLnBrk="0" hangingPunct="1">
        <a:lnSpc>
          <a:spcPct val="90000"/>
        </a:lnSpc>
        <a:spcBef>
          <a:spcPts val="1654"/>
        </a:spcBef>
        <a:buFont typeface="Arial" panose="020B0604020202020204" pitchFamily="34" charset="0"/>
        <a:buChar char="•"/>
        <a:defRPr sz="5953" kern="1200">
          <a:solidFill>
            <a:schemeClr val="tx1"/>
          </a:solidFill>
          <a:latin typeface="+mn-lt"/>
          <a:ea typeface="+mn-ea"/>
          <a:cs typeface="+mn-cs"/>
        </a:defRPr>
      </a:lvl4pPr>
      <a:lvl5pPr marL="6804028" indent="-756003" algn="l" defTabSz="3024012" rtl="0" eaLnBrk="1" latinLnBrk="0" hangingPunct="1">
        <a:lnSpc>
          <a:spcPct val="90000"/>
        </a:lnSpc>
        <a:spcBef>
          <a:spcPts val="1654"/>
        </a:spcBef>
        <a:buFont typeface="Arial" panose="020B0604020202020204" pitchFamily="34" charset="0"/>
        <a:buChar char="•"/>
        <a:defRPr sz="5953" kern="1200">
          <a:solidFill>
            <a:schemeClr val="tx1"/>
          </a:solidFill>
          <a:latin typeface="+mn-lt"/>
          <a:ea typeface="+mn-ea"/>
          <a:cs typeface="+mn-cs"/>
        </a:defRPr>
      </a:lvl5pPr>
      <a:lvl6pPr marL="8316034" indent="-756003" algn="l" defTabSz="3024012" rtl="0" eaLnBrk="1" latinLnBrk="0" hangingPunct="1">
        <a:lnSpc>
          <a:spcPct val="90000"/>
        </a:lnSpc>
        <a:spcBef>
          <a:spcPts val="1654"/>
        </a:spcBef>
        <a:buFont typeface="Arial" panose="020B0604020202020204" pitchFamily="34" charset="0"/>
        <a:buChar char="•"/>
        <a:defRPr sz="5953" kern="1200">
          <a:solidFill>
            <a:schemeClr val="tx1"/>
          </a:solidFill>
          <a:latin typeface="+mn-lt"/>
          <a:ea typeface="+mn-ea"/>
          <a:cs typeface="+mn-cs"/>
        </a:defRPr>
      </a:lvl6pPr>
      <a:lvl7pPr marL="9828040" indent="-756003" algn="l" defTabSz="3024012" rtl="0" eaLnBrk="1" latinLnBrk="0" hangingPunct="1">
        <a:lnSpc>
          <a:spcPct val="90000"/>
        </a:lnSpc>
        <a:spcBef>
          <a:spcPts val="1654"/>
        </a:spcBef>
        <a:buFont typeface="Arial" panose="020B0604020202020204" pitchFamily="34" charset="0"/>
        <a:buChar char="•"/>
        <a:defRPr sz="5953" kern="1200">
          <a:solidFill>
            <a:schemeClr val="tx1"/>
          </a:solidFill>
          <a:latin typeface="+mn-lt"/>
          <a:ea typeface="+mn-ea"/>
          <a:cs typeface="+mn-cs"/>
        </a:defRPr>
      </a:lvl7pPr>
      <a:lvl8pPr marL="11340046" indent="-756003" algn="l" defTabSz="3024012" rtl="0" eaLnBrk="1" latinLnBrk="0" hangingPunct="1">
        <a:lnSpc>
          <a:spcPct val="90000"/>
        </a:lnSpc>
        <a:spcBef>
          <a:spcPts val="1654"/>
        </a:spcBef>
        <a:buFont typeface="Arial" panose="020B0604020202020204" pitchFamily="34" charset="0"/>
        <a:buChar char="•"/>
        <a:defRPr sz="5953" kern="1200">
          <a:solidFill>
            <a:schemeClr val="tx1"/>
          </a:solidFill>
          <a:latin typeface="+mn-lt"/>
          <a:ea typeface="+mn-ea"/>
          <a:cs typeface="+mn-cs"/>
        </a:defRPr>
      </a:lvl8pPr>
      <a:lvl9pPr marL="12852052" indent="-756003" algn="l" defTabSz="3024012" rtl="0" eaLnBrk="1" latinLnBrk="0" hangingPunct="1">
        <a:lnSpc>
          <a:spcPct val="90000"/>
        </a:lnSpc>
        <a:spcBef>
          <a:spcPts val="1654"/>
        </a:spcBef>
        <a:buFont typeface="Arial" panose="020B0604020202020204" pitchFamily="34" charset="0"/>
        <a:buChar char="•"/>
        <a:defRPr sz="595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024012" rtl="0" eaLnBrk="1" latinLnBrk="0" hangingPunct="1">
        <a:defRPr sz="5953" kern="1200">
          <a:solidFill>
            <a:schemeClr val="tx1"/>
          </a:solidFill>
          <a:latin typeface="+mn-lt"/>
          <a:ea typeface="+mn-ea"/>
          <a:cs typeface="+mn-cs"/>
        </a:defRPr>
      </a:lvl1pPr>
      <a:lvl2pPr marL="1512006" algn="l" defTabSz="3024012" rtl="0" eaLnBrk="1" latinLnBrk="0" hangingPunct="1">
        <a:defRPr sz="5953" kern="1200">
          <a:solidFill>
            <a:schemeClr val="tx1"/>
          </a:solidFill>
          <a:latin typeface="+mn-lt"/>
          <a:ea typeface="+mn-ea"/>
          <a:cs typeface="+mn-cs"/>
        </a:defRPr>
      </a:lvl2pPr>
      <a:lvl3pPr marL="3024012" algn="l" defTabSz="3024012" rtl="0" eaLnBrk="1" latinLnBrk="0" hangingPunct="1">
        <a:defRPr sz="5953" kern="1200">
          <a:solidFill>
            <a:schemeClr val="tx1"/>
          </a:solidFill>
          <a:latin typeface="+mn-lt"/>
          <a:ea typeface="+mn-ea"/>
          <a:cs typeface="+mn-cs"/>
        </a:defRPr>
      </a:lvl3pPr>
      <a:lvl4pPr marL="4536018" algn="l" defTabSz="3024012" rtl="0" eaLnBrk="1" latinLnBrk="0" hangingPunct="1">
        <a:defRPr sz="5953" kern="1200">
          <a:solidFill>
            <a:schemeClr val="tx1"/>
          </a:solidFill>
          <a:latin typeface="+mn-lt"/>
          <a:ea typeface="+mn-ea"/>
          <a:cs typeface="+mn-cs"/>
        </a:defRPr>
      </a:lvl4pPr>
      <a:lvl5pPr marL="6048024" algn="l" defTabSz="3024012" rtl="0" eaLnBrk="1" latinLnBrk="0" hangingPunct="1">
        <a:defRPr sz="5953" kern="1200">
          <a:solidFill>
            <a:schemeClr val="tx1"/>
          </a:solidFill>
          <a:latin typeface="+mn-lt"/>
          <a:ea typeface="+mn-ea"/>
          <a:cs typeface="+mn-cs"/>
        </a:defRPr>
      </a:lvl5pPr>
      <a:lvl6pPr marL="7560031" algn="l" defTabSz="3024012" rtl="0" eaLnBrk="1" latinLnBrk="0" hangingPunct="1">
        <a:defRPr sz="5953" kern="1200">
          <a:solidFill>
            <a:schemeClr val="tx1"/>
          </a:solidFill>
          <a:latin typeface="+mn-lt"/>
          <a:ea typeface="+mn-ea"/>
          <a:cs typeface="+mn-cs"/>
        </a:defRPr>
      </a:lvl6pPr>
      <a:lvl7pPr marL="9072037" algn="l" defTabSz="3024012" rtl="0" eaLnBrk="1" latinLnBrk="0" hangingPunct="1">
        <a:defRPr sz="5953" kern="1200">
          <a:solidFill>
            <a:schemeClr val="tx1"/>
          </a:solidFill>
          <a:latin typeface="+mn-lt"/>
          <a:ea typeface="+mn-ea"/>
          <a:cs typeface="+mn-cs"/>
        </a:defRPr>
      </a:lvl7pPr>
      <a:lvl8pPr marL="10584043" algn="l" defTabSz="3024012" rtl="0" eaLnBrk="1" latinLnBrk="0" hangingPunct="1">
        <a:defRPr sz="5953" kern="1200">
          <a:solidFill>
            <a:schemeClr val="tx1"/>
          </a:solidFill>
          <a:latin typeface="+mn-lt"/>
          <a:ea typeface="+mn-ea"/>
          <a:cs typeface="+mn-cs"/>
        </a:defRPr>
      </a:lvl8pPr>
      <a:lvl9pPr marL="12096049" algn="l" defTabSz="3024012" rtl="0" eaLnBrk="1" latinLnBrk="0" hangingPunct="1">
        <a:defRPr sz="5953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13" Type="http://schemas.openxmlformats.org/officeDocument/2006/relationships/image" Target="../media/image10.png"/><Relationship Id="rId18" Type="http://schemas.openxmlformats.org/officeDocument/2006/relationships/image" Target="../media/image15.png"/><Relationship Id="rId26" Type="http://schemas.openxmlformats.org/officeDocument/2006/relationships/image" Target="../media/image22.png"/><Relationship Id="rId3" Type="http://schemas.openxmlformats.org/officeDocument/2006/relationships/image" Target="../media/image1.png"/><Relationship Id="rId21" Type="http://schemas.openxmlformats.org/officeDocument/2006/relationships/image" Target="../media/image17.png"/><Relationship Id="rId7" Type="http://schemas.openxmlformats.org/officeDocument/2006/relationships/image" Target="../media/image5.png"/><Relationship Id="rId12" Type="http://schemas.openxmlformats.org/officeDocument/2006/relationships/hyperlink" Target="lucascamacho.github.io" TargetMode="External"/><Relationship Id="rId17" Type="http://schemas.openxmlformats.org/officeDocument/2006/relationships/image" Target="../media/image14.png"/><Relationship Id="rId25" Type="http://schemas.openxmlformats.org/officeDocument/2006/relationships/image" Target="../media/image20.png"/><Relationship Id="rId2" Type="http://schemas.openxmlformats.org/officeDocument/2006/relationships/notesSlide" Target="../notesSlides/notesSlide1.xml"/><Relationship Id="rId16" Type="http://schemas.openxmlformats.org/officeDocument/2006/relationships/image" Target="../media/image13.png"/><Relationship Id="rId20" Type="http://schemas.openxmlformats.org/officeDocument/2006/relationships/image" Target="../media/image160.png"/><Relationship Id="rId29" Type="http://schemas.openxmlformats.org/officeDocument/2006/relationships/image" Target="../media/image2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jpeg"/><Relationship Id="rId11" Type="http://schemas.openxmlformats.org/officeDocument/2006/relationships/image" Target="../media/image9.png"/><Relationship Id="rId24" Type="http://schemas.openxmlformats.org/officeDocument/2006/relationships/image" Target="../media/image21.png"/><Relationship Id="rId32" Type="http://schemas.openxmlformats.org/officeDocument/2006/relationships/image" Target="../media/image28.png"/><Relationship Id="rId5" Type="http://schemas.openxmlformats.org/officeDocument/2006/relationships/image" Target="../media/image3.png"/><Relationship Id="rId15" Type="http://schemas.openxmlformats.org/officeDocument/2006/relationships/image" Target="../media/image12.png"/><Relationship Id="rId23" Type="http://schemas.openxmlformats.org/officeDocument/2006/relationships/image" Target="../media/image19.png"/><Relationship Id="rId28" Type="http://schemas.openxmlformats.org/officeDocument/2006/relationships/image" Target="../media/image24.png"/><Relationship Id="rId10" Type="http://schemas.openxmlformats.org/officeDocument/2006/relationships/image" Target="../media/image8.png"/><Relationship Id="rId19" Type="http://schemas.openxmlformats.org/officeDocument/2006/relationships/image" Target="../media/image16.png"/><Relationship Id="rId31" Type="http://schemas.openxmlformats.org/officeDocument/2006/relationships/image" Target="../media/image27.png"/><Relationship Id="rId4" Type="http://schemas.openxmlformats.org/officeDocument/2006/relationships/image" Target="../media/image2.jpeg"/><Relationship Id="rId9" Type="http://schemas.openxmlformats.org/officeDocument/2006/relationships/image" Target="../media/image7.png"/><Relationship Id="rId14" Type="http://schemas.openxmlformats.org/officeDocument/2006/relationships/image" Target="../media/image11.png"/><Relationship Id="rId22" Type="http://schemas.openxmlformats.org/officeDocument/2006/relationships/image" Target="../media/image18.png"/><Relationship Id="rId27" Type="http://schemas.openxmlformats.org/officeDocument/2006/relationships/image" Target="../media/image23.png"/><Relationship Id="rId30" Type="http://schemas.openxmlformats.org/officeDocument/2006/relationships/image" Target="../media/image2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31" name="Picture 1030" descr="A graph of black dots&#10;&#10;Description automatically generated">
            <a:extLst>
              <a:ext uri="{FF2B5EF4-FFF2-40B4-BE49-F238E27FC236}">
                <a16:creationId xmlns:a16="http://schemas.microsoft.com/office/drawing/2014/main" id="{2C42ACC7-3316-E986-4573-90F5FEA4CA9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384" b="6886"/>
          <a:stretch/>
        </p:blipFill>
        <p:spPr>
          <a:xfrm>
            <a:off x="22219766" y="25660928"/>
            <a:ext cx="7509365" cy="3166265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09DAF4E1-5F2D-C2DF-8880-AB1A4AFDF397}"/>
              </a:ext>
            </a:extLst>
          </p:cNvPr>
          <p:cNvSpPr/>
          <p:nvPr/>
        </p:nvSpPr>
        <p:spPr>
          <a:xfrm>
            <a:off x="0" y="-14560"/>
            <a:ext cx="30240288" cy="3926974"/>
          </a:xfrm>
          <a:prstGeom prst="rect">
            <a:avLst/>
          </a:prstGeom>
          <a:solidFill>
            <a:srgbClr val="84E291"/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O" sz="4773" dirty="0">
              <a:solidFill>
                <a:schemeClr val="tx1"/>
              </a:solidFill>
              <a:latin typeface="+mj-lt"/>
              <a:ea typeface="Cambria Math" panose="02040503050406030204" pitchFamily="18" charset="0"/>
            </a:endParaRPr>
          </a:p>
        </p:txBody>
      </p:sp>
      <p:pic>
        <p:nvPicPr>
          <p:cNvPr id="1026" name="Picture 2" descr="FAPESP - Fundação de Amparo à Pesquisa do Estado de São Paulo">
            <a:extLst>
              <a:ext uri="{FF2B5EF4-FFF2-40B4-BE49-F238E27FC236}">
                <a16:creationId xmlns:a16="http://schemas.microsoft.com/office/drawing/2014/main" id="{8B05F258-189A-84A1-0514-9D7570613A8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317" t="21637" r="8958" b="9849"/>
          <a:stretch/>
        </p:blipFill>
        <p:spPr bwMode="auto">
          <a:xfrm>
            <a:off x="26402198" y="40425174"/>
            <a:ext cx="3719897" cy="14080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Logotipo USP – 90 anos – USP – Identidade Visual">
            <a:extLst>
              <a:ext uri="{FF2B5EF4-FFF2-40B4-BE49-F238E27FC236}">
                <a16:creationId xmlns:a16="http://schemas.microsoft.com/office/drawing/2014/main" id="{4D7D12F5-7E36-89F1-D359-8296BAE6B9D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3954" b="15153"/>
          <a:stretch/>
        </p:blipFill>
        <p:spPr bwMode="auto">
          <a:xfrm>
            <a:off x="13724821" y="40205209"/>
            <a:ext cx="2962657" cy="15732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02_uio_full_logo_no_pos | UiO - Senter for utvikling og miljø">
            <a:extLst>
              <a:ext uri="{FF2B5EF4-FFF2-40B4-BE49-F238E27FC236}">
                <a16:creationId xmlns:a16="http://schemas.microsoft.com/office/drawing/2014/main" id="{5938A65B-0501-02B6-69AF-C5DBF0BE2F3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956" t="25405" r="14977" b="28959"/>
          <a:stretch/>
        </p:blipFill>
        <p:spPr bwMode="auto">
          <a:xfrm>
            <a:off x="251653" y="40238666"/>
            <a:ext cx="4568663" cy="14882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 descr="CEES emblem.">
            <a:extLst>
              <a:ext uri="{FF2B5EF4-FFF2-40B4-BE49-F238E27FC236}">
                <a16:creationId xmlns:a16="http://schemas.microsoft.com/office/drawing/2014/main" id="{875380F1-A00E-3388-8AAA-A7A757E8129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43373" y="40550789"/>
            <a:ext cx="3366643" cy="9619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52A523D8-FE18-6092-47BD-6DF55AFBA852}"/>
              </a:ext>
            </a:extLst>
          </p:cNvPr>
          <p:cNvSpPr txBox="1"/>
          <p:nvPr/>
        </p:nvSpPr>
        <p:spPr>
          <a:xfrm>
            <a:off x="2709333" y="-91154"/>
            <a:ext cx="24769110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6000" b="1" dirty="0">
                <a:latin typeface="+mj-lt"/>
              </a:rPr>
              <a:t>The Role of Evolvability and Integration in Shaping Sexual Dimorphism in the Cranial Morphology of </a:t>
            </a:r>
            <a:r>
              <a:rPr lang="en-GB" sz="6000" b="1" dirty="0" err="1">
                <a:latin typeface="+mj-lt"/>
              </a:rPr>
              <a:t>Simiiform</a:t>
            </a:r>
            <a:r>
              <a:rPr lang="en-GB" sz="6000" b="1" dirty="0">
                <a:latin typeface="+mj-lt"/>
              </a:rPr>
              <a:t> Monkeys</a:t>
            </a:r>
            <a:endParaRPr lang="en-NO" sz="5834" b="1" dirty="0">
              <a:latin typeface="+mj-lt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31CCBBE-602C-5683-8E16-829069615DC0}"/>
              </a:ext>
            </a:extLst>
          </p:cNvPr>
          <p:cNvSpPr txBox="1"/>
          <p:nvPr/>
        </p:nvSpPr>
        <p:spPr>
          <a:xfrm>
            <a:off x="8727145" y="1813084"/>
            <a:ext cx="12728484" cy="196957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243" dirty="0">
                <a:latin typeface="+mj-lt"/>
                <a:ea typeface="Cambria Math" panose="02040503050406030204" pitchFamily="18" charset="0"/>
                <a:cs typeface="Arial" panose="020B0604020202020204" pitchFamily="34" charset="0"/>
              </a:rPr>
              <a:t>Lucas A. Camacho¹, Thomas F. Hansen², Gabriel Marroig</a:t>
            </a:r>
            <a:r>
              <a:rPr lang="en-GB" sz="4243" baseline="30000" dirty="0">
                <a:latin typeface="+mj-lt"/>
                <a:ea typeface="Cambria Math" panose="02040503050406030204" pitchFamily="18" charset="0"/>
                <a:cs typeface="Arial" panose="020B0604020202020204" pitchFamily="34" charset="0"/>
              </a:rPr>
              <a:t>1</a:t>
            </a:r>
          </a:p>
          <a:p>
            <a:pPr algn="ctr"/>
            <a:endParaRPr lang="en-GB" sz="3713" dirty="0">
              <a:latin typeface="+mj-lt"/>
              <a:ea typeface="Cambria Math" panose="02040503050406030204" pitchFamily="18" charset="0"/>
              <a:cs typeface="Arial" panose="020B0604020202020204" pitchFamily="34" charset="0"/>
            </a:endParaRPr>
          </a:p>
          <a:p>
            <a:pPr algn="ctr"/>
            <a:endParaRPr lang="en-NO" sz="4243" dirty="0">
              <a:latin typeface="+mj-lt"/>
              <a:ea typeface="Cambria Math" panose="02040503050406030204" pitchFamily="18" charset="0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8A862209-F51A-4201-913F-A26208FF0C44}"/>
              </a:ext>
            </a:extLst>
          </p:cNvPr>
          <p:cNvCxnSpPr>
            <a:cxnSpLocks/>
          </p:cNvCxnSpPr>
          <p:nvPr/>
        </p:nvCxnSpPr>
        <p:spPr>
          <a:xfrm>
            <a:off x="15022186" y="3898383"/>
            <a:ext cx="0" cy="3583716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31" name="Picture 30" descr="A diagram of the skull&#10;&#10;Description automatically generated with medium confidence">
            <a:extLst>
              <a:ext uri="{FF2B5EF4-FFF2-40B4-BE49-F238E27FC236}">
                <a16:creationId xmlns:a16="http://schemas.microsoft.com/office/drawing/2014/main" id="{7FBEE8A0-D514-9C08-4555-5809E83FB8EF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951824" y="22778546"/>
            <a:ext cx="7954266" cy="5110384"/>
          </a:xfrm>
          <a:prstGeom prst="rect">
            <a:avLst/>
          </a:prstGeom>
        </p:spPr>
      </p:pic>
      <p:pic>
        <p:nvPicPr>
          <p:cNvPr id="1034" name="Picture 10" descr="Flag of Brazil - Wikipedia">
            <a:extLst>
              <a:ext uri="{FF2B5EF4-FFF2-40B4-BE49-F238E27FC236}">
                <a16:creationId xmlns:a16="http://schemas.microsoft.com/office/drawing/2014/main" id="{81F0234D-C419-892E-4D71-5DC74713ED6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043987" y="1982050"/>
            <a:ext cx="1811710" cy="1268196"/>
          </a:xfrm>
          <a:prstGeom prst="rect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6" name="Picture 12">
            <a:extLst>
              <a:ext uri="{FF2B5EF4-FFF2-40B4-BE49-F238E27FC236}">
                <a16:creationId xmlns:a16="http://schemas.microsoft.com/office/drawing/2014/main" id="{6FFA4BBE-7404-52A2-50C6-C23494207DC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054500" y="364152"/>
            <a:ext cx="1829230" cy="1331910"/>
          </a:xfrm>
          <a:prstGeom prst="rect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1" name="Picture 2" descr="Evo-Devo-Genomics at UB - Home">
            <a:extLst>
              <a:ext uri="{FF2B5EF4-FFF2-40B4-BE49-F238E27FC236}">
                <a16:creationId xmlns:a16="http://schemas.microsoft.com/office/drawing/2014/main" id="{DE45EEBD-B9CE-B217-67B7-449C9D79DAD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8572" y="1342641"/>
            <a:ext cx="2610586" cy="225780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0" name="Rectangle 29">
            <a:extLst>
              <a:ext uri="{FF2B5EF4-FFF2-40B4-BE49-F238E27FC236}">
                <a16:creationId xmlns:a16="http://schemas.microsoft.com/office/drawing/2014/main" id="{0A344BD9-B774-A5BE-5D38-2B7089399071}"/>
              </a:ext>
            </a:extLst>
          </p:cNvPr>
          <p:cNvSpPr/>
          <p:nvPr/>
        </p:nvSpPr>
        <p:spPr>
          <a:xfrm>
            <a:off x="0" y="41787438"/>
            <a:ext cx="30240287" cy="694339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O" sz="2387">
              <a:latin typeface="+mj-lt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8AA2E326-C29C-D20F-9376-142C3DD0AC8D}"/>
              </a:ext>
            </a:extLst>
          </p:cNvPr>
          <p:cNvSpPr txBox="1"/>
          <p:nvPr/>
        </p:nvSpPr>
        <p:spPr>
          <a:xfrm>
            <a:off x="26635395" y="41879043"/>
            <a:ext cx="3286412" cy="45967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387" b="1" dirty="0">
                <a:latin typeface="+mj-lt"/>
                <a:hlinkClick r:id="rId12"/>
              </a:rPr>
              <a:t>l</a:t>
            </a:r>
            <a:r>
              <a:rPr lang="en-NO" sz="2387" b="1" dirty="0">
                <a:latin typeface="+mj-lt"/>
                <a:hlinkClick r:id="rId12"/>
              </a:rPr>
              <a:t>ucascamacho.github.io</a:t>
            </a:r>
            <a:endParaRPr lang="en-NO" sz="2387" b="1" dirty="0">
              <a:latin typeface="+mj-lt"/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41211A44-7084-B71F-6FB5-C2D6B89D0362}"/>
              </a:ext>
            </a:extLst>
          </p:cNvPr>
          <p:cNvSpPr txBox="1"/>
          <p:nvPr/>
        </p:nvSpPr>
        <p:spPr>
          <a:xfrm>
            <a:off x="247025" y="41916267"/>
            <a:ext cx="9219255" cy="45967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O" sz="2387" b="1" dirty="0">
                <a:latin typeface="+mj-lt"/>
              </a:rPr>
              <a:t>10th European Society for Evolutionary Development Biology Meeting 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12AB7ECD-54BA-3ABF-7D54-BA5A8E688A5E}"/>
              </a:ext>
            </a:extLst>
          </p:cNvPr>
          <p:cNvSpPr txBox="1"/>
          <p:nvPr/>
        </p:nvSpPr>
        <p:spPr>
          <a:xfrm>
            <a:off x="14670433" y="41930928"/>
            <a:ext cx="845103" cy="45967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O" sz="2387" b="1" dirty="0">
                <a:latin typeface="+mj-lt"/>
              </a:rPr>
              <a:t>2026</a:t>
            </a:r>
          </a:p>
        </p:txBody>
      </p:sp>
      <p:pic>
        <p:nvPicPr>
          <p:cNvPr id="38" name="Picture 4" descr="IB | Instituto de Biociências | Universidade de São Paulo | USP - IB">
            <a:extLst>
              <a:ext uri="{FF2B5EF4-FFF2-40B4-BE49-F238E27FC236}">
                <a16:creationId xmlns:a16="http://schemas.microsoft.com/office/drawing/2014/main" id="{35848352-2E0E-F507-98CD-FE10203A456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372768" y="40374648"/>
            <a:ext cx="3428692" cy="123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8" name="Picture 17" descr="A diagram of a person's relationship&#10;&#10;Description automatically generated with medium confidence">
            <a:extLst>
              <a:ext uri="{FF2B5EF4-FFF2-40B4-BE49-F238E27FC236}">
                <a16:creationId xmlns:a16="http://schemas.microsoft.com/office/drawing/2014/main" id="{8C12DC9D-6690-4365-DE9B-961066A4011F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161731" y="28964347"/>
            <a:ext cx="1965313" cy="1071988"/>
          </a:xfrm>
          <a:prstGeom prst="rect">
            <a:avLst/>
          </a:prstGeom>
        </p:spPr>
      </p:pic>
      <p:pic>
        <p:nvPicPr>
          <p:cNvPr id="40" name="Picture 39" descr="A diagram of a graph&#10;&#10;Description automatically generated">
            <a:extLst>
              <a:ext uri="{FF2B5EF4-FFF2-40B4-BE49-F238E27FC236}">
                <a16:creationId xmlns:a16="http://schemas.microsoft.com/office/drawing/2014/main" id="{5DF79BCD-08EA-E892-1798-5DE3E0B530B4}"/>
              </a:ext>
            </a:extLst>
          </p:cNvPr>
          <p:cNvPicPr>
            <a:picLocks noChangeAspect="1"/>
          </p:cNvPicPr>
          <p:nvPr/>
        </p:nvPicPr>
        <p:blipFill>
          <a:blip r:embed="rId15"/>
          <a:srcRect t="11314"/>
          <a:stretch/>
        </p:blipFill>
        <p:spPr>
          <a:xfrm>
            <a:off x="16399684" y="4035952"/>
            <a:ext cx="12726411" cy="6156240"/>
          </a:xfrm>
          <a:prstGeom prst="rect">
            <a:avLst/>
          </a:prstGeom>
        </p:spPr>
      </p:pic>
      <p:pic>
        <p:nvPicPr>
          <p:cNvPr id="43" name="Picture 42" descr="A diagram of evolution of a variety of rocks&#10;&#10;Description automatically generated with medium confidence">
            <a:extLst>
              <a:ext uri="{FF2B5EF4-FFF2-40B4-BE49-F238E27FC236}">
                <a16:creationId xmlns:a16="http://schemas.microsoft.com/office/drawing/2014/main" id="{FF0767CB-53D5-89AC-A09C-B2E9B1CE3E75}"/>
              </a:ext>
            </a:extLst>
          </p:cNvPr>
          <p:cNvPicPr>
            <a:picLocks noChangeAspect="1"/>
          </p:cNvPicPr>
          <p:nvPr/>
        </p:nvPicPr>
        <p:blipFill>
          <a:blip r:embed="rId16"/>
          <a:srcRect t="16315"/>
          <a:stretch/>
        </p:blipFill>
        <p:spPr>
          <a:xfrm>
            <a:off x="5520211" y="11714571"/>
            <a:ext cx="9365912" cy="4275223"/>
          </a:xfrm>
          <a:prstGeom prst="rect">
            <a:avLst/>
          </a:prstGeom>
        </p:spPr>
      </p:pic>
      <p:pic>
        <p:nvPicPr>
          <p:cNvPr id="51" name="Picture 50" descr="A collage of monkeys in the jungle&#10;&#10;Description automatically generated">
            <a:extLst>
              <a:ext uri="{FF2B5EF4-FFF2-40B4-BE49-F238E27FC236}">
                <a16:creationId xmlns:a16="http://schemas.microsoft.com/office/drawing/2014/main" id="{8BB89542-A1B0-8BA5-4182-156DB7C0DB41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735691" y="5160390"/>
            <a:ext cx="8750517" cy="4773008"/>
          </a:xfrm>
          <a:prstGeom prst="rect">
            <a:avLst/>
          </a:prstGeom>
        </p:spPr>
      </p:pic>
      <p:pic>
        <p:nvPicPr>
          <p:cNvPr id="27" name="Picture 26" descr="A diagram of different numbers and points&#10;&#10;Description automatically generated with medium confidence">
            <a:extLst>
              <a:ext uri="{FF2B5EF4-FFF2-40B4-BE49-F238E27FC236}">
                <a16:creationId xmlns:a16="http://schemas.microsoft.com/office/drawing/2014/main" id="{A3DA5014-7D47-4BC5-15AA-8A356D53F3E4}"/>
              </a:ext>
            </a:extLst>
          </p:cNvPr>
          <p:cNvPicPr>
            <a:picLocks noChangeAspect="1"/>
          </p:cNvPicPr>
          <p:nvPr/>
        </p:nvPicPr>
        <p:blipFill>
          <a:blip r:embed="rId18"/>
          <a:srcRect l="3232" t="8000" b="6818"/>
          <a:stretch/>
        </p:blipFill>
        <p:spPr>
          <a:xfrm>
            <a:off x="21744968" y="16860301"/>
            <a:ext cx="7717515" cy="3396788"/>
          </a:xfrm>
          <a:prstGeom prst="rect">
            <a:avLst/>
          </a:prstGeom>
        </p:spPr>
      </p:pic>
      <p:pic>
        <p:nvPicPr>
          <p:cNvPr id="32" name="Picture 31" descr="A graph showing a number of dots&#10;&#10;Description automatically generated with medium confidence">
            <a:extLst>
              <a:ext uri="{FF2B5EF4-FFF2-40B4-BE49-F238E27FC236}">
                <a16:creationId xmlns:a16="http://schemas.microsoft.com/office/drawing/2014/main" id="{75ED077E-1710-D422-468B-E7A4C9E52A09}"/>
              </a:ext>
            </a:extLst>
          </p:cNvPr>
          <p:cNvPicPr>
            <a:picLocks noChangeAspect="1"/>
          </p:cNvPicPr>
          <p:nvPr/>
        </p:nvPicPr>
        <p:blipFill>
          <a:blip r:embed="rId19"/>
          <a:srcRect l="2888" t="7800" b="7420"/>
          <a:stretch/>
        </p:blipFill>
        <p:spPr>
          <a:xfrm>
            <a:off x="16530412" y="21107491"/>
            <a:ext cx="7932532" cy="302972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2839A9E8-B951-97EB-43F3-BE603E60476C}"/>
                  </a:ext>
                </a:extLst>
              </p:cNvPr>
              <p:cNvSpPr txBox="1"/>
              <p:nvPr/>
            </p:nvSpPr>
            <p:spPr>
              <a:xfrm>
                <a:off x="475718" y="37874974"/>
                <a:ext cx="6415722" cy="99597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NO" sz="3118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nb-NO" sz="3118">
                              <a:latin typeface="Cambria Math" panose="02040503050406030204" pitchFamily="18" charset="0"/>
                            </a:rPr>
                            <m:t>evolvability</m:t>
                          </m:r>
                        </m:e>
                        <m:sub>
                          <m:r>
                            <a:rPr lang="nb-NO" sz="3118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m:rPr>
                              <m:sty m:val="p"/>
                            </m:rPr>
                            <a:rPr lang="nb-NO" sz="3118">
                              <a:latin typeface="Cambria Math" panose="02040503050406030204" pitchFamily="18" charset="0"/>
                            </a:rPr>
                            <m:t>SD</m:t>
                          </m:r>
                          <m:r>
                            <a:rPr lang="nb-NO" sz="3118">
                              <a:latin typeface="Cambria Math" panose="02040503050406030204" pitchFamily="18" charset="0"/>
                            </a:rPr>
                            <m:t>)</m:t>
                          </m:r>
                        </m:sub>
                      </m:sSub>
                      <m:r>
                        <a:rPr lang="nb-NO" sz="3118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nb-NO" sz="3118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nb-NO" sz="3118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nb-NO" sz="3118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m:rPr>
                                      <m:sty m:val="p"/>
                                    </m:rPr>
                                    <a:rPr lang="nb-NO" sz="3118">
                                      <a:latin typeface="Cambria Math" panose="02040503050406030204" pitchFamily="18" charset="0"/>
                                    </a:rPr>
                                    <m:t>SD</m:t>
                                  </m:r>
                                  <m:r>
                                    <a:rPr lang="nb-NO" sz="3118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nb-NO" sz="3118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ε</m:t>
                                  </m:r>
                                </m:e>
                              </m:d>
                            </m:e>
                            <m:sup>
                              <m:r>
                                <a:rPr lang="nb-NO" sz="3118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r>
                            <a:rPr lang="nb-NO" sz="3118" b="1">
                              <a:latin typeface="Cambria Math" panose="02040503050406030204" pitchFamily="18" charset="0"/>
                            </a:rPr>
                            <m:t>𝐏</m:t>
                          </m:r>
                          <m:r>
                            <a:rPr lang="nb-NO" sz="3118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nb-NO" sz="3118">
                              <a:latin typeface="Cambria Math" panose="02040503050406030204" pitchFamily="18" charset="0"/>
                            </a:rPr>
                            <m:t>SD</m:t>
                          </m:r>
                        </m:num>
                        <m:den>
                          <m:sSup>
                            <m:sSupPr>
                              <m:ctrlPr>
                                <a:rPr lang="nb-NO" sz="3118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nb-NO" sz="3118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m:rPr>
                                      <m:sty m:val="p"/>
                                    </m:rPr>
                                    <a:rPr lang="nb-NO" sz="3118">
                                      <a:latin typeface="Cambria Math" panose="02040503050406030204" pitchFamily="18" charset="0"/>
                                    </a:rPr>
                                    <m:t>SD</m:t>
                                  </m:r>
                                  <m:r>
                                    <a:rPr lang="nb-NO" sz="3118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nb-NO" sz="3118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ε</m:t>
                                  </m:r>
                                </m:e>
                              </m:d>
                            </m:e>
                            <m:sup>
                              <m:r>
                                <a:rPr lang="nb-NO" sz="3118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lang="en-NO" sz="3118" dirty="0">
                  <a:latin typeface="+mj-lt"/>
                </a:endParaRPr>
              </a:p>
            </p:txBody>
          </p:sp>
        </mc:Choice>
        <mc:Fallback xmlns="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2839A9E8-B951-97EB-43F3-BE603E6047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5718" y="37874974"/>
                <a:ext cx="6415722" cy="995978"/>
              </a:xfrm>
              <a:prstGeom prst="rect">
                <a:avLst/>
              </a:prstGeom>
              <a:blipFill>
                <a:blip r:embed="rId20"/>
                <a:stretch>
                  <a:fillRect t="-5063" b="-759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NO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6" name="TextBox 45">
            <a:extLst>
              <a:ext uri="{FF2B5EF4-FFF2-40B4-BE49-F238E27FC236}">
                <a16:creationId xmlns:a16="http://schemas.microsoft.com/office/drawing/2014/main" id="{F0881627-FDED-36CB-2825-F9C9AA8A4510}"/>
              </a:ext>
            </a:extLst>
          </p:cNvPr>
          <p:cNvSpPr txBox="1"/>
          <p:nvPr/>
        </p:nvSpPr>
        <p:spPr>
          <a:xfrm>
            <a:off x="9812453" y="5268345"/>
            <a:ext cx="4989269" cy="45283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45400" indent="-445400">
              <a:buFont typeface="Arial" panose="020B0604020202020204" pitchFamily="34" charset="0"/>
              <a:buChar char="•"/>
            </a:pPr>
            <a:r>
              <a:rPr lang="en-GB" sz="3203" dirty="0">
                <a:latin typeface="+mj-lt"/>
              </a:rPr>
              <a:t>Sexual dimorphism shows extensive interspecific variation</a:t>
            </a:r>
          </a:p>
          <a:p>
            <a:endParaRPr lang="en-GB" sz="3203" dirty="0">
              <a:latin typeface="+mj-lt"/>
            </a:endParaRPr>
          </a:p>
          <a:p>
            <a:pPr marL="445400" indent="-445400">
              <a:buFont typeface="Arial" panose="020B0604020202020204" pitchFamily="34" charset="0"/>
              <a:buChar char="•"/>
            </a:pPr>
            <a:r>
              <a:rPr lang="en-GB" sz="3203" dirty="0">
                <a:latin typeface="+mj-lt"/>
              </a:rPr>
              <a:t>The evolution of sexual dimorphism is likely multifactorial, but the role of evolvability remains unclear</a:t>
            </a:r>
            <a:endParaRPr lang="en-NO" sz="3203" dirty="0">
              <a:latin typeface="+mj-lt"/>
            </a:endParaRP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1AA98857-C5C4-81C4-8F03-CB72965DF8D4}"/>
              </a:ext>
            </a:extLst>
          </p:cNvPr>
          <p:cNvSpPr txBox="1"/>
          <p:nvPr/>
        </p:nvSpPr>
        <p:spPr>
          <a:xfrm>
            <a:off x="482309" y="11473206"/>
            <a:ext cx="4689602" cy="45283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45400" indent="-445400">
              <a:buFont typeface="Arial" panose="020B0604020202020204" pitchFamily="34" charset="0"/>
              <a:buChar char="•"/>
            </a:pPr>
            <a:r>
              <a:rPr lang="en-GB" sz="3203" dirty="0">
                <a:latin typeface="+mj-lt"/>
              </a:rPr>
              <a:t>Low evolvability may slow the pace of evolutionary change</a:t>
            </a:r>
          </a:p>
          <a:p>
            <a:endParaRPr lang="en-GB" sz="3203" dirty="0">
              <a:latin typeface="+mj-lt"/>
            </a:endParaRPr>
          </a:p>
          <a:p>
            <a:pPr marL="445400" indent="-445400">
              <a:buFont typeface="Arial" panose="020B0604020202020204" pitchFamily="34" charset="0"/>
              <a:buChar char="•"/>
            </a:pPr>
            <a:r>
              <a:rPr lang="en-GB" sz="3203" dirty="0">
                <a:latin typeface="+mj-lt"/>
              </a:rPr>
              <a:t>High evolvability may promote greater morphological diversification and faster evolutionary change </a:t>
            </a:r>
            <a:endParaRPr lang="en-NO" sz="3203" dirty="0">
              <a:latin typeface="+mj-lt"/>
            </a:endParaRP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0DEBE397-DFED-67A9-A73E-E53C0E6A70F1}"/>
              </a:ext>
            </a:extLst>
          </p:cNvPr>
          <p:cNvSpPr txBox="1"/>
          <p:nvPr/>
        </p:nvSpPr>
        <p:spPr>
          <a:xfrm>
            <a:off x="323473" y="22731363"/>
            <a:ext cx="6083691" cy="74857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45400" indent="-445400">
              <a:buFont typeface="Arial" panose="020B0604020202020204" pitchFamily="34" charset="0"/>
              <a:buChar char="•"/>
            </a:pPr>
            <a:r>
              <a:rPr lang="en-GB" sz="3203" dirty="0">
                <a:latin typeface="+mj-lt"/>
              </a:rPr>
              <a:t>50 species from two simian clades: </a:t>
            </a:r>
            <a:r>
              <a:rPr lang="en-GB" sz="3203" dirty="0" err="1">
                <a:latin typeface="+mj-lt"/>
              </a:rPr>
              <a:t>Platyrrhini</a:t>
            </a:r>
            <a:r>
              <a:rPr lang="en-GB" sz="3203" dirty="0">
                <a:latin typeface="+mj-lt"/>
              </a:rPr>
              <a:t> and </a:t>
            </a:r>
            <a:r>
              <a:rPr lang="en-GB" sz="3203" dirty="0" err="1">
                <a:latin typeface="+mj-lt"/>
              </a:rPr>
              <a:t>Catarrhini</a:t>
            </a:r>
            <a:endParaRPr lang="en-GB" sz="3203" dirty="0">
              <a:latin typeface="+mj-lt"/>
            </a:endParaRPr>
          </a:p>
          <a:p>
            <a:pPr marL="445400" indent="-445400">
              <a:buFont typeface="Arial" panose="020B0604020202020204" pitchFamily="34" charset="0"/>
              <a:buChar char="•"/>
            </a:pPr>
            <a:endParaRPr lang="en-GB" sz="3203" dirty="0">
              <a:latin typeface="+mj-lt"/>
            </a:endParaRPr>
          </a:p>
          <a:p>
            <a:pPr marL="445400" indent="-445400">
              <a:buFont typeface="Arial" panose="020B0604020202020204" pitchFamily="34" charset="0"/>
              <a:buChar char="•"/>
            </a:pPr>
            <a:r>
              <a:rPr lang="en-GB" sz="3203" dirty="0">
                <a:latin typeface="+mj-lt"/>
              </a:rPr>
              <a:t>38 linear cranial measurements collected from simian skulls</a:t>
            </a:r>
          </a:p>
          <a:p>
            <a:pPr marL="445400" indent="-445400">
              <a:buFont typeface="Arial" panose="020B0604020202020204" pitchFamily="34" charset="0"/>
              <a:buChar char="•"/>
            </a:pPr>
            <a:endParaRPr lang="en-GB" sz="3203" dirty="0">
              <a:latin typeface="+mj-lt"/>
            </a:endParaRPr>
          </a:p>
          <a:p>
            <a:pPr marL="445400" indent="-445400">
              <a:buFont typeface="Arial" panose="020B0604020202020204" pitchFamily="34" charset="0"/>
              <a:buChar char="•"/>
            </a:pPr>
            <a:r>
              <a:rPr lang="en-GB" sz="3203" dirty="0">
                <a:latin typeface="+mj-lt"/>
              </a:rPr>
              <a:t>~ 5.416 simian skulls measured</a:t>
            </a:r>
          </a:p>
          <a:p>
            <a:endParaRPr lang="en-GB" sz="3203" dirty="0">
              <a:latin typeface="+mj-lt"/>
            </a:endParaRPr>
          </a:p>
          <a:p>
            <a:pPr marL="445400" indent="-445400">
              <a:buFont typeface="Arial" panose="020B0604020202020204" pitchFamily="34" charset="0"/>
              <a:buChar char="•"/>
            </a:pPr>
            <a:r>
              <a:rPr lang="en-GB" sz="3203" b="1" dirty="0">
                <a:latin typeface="+mj-lt"/>
              </a:rPr>
              <a:t>P </a:t>
            </a:r>
            <a:r>
              <a:rPr lang="en-GB" sz="3203" dirty="0">
                <a:latin typeface="+mj-lt"/>
              </a:rPr>
              <a:t>matrices estimated for each species</a:t>
            </a:r>
          </a:p>
          <a:p>
            <a:pPr marL="445400" indent="-445400">
              <a:buFont typeface="Arial" panose="020B0604020202020204" pitchFamily="34" charset="0"/>
              <a:buChar char="•"/>
            </a:pPr>
            <a:endParaRPr lang="en-GB" sz="3203" dirty="0">
              <a:latin typeface="+mj-lt"/>
            </a:endParaRPr>
          </a:p>
          <a:p>
            <a:pPr marL="445400" indent="-445400">
              <a:buFont typeface="Arial" panose="020B0604020202020204" pitchFamily="34" charset="0"/>
              <a:buChar char="•"/>
            </a:pPr>
            <a:r>
              <a:rPr lang="en-GB" sz="3203" dirty="0">
                <a:latin typeface="+mj-lt"/>
              </a:rPr>
              <a:t>Sexual dimorphism was measured as the </a:t>
            </a:r>
            <a:r>
              <a:rPr lang="en-GB" sz="3203" b="1" dirty="0">
                <a:latin typeface="+mj-lt"/>
              </a:rPr>
              <a:t>norm</a:t>
            </a:r>
            <a:r>
              <a:rPr lang="en-GB" sz="3203" dirty="0">
                <a:latin typeface="+mj-lt"/>
              </a:rPr>
              <a:t> of the vector difference between males and females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41187A56-B1FA-9F27-B2FB-0993F32A9119}"/>
              </a:ext>
            </a:extLst>
          </p:cNvPr>
          <p:cNvSpPr txBox="1"/>
          <p:nvPr/>
        </p:nvSpPr>
        <p:spPr>
          <a:xfrm>
            <a:off x="25536889" y="12640107"/>
            <a:ext cx="3891284" cy="25567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45400" indent="-445400">
              <a:buFont typeface="Arial" panose="020B0604020202020204" pitchFamily="34" charset="0"/>
              <a:buChar char="•"/>
            </a:pPr>
            <a:r>
              <a:rPr lang="en-GB" sz="3203" dirty="0">
                <a:latin typeface="+mj-lt"/>
              </a:rPr>
              <a:t>Greater sexual dimorphism is associated with higher evolvability in size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1D6BAD45-69D6-6421-B4AA-A5B6C3B3184E}"/>
              </a:ext>
            </a:extLst>
          </p:cNvPr>
          <p:cNvSpPr txBox="1"/>
          <p:nvPr/>
        </p:nvSpPr>
        <p:spPr>
          <a:xfrm>
            <a:off x="24308808" y="29694786"/>
            <a:ext cx="4626022" cy="40354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45400" indent="-445400">
              <a:buFont typeface="Arial" panose="020B0604020202020204" pitchFamily="34" charset="0"/>
              <a:buChar char="•"/>
            </a:pPr>
            <a:r>
              <a:rPr lang="en-GB" sz="3203" dirty="0">
                <a:latin typeface="+mj-lt"/>
              </a:rPr>
              <a:t>No relationship was found between evolvability and integration</a:t>
            </a:r>
          </a:p>
          <a:p>
            <a:pPr marL="445400" indent="-445400">
              <a:buFont typeface="Arial" panose="020B0604020202020204" pitchFamily="34" charset="0"/>
              <a:buChar char="•"/>
            </a:pPr>
            <a:r>
              <a:rPr lang="en-GB" sz="3203" dirty="0">
                <a:latin typeface="+mj-lt"/>
              </a:rPr>
              <a:t>Removing shape results in integration values close to the theoretical maximum (1)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A70CE742-0D43-A6BB-C3BB-CF3E199A61FC}"/>
              </a:ext>
            </a:extLst>
          </p:cNvPr>
          <p:cNvSpPr txBox="1"/>
          <p:nvPr/>
        </p:nvSpPr>
        <p:spPr>
          <a:xfrm>
            <a:off x="15185537" y="17280300"/>
            <a:ext cx="5342226" cy="25567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45400" indent="-445400">
              <a:buFont typeface="Arial" panose="020B0604020202020204" pitchFamily="34" charset="0"/>
              <a:buChar char="•"/>
            </a:pPr>
            <a:r>
              <a:rPr lang="en-GB" sz="3203" dirty="0">
                <a:latin typeface="+mj-lt"/>
              </a:rPr>
              <a:t>High measurement error weakens and may eliminate the relationship between sexual dimorphism and evolvability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CA8FCEDC-53FA-9566-1DCA-3D30F4F58BAD}"/>
              </a:ext>
            </a:extLst>
          </p:cNvPr>
          <p:cNvSpPr txBox="1"/>
          <p:nvPr/>
        </p:nvSpPr>
        <p:spPr>
          <a:xfrm>
            <a:off x="24726682" y="21816450"/>
            <a:ext cx="5078209" cy="20638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3" dirty="0">
                <a:latin typeface="+mj-lt"/>
              </a:rPr>
              <a:t>The relation between sexual dimorphism and evolvability in shape is nonlinear  and inverse</a:t>
            </a:r>
          </a:p>
        </p:txBody>
      </p:sp>
      <p:pic>
        <p:nvPicPr>
          <p:cNvPr id="61" name="Picture 60" descr="A math equation with symbols&#10;&#10;Description automatically generated with medium confidence">
            <a:extLst>
              <a:ext uri="{FF2B5EF4-FFF2-40B4-BE49-F238E27FC236}">
                <a16:creationId xmlns:a16="http://schemas.microsoft.com/office/drawing/2014/main" id="{2BFF21E1-6AC6-E62E-F3E5-83CF54A18B20}"/>
              </a:ext>
            </a:extLst>
          </p:cNvPr>
          <p:cNvPicPr>
            <a:picLocks noChangeAspect="1"/>
          </p:cNvPicPr>
          <p:nvPr/>
        </p:nvPicPr>
        <p:blipFill rotWithShape="1">
          <a:blip r:embed="rId21"/>
          <a:srcRect l="18084" t="19321" r="8955" b="13901"/>
          <a:stretch/>
        </p:blipFill>
        <p:spPr>
          <a:xfrm>
            <a:off x="10951549" y="28330167"/>
            <a:ext cx="3213731" cy="1818184"/>
          </a:xfrm>
          <a:prstGeom prst="rect">
            <a:avLst/>
          </a:prstGeom>
        </p:spPr>
      </p:pic>
      <p:pic>
        <p:nvPicPr>
          <p:cNvPr id="1029" name="Picture 1028" descr="A skull of a dog&#10;&#10;Description automatically generated">
            <a:extLst>
              <a:ext uri="{FF2B5EF4-FFF2-40B4-BE49-F238E27FC236}">
                <a16:creationId xmlns:a16="http://schemas.microsoft.com/office/drawing/2014/main" id="{6C2BD6E5-CBA4-88FD-2385-A17D48AA77A1}"/>
              </a:ext>
            </a:extLst>
      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7865785" y="31957935"/>
            <a:ext cx="6925157" cy="5000236"/>
          </a:xfrm>
          <a:prstGeom prst="rect">
            <a:avLst/>
          </a:prstGeom>
        </p:spPr>
      </p:pic>
      <p:sp>
        <p:nvSpPr>
          <p:cNvPr id="1037" name="Rounded Rectangle 1036">
            <a:extLst>
              <a:ext uri="{FF2B5EF4-FFF2-40B4-BE49-F238E27FC236}">
                <a16:creationId xmlns:a16="http://schemas.microsoft.com/office/drawing/2014/main" id="{300BAC21-9399-FCAE-9F98-FD7970E8DDBB}"/>
              </a:ext>
            </a:extLst>
          </p:cNvPr>
          <p:cNvSpPr/>
          <p:nvPr/>
        </p:nvSpPr>
        <p:spPr>
          <a:xfrm>
            <a:off x="4145680" y="4230251"/>
            <a:ext cx="8254559" cy="736983"/>
          </a:xfrm>
          <a:prstGeom prst="roundRect">
            <a:avLst/>
          </a:prstGeom>
          <a:solidFill>
            <a:schemeClr val="accent3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O" sz="4365" b="1" dirty="0">
                <a:solidFill>
                  <a:schemeClr val="tx1"/>
                </a:solidFill>
                <a:latin typeface="+mj-lt"/>
              </a:rPr>
              <a:t>Sexual Dimorphism</a:t>
            </a:r>
          </a:p>
        </p:txBody>
      </p:sp>
      <p:sp>
        <p:nvSpPr>
          <p:cNvPr id="1038" name="Rounded Rectangle 1037">
            <a:extLst>
              <a:ext uri="{FF2B5EF4-FFF2-40B4-BE49-F238E27FC236}">
                <a16:creationId xmlns:a16="http://schemas.microsoft.com/office/drawing/2014/main" id="{EA698633-EF29-C53E-B1BB-EF12DD48ADF3}"/>
              </a:ext>
            </a:extLst>
          </p:cNvPr>
          <p:cNvSpPr/>
          <p:nvPr/>
        </p:nvSpPr>
        <p:spPr>
          <a:xfrm>
            <a:off x="4146863" y="10430851"/>
            <a:ext cx="8346642" cy="736983"/>
          </a:xfrm>
          <a:prstGeom prst="roundRect">
            <a:avLst/>
          </a:prstGeom>
          <a:solidFill>
            <a:schemeClr val="accent3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O" sz="4365" b="1" dirty="0">
                <a:solidFill>
                  <a:schemeClr val="tx1"/>
                </a:solidFill>
                <a:latin typeface="+mj-lt"/>
              </a:rPr>
              <a:t>Evolvability and Integration</a:t>
            </a:r>
          </a:p>
        </p:txBody>
      </p:sp>
      <p:sp>
        <p:nvSpPr>
          <p:cNvPr id="1039" name="Rounded Rectangle 1038">
            <a:extLst>
              <a:ext uri="{FF2B5EF4-FFF2-40B4-BE49-F238E27FC236}">
                <a16:creationId xmlns:a16="http://schemas.microsoft.com/office/drawing/2014/main" id="{F0A8E366-2C2C-6F7B-4CEB-BD36A1479088}"/>
              </a:ext>
            </a:extLst>
          </p:cNvPr>
          <p:cNvSpPr/>
          <p:nvPr/>
        </p:nvSpPr>
        <p:spPr>
          <a:xfrm>
            <a:off x="4280867" y="16382344"/>
            <a:ext cx="8291104" cy="736983"/>
          </a:xfrm>
          <a:prstGeom prst="roundRect">
            <a:avLst/>
          </a:prstGeom>
          <a:solidFill>
            <a:schemeClr val="accent3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O" sz="4365" b="1" dirty="0">
                <a:solidFill>
                  <a:schemeClr val="tx1"/>
                </a:solidFill>
                <a:latin typeface="+mj-lt"/>
              </a:rPr>
              <a:t>Hypothesis</a:t>
            </a:r>
          </a:p>
        </p:txBody>
      </p:sp>
      <p:sp>
        <p:nvSpPr>
          <p:cNvPr id="1040" name="Rounded Rectangle 1039">
            <a:extLst>
              <a:ext uri="{FF2B5EF4-FFF2-40B4-BE49-F238E27FC236}">
                <a16:creationId xmlns:a16="http://schemas.microsoft.com/office/drawing/2014/main" id="{9A6DA982-1054-CC35-98C6-43A7E1DCF124}"/>
              </a:ext>
            </a:extLst>
          </p:cNvPr>
          <p:cNvSpPr/>
          <p:nvPr/>
        </p:nvSpPr>
        <p:spPr>
          <a:xfrm>
            <a:off x="4263120" y="21606130"/>
            <a:ext cx="8346642" cy="736983"/>
          </a:xfrm>
          <a:prstGeom prst="roundRect">
            <a:avLst/>
          </a:prstGeom>
          <a:solidFill>
            <a:schemeClr val="accent3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O" sz="4365" b="1" dirty="0">
                <a:solidFill>
                  <a:schemeClr val="tx1"/>
                </a:solidFill>
                <a:latin typeface="+mj-lt"/>
              </a:rPr>
              <a:t>Data</a:t>
            </a:r>
          </a:p>
        </p:txBody>
      </p:sp>
      <p:sp>
        <p:nvSpPr>
          <p:cNvPr id="1041" name="Rounded Rectangle 1040">
            <a:extLst>
              <a:ext uri="{FF2B5EF4-FFF2-40B4-BE49-F238E27FC236}">
                <a16:creationId xmlns:a16="http://schemas.microsoft.com/office/drawing/2014/main" id="{B0D4F162-82BE-1786-3981-375FE8C911A8}"/>
              </a:ext>
            </a:extLst>
          </p:cNvPr>
          <p:cNvSpPr/>
          <p:nvPr/>
        </p:nvSpPr>
        <p:spPr>
          <a:xfrm>
            <a:off x="4229436" y="30579977"/>
            <a:ext cx="8271534" cy="736983"/>
          </a:xfrm>
          <a:prstGeom prst="roundRect">
            <a:avLst/>
          </a:prstGeom>
          <a:solidFill>
            <a:schemeClr val="accent3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O" sz="4365" b="1" dirty="0">
                <a:solidFill>
                  <a:schemeClr val="tx1"/>
                </a:solidFill>
                <a:latin typeface="+mj-lt"/>
              </a:rPr>
              <a:t>Analysis</a:t>
            </a:r>
          </a:p>
        </p:txBody>
      </p:sp>
      <p:sp>
        <p:nvSpPr>
          <p:cNvPr id="1042" name="Rounded Rectangle 1041">
            <a:extLst>
              <a:ext uri="{FF2B5EF4-FFF2-40B4-BE49-F238E27FC236}">
                <a16:creationId xmlns:a16="http://schemas.microsoft.com/office/drawing/2014/main" id="{33AA6340-4997-B6DA-E7E5-8621CD217A88}"/>
              </a:ext>
            </a:extLst>
          </p:cNvPr>
          <p:cNvSpPr/>
          <p:nvPr/>
        </p:nvSpPr>
        <p:spPr>
          <a:xfrm>
            <a:off x="18411696" y="10793924"/>
            <a:ext cx="8339046" cy="736983"/>
          </a:xfrm>
          <a:prstGeom prst="roundRect">
            <a:avLst/>
          </a:prstGeom>
          <a:solidFill>
            <a:schemeClr val="accent3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O" sz="4365" b="1" dirty="0">
                <a:solidFill>
                  <a:schemeClr val="tx1"/>
                </a:solidFill>
                <a:latin typeface="+mj-lt"/>
              </a:rPr>
              <a:t>Results</a:t>
            </a:r>
          </a:p>
        </p:txBody>
      </p:sp>
      <p:sp>
        <p:nvSpPr>
          <p:cNvPr id="1043" name="Rounded Rectangle 1042">
            <a:extLst>
              <a:ext uri="{FF2B5EF4-FFF2-40B4-BE49-F238E27FC236}">
                <a16:creationId xmlns:a16="http://schemas.microsoft.com/office/drawing/2014/main" id="{633596AB-2662-9308-363B-3AAF6CB3AEA8}"/>
              </a:ext>
            </a:extLst>
          </p:cNvPr>
          <p:cNvSpPr/>
          <p:nvPr/>
        </p:nvSpPr>
        <p:spPr>
          <a:xfrm>
            <a:off x="17981255" y="34130512"/>
            <a:ext cx="8346642" cy="736983"/>
          </a:xfrm>
          <a:prstGeom prst="roundRect">
            <a:avLst/>
          </a:prstGeom>
          <a:solidFill>
            <a:schemeClr val="accent3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nb-NO" sz="4365" b="1" dirty="0">
                <a:solidFill>
                  <a:schemeClr val="tx1"/>
                </a:solidFill>
                <a:latin typeface="+mj-lt"/>
              </a:rPr>
              <a:t>Conclusions and Next Steps</a:t>
            </a:r>
            <a:endParaRPr lang="en-NO" sz="4365" b="1" dirty="0">
              <a:solidFill>
                <a:schemeClr val="tx1"/>
              </a:solidFill>
              <a:latin typeface="+mj-lt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44" name="TextBox 1043">
                <a:extLst>
                  <a:ext uri="{FF2B5EF4-FFF2-40B4-BE49-F238E27FC236}">
                    <a16:creationId xmlns:a16="http://schemas.microsoft.com/office/drawing/2014/main" id="{C4658F56-FD04-6315-A713-8900B0A49ADA}"/>
                  </a:ext>
                </a:extLst>
              </p:cNvPr>
              <p:cNvSpPr txBox="1"/>
              <p:nvPr/>
            </p:nvSpPr>
            <p:spPr>
              <a:xfrm>
                <a:off x="3564590" y="39204944"/>
                <a:ext cx="7987699" cy="10757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nb-NO" sz="3118">
                          <a:latin typeface="Cambria Math" panose="02040503050406030204" pitchFamily="18" charset="0"/>
                        </a:rPr>
                        <m:t>integration</m:t>
                      </m:r>
                      <m:r>
                        <a:rPr lang="nb-NO" sz="3118">
                          <a:latin typeface="Cambria Math" panose="02040503050406030204" pitchFamily="18" charset="0"/>
                        </a:rPr>
                        <m:t>=1 − </m:t>
                      </m:r>
                      <m:f>
                        <m:fPr>
                          <m:ctrlPr>
                            <a:rPr lang="nb-NO" sz="3118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nb-NO" sz="3118">
                              <a:latin typeface="Cambria Math" panose="02040503050406030204" pitchFamily="18" charset="0"/>
                            </a:rPr>
                            <m:t>conditional</m:t>
                          </m:r>
                          <m:r>
                            <a:rPr lang="nb-NO" sz="3118">
                              <a:latin typeface="Cambria Math" panose="02040503050406030204" pitchFamily="18" charset="0"/>
                            </a:rPr>
                            <m:t> </m:t>
                          </m:r>
                          <m:sSub>
                            <m:sSubPr>
                              <m:ctrlPr>
                                <a:rPr lang="en-NO" sz="3118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nb-NO" sz="3118">
                                  <a:latin typeface="Cambria Math" panose="02040503050406030204" pitchFamily="18" charset="0"/>
                                </a:rPr>
                                <m:t>evolvability</m:t>
                              </m:r>
                            </m:e>
                            <m:sub>
                              <m:r>
                                <a:rPr lang="nb-NO" sz="3118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m:rPr>
                                  <m:sty m:val="p"/>
                                </m:rPr>
                                <a:rPr lang="nb-NO" sz="3118">
                                  <a:latin typeface="Cambria Math" panose="02040503050406030204" pitchFamily="18" charset="0"/>
                                </a:rPr>
                                <m:t>SD</m:t>
                              </m:r>
                              <m:r>
                                <a:rPr lang="nb-NO" sz="3118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en-NO" sz="3118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nb-NO" sz="3118">
                                  <a:latin typeface="Cambria Math" panose="02040503050406030204" pitchFamily="18" charset="0"/>
                                </a:rPr>
                                <m:t>evolvability</m:t>
                              </m:r>
                            </m:e>
                            <m:sub>
                              <m:r>
                                <a:rPr lang="nb-NO" sz="3118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m:rPr>
                                  <m:sty m:val="p"/>
                                </m:rPr>
                                <a:rPr lang="nb-NO" sz="3118">
                                  <a:latin typeface="Cambria Math" panose="02040503050406030204" pitchFamily="18" charset="0"/>
                                </a:rPr>
                                <m:t>SD</m:t>
                              </m:r>
                              <m:r>
                                <a:rPr lang="nb-NO" sz="3118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en-NO" sz="3118" dirty="0">
                  <a:latin typeface="+mj-lt"/>
                </a:endParaRPr>
              </a:p>
            </p:txBody>
          </p:sp>
        </mc:Choice>
        <mc:Fallback xmlns="">
          <p:sp>
            <p:nvSpPr>
              <p:cNvPr id="1044" name="TextBox 1043">
                <a:extLst>
                  <a:ext uri="{FF2B5EF4-FFF2-40B4-BE49-F238E27FC236}">
                    <a16:creationId xmlns:a16="http://schemas.microsoft.com/office/drawing/2014/main" id="{C4658F56-FD04-6315-A713-8900B0A49AD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64590" y="39204944"/>
                <a:ext cx="7987699" cy="1075744"/>
              </a:xfrm>
              <a:prstGeom prst="rect">
                <a:avLst/>
              </a:prstGeom>
              <a:blipFill>
                <a:blip r:embed="rId23"/>
                <a:stretch>
                  <a:fillRect l="-1270" t="-5814" r="-476" b="-11628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NO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TextBox 6">
            <a:extLst>
              <a:ext uri="{FF2B5EF4-FFF2-40B4-BE49-F238E27FC236}">
                <a16:creationId xmlns:a16="http://schemas.microsoft.com/office/drawing/2014/main" id="{985B8B2C-8554-EAB5-803F-16437826B93D}"/>
              </a:ext>
            </a:extLst>
          </p:cNvPr>
          <p:cNvSpPr txBox="1"/>
          <p:nvPr/>
        </p:nvSpPr>
        <p:spPr>
          <a:xfrm>
            <a:off x="131452" y="-27364"/>
            <a:ext cx="1925845" cy="6680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NO" sz="3741" dirty="0">
                <a:latin typeface="+mj-lt"/>
              </a:rPr>
              <a:t>P265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C8371677-7AD5-CD61-93B0-75D49FC0EEB2}"/>
                  </a:ext>
                </a:extLst>
              </p:cNvPr>
              <p:cNvSpPr txBox="1"/>
              <p:nvPr/>
            </p:nvSpPr>
            <p:spPr>
              <a:xfrm>
                <a:off x="6016010" y="37749092"/>
                <a:ext cx="10423887" cy="9018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nb-NO" sz="3118">
                          <a:latin typeface="Cambria Math" panose="02040503050406030204" pitchFamily="18" charset="0"/>
                        </a:rPr>
                        <m:t>conditional</m:t>
                      </m:r>
                      <m:r>
                        <a:rPr lang="nb-NO" sz="3118"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NO" sz="3118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nb-NO" sz="3118">
                              <a:latin typeface="Cambria Math" panose="02040503050406030204" pitchFamily="18" charset="0"/>
                            </a:rPr>
                            <m:t>evolvability</m:t>
                          </m:r>
                        </m:e>
                        <m:sub>
                          <m:r>
                            <a:rPr lang="nb-NO" sz="3118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m:rPr>
                              <m:sty m:val="p"/>
                            </m:rPr>
                            <a:rPr lang="nb-NO" sz="3118">
                              <a:latin typeface="Cambria Math" panose="02040503050406030204" pitchFamily="18" charset="0"/>
                            </a:rPr>
                            <m:t>SD</m:t>
                          </m:r>
                          <m:r>
                            <a:rPr lang="nb-NO" sz="3118">
                              <a:latin typeface="Cambria Math" panose="02040503050406030204" pitchFamily="18" charset="0"/>
                            </a:rPr>
                            <m:t>)</m:t>
                          </m:r>
                        </m:sub>
                      </m:sSub>
                      <m:r>
                        <a:rPr lang="nb-NO" sz="3118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nb-NO" sz="3118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nb-NO" sz="3118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p>
                            <m:sSupPr>
                              <m:ctrlPr>
                                <a:rPr lang="nb-NO" sz="3118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nb-NO" sz="3118">
                                  <a:latin typeface="Cambria Math" panose="02040503050406030204" pitchFamily="18" charset="0"/>
                                </a:rPr>
                                <m:t>SD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a:rPr lang="nb-NO" sz="3118">
                                  <a:latin typeface="Cambria Math" panose="02040503050406030204" pitchFamily="18" charset="0"/>
                                </a:rPr>
                                <m:t>T</m:t>
                              </m:r>
                            </m:sup>
                          </m:sSup>
                          <m:sSup>
                            <m:sSupPr>
                              <m:ctrlPr>
                                <a:rPr lang="nb-NO" sz="3118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nb-NO" sz="3118" b="1">
                                  <a:latin typeface="Cambria Math" panose="02040503050406030204" pitchFamily="18" charset="0"/>
                                </a:rPr>
                                <m:t>𝐏</m:t>
                              </m:r>
                            </m:e>
                            <m:sup>
                              <m:r>
                                <a:rPr lang="nb-NO" sz="3118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p>
                          </m:sSup>
                          <m:r>
                            <m:rPr>
                              <m:sty m:val="p"/>
                            </m:rPr>
                            <a:rPr lang="nb-NO" sz="3118">
                              <a:latin typeface="Cambria Math" panose="02040503050406030204" pitchFamily="18" charset="0"/>
                            </a:rPr>
                            <m:t>SD</m:t>
                          </m:r>
                        </m:den>
                      </m:f>
                    </m:oMath>
                  </m:oMathPara>
                </a14:m>
                <a:endParaRPr lang="en-NO" sz="3118" dirty="0">
                  <a:latin typeface="+mj-lt"/>
                </a:endParaRPr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C8371677-7AD5-CD61-93B0-75D49FC0EEB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16010" y="37749092"/>
                <a:ext cx="10423887" cy="901850"/>
              </a:xfrm>
              <a:prstGeom prst="rect">
                <a:avLst/>
              </a:prstGeom>
              <a:blipFill>
                <a:blip r:embed="rId24"/>
                <a:stretch>
                  <a:fillRect t="-1389" b="-12500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NO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9" name="Picture 18" descr="A diagram of a circle with arrows and lines&#10;&#10;Description automatically generated">
            <a:extLst>
              <a:ext uri="{FF2B5EF4-FFF2-40B4-BE49-F238E27FC236}">
                <a16:creationId xmlns:a16="http://schemas.microsoft.com/office/drawing/2014/main" id="{47973FEA-B44F-5AA7-2B0F-D631BEC52816}"/>
              </a:ext>
            </a:extLst>
      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597542" y="31628518"/>
            <a:ext cx="6667686" cy="5803244"/>
          </a:xfrm>
          <a:prstGeom prst="rect">
            <a:avLst/>
          </a:prstGeom>
        </p:spPr>
      </p:pic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D719766E-2FDB-64AF-67B3-11673E52E7AC}"/>
              </a:ext>
            </a:extLst>
          </p:cNvPr>
          <p:cNvCxnSpPr>
            <a:cxnSpLocks/>
          </p:cNvCxnSpPr>
          <p:nvPr/>
        </p:nvCxnSpPr>
        <p:spPr>
          <a:xfrm>
            <a:off x="13303748" y="28569168"/>
            <a:ext cx="0" cy="1558754"/>
          </a:xfrm>
          <a:prstGeom prst="line">
            <a:avLst/>
          </a:prstGeom>
          <a:ln w="28575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195F5218-F84D-A8AF-F265-BF61FD15AAAB}"/>
              </a:ext>
            </a:extLst>
          </p:cNvPr>
          <p:cNvSpPr txBox="1"/>
          <p:nvPr/>
        </p:nvSpPr>
        <p:spPr>
          <a:xfrm>
            <a:off x="18492084" y="15461915"/>
            <a:ext cx="3611886" cy="5852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O" sz="3203" b="1" dirty="0">
                <a:latin typeface="+mj-lt"/>
              </a:rPr>
              <a:t>Sexual Dimorphism</a:t>
            </a:r>
            <a:endParaRPr lang="en-NO" sz="3203" b="1" baseline="-25000" dirty="0">
              <a:latin typeface="+mj-lt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2BAE2C7-AA4F-6698-8F03-A5ACA7ABAA65}"/>
              </a:ext>
            </a:extLst>
          </p:cNvPr>
          <p:cNvSpPr txBox="1"/>
          <p:nvPr/>
        </p:nvSpPr>
        <p:spPr>
          <a:xfrm rot="16200000">
            <a:off x="14172279" y="13310529"/>
            <a:ext cx="3324756" cy="5852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O" sz="3203" b="1" dirty="0">
                <a:latin typeface="+mj-lt"/>
              </a:rPr>
              <a:t>Evolvability</a:t>
            </a:r>
            <a:r>
              <a:rPr lang="en-NO" sz="3203" b="1" baseline="-25000" dirty="0">
                <a:latin typeface="+mj-lt"/>
              </a:rPr>
              <a:t> (SD Size)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8FE77A99-4921-B75B-57FB-16CA99761FE3}"/>
              </a:ext>
            </a:extLst>
          </p:cNvPr>
          <p:cNvSpPr txBox="1"/>
          <p:nvPr/>
        </p:nvSpPr>
        <p:spPr>
          <a:xfrm>
            <a:off x="18754343" y="32801647"/>
            <a:ext cx="2064348" cy="5852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O" sz="3203" b="1" dirty="0">
                <a:latin typeface="+mj-lt"/>
              </a:rPr>
              <a:t>Integration</a:t>
            </a:r>
            <a:endParaRPr lang="en-NO" sz="3203" b="1" baseline="-25000" dirty="0">
              <a:latin typeface="+mj-lt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8091DC4E-95C4-7F90-8F94-12EB61E3C750}"/>
              </a:ext>
            </a:extLst>
          </p:cNvPr>
          <p:cNvSpPr txBox="1"/>
          <p:nvPr/>
        </p:nvSpPr>
        <p:spPr>
          <a:xfrm rot="16200000">
            <a:off x="19776693" y="18226626"/>
            <a:ext cx="3324756" cy="5852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O" sz="3203" b="1" dirty="0">
                <a:latin typeface="+mj-lt"/>
              </a:rPr>
              <a:t>Evolvability</a:t>
            </a:r>
            <a:r>
              <a:rPr lang="en-NO" sz="3203" b="1" baseline="-25000" dirty="0">
                <a:latin typeface="+mj-lt"/>
              </a:rPr>
              <a:t> (SD Size)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7ABEC410-798F-7C9D-6C33-140118440E48}"/>
              </a:ext>
            </a:extLst>
          </p:cNvPr>
          <p:cNvSpPr txBox="1"/>
          <p:nvPr/>
        </p:nvSpPr>
        <p:spPr>
          <a:xfrm>
            <a:off x="23866557" y="20332683"/>
            <a:ext cx="3611886" cy="5852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O" sz="3203" b="1" dirty="0">
                <a:latin typeface="+mj-lt"/>
              </a:rPr>
              <a:t>Sexual Dimorphism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05B07C81-120D-7ABD-9F3F-D9928D26A251}"/>
              </a:ext>
            </a:extLst>
          </p:cNvPr>
          <p:cNvSpPr txBox="1"/>
          <p:nvPr/>
        </p:nvSpPr>
        <p:spPr>
          <a:xfrm>
            <a:off x="23045071" y="16254701"/>
            <a:ext cx="515897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b-NO" sz="3203" b="1" dirty="0" err="1">
                <a:latin typeface="+mj-lt"/>
              </a:rPr>
              <a:t>Theoretical</a:t>
            </a:r>
            <a:r>
              <a:rPr lang="nb-NO" sz="3203" b="1" dirty="0">
                <a:latin typeface="+mj-lt"/>
              </a:rPr>
              <a:t> </a:t>
            </a:r>
            <a:r>
              <a:rPr lang="nb-NO" sz="3203" b="1" dirty="0" err="1">
                <a:latin typeface="+mj-lt"/>
              </a:rPr>
              <a:t>Error</a:t>
            </a:r>
            <a:r>
              <a:rPr lang="nb-NO" sz="3203" b="1" dirty="0">
                <a:latin typeface="+mj-lt"/>
              </a:rPr>
              <a:t> Values (</a:t>
            </a:r>
            <a:r>
              <a:rPr lang="el-GR" sz="3600" b="0" i="0" dirty="0">
                <a:solidFill>
                  <a:srgbClr val="000000"/>
                </a:solidFill>
                <a:effectLst/>
                <a:latin typeface="Cambria" panose="02040503050406030204" pitchFamily="18" charset="0"/>
              </a:rPr>
              <a:t>σ²</a:t>
            </a:r>
            <a:r>
              <a:rPr lang="nb-NO" sz="3203" b="1" dirty="0">
                <a:latin typeface="+mj-lt"/>
              </a:rPr>
              <a:t>)</a:t>
            </a:r>
            <a:endParaRPr lang="en-NO" sz="3203" b="1" dirty="0">
              <a:latin typeface="+mj-lt"/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093A1D74-A8F0-06D4-96B6-13253B881487}"/>
              </a:ext>
            </a:extLst>
          </p:cNvPr>
          <p:cNvSpPr txBox="1"/>
          <p:nvPr/>
        </p:nvSpPr>
        <p:spPr>
          <a:xfrm>
            <a:off x="18784350" y="24120122"/>
            <a:ext cx="3611886" cy="5852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O" sz="3203" b="1" dirty="0">
                <a:latin typeface="+mj-lt"/>
              </a:rPr>
              <a:t>Sexual Dimorphism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00F09B08-B70D-E077-5E5F-A6D7F738EC59}"/>
              </a:ext>
            </a:extLst>
          </p:cNvPr>
          <p:cNvSpPr txBox="1"/>
          <p:nvPr/>
        </p:nvSpPr>
        <p:spPr>
          <a:xfrm rot="16200000">
            <a:off x="14287279" y="22143817"/>
            <a:ext cx="3679982" cy="5852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NO" sz="3203" b="1" dirty="0">
                <a:latin typeface="+mj-lt"/>
              </a:rPr>
              <a:t>Evolvability</a:t>
            </a:r>
            <a:r>
              <a:rPr lang="en-NO" sz="3203" b="1" baseline="-25000" dirty="0">
                <a:latin typeface="+mj-lt"/>
              </a:rPr>
              <a:t> (SD Shape)  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20E5BA5-673A-956F-5B96-019C1882195E}"/>
              </a:ext>
            </a:extLst>
          </p:cNvPr>
          <p:cNvSpPr txBox="1"/>
          <p:nvPr/>
        </p:nvSpPr>
        <p:spPr>
          <a:xfrm>
            <a:off x="11289190" y="2547160"/>
            <a:ext cx="7290522" cy="188057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6" baseline="30000" dirty="0">
                <a:latin typeface="+mj-lt"/>
                <a:ea typeface="Cambria Math" panose="02040503050406030204" pitchFamily="18" charset="0"/>
                <a:cs typeface="Arial" panose="020B0604020202020204" pitchFamily="34" charset="0"/>
              </a:rPr>
              <a:t>1</a:t>
            </a:r>
            <a:r>
              <a:rPr lang="en-GB" sz="2806" dirty="0">
                <a:latin typeface="+mj-lt"/>
                <a:ea typeface="Cambria Math" panose="02040503050406030204" pitchFamily="18" charset="0"/>
                <a:cs typeface="Arial" panose="020B0604020202020204" pitchFamily="34" charset="0"/>
              </a:rPr>
              <a:t>Universidade de São Paulo (USP), Brazil</a:t>
            </a:r>
          </a:p>
          <a:p>
            <a:pPr algn="ctr"/>
            <a:r>
              <a:rPr lang="en-GB" sz="2806" baseline="30000" dirty="0">
                <a:latin typeface="+mj-lt"/>
                <a:ea typeface="Cambria Math" panose="02040503050406030204" pitchFamily="18" charset="0"/>
                <a:cs typeface="Arial" panose="020B0604020202020204" pitchFamily="34" charset="0"/>
              </a:rPr>
              <a:t>2</a:t>
            </a:r>
            <a:r>
              <a:rPr lang="en-GB" sz="2806" dirty="0">
                <a:latin typeface="+mj-lt"/>
                <a:ea typeface="Cambria Math" panose="02040503050406030204" pitchFamily="18" charset="0"/>
                <a:cs typeface="Arial" panose="020B0604020202020204" pitchFamily="34" charset="0"/>
              </a:rPr>
              <a:t>University of Oslo (</a:t>
            </a:r>
            <a:r>
              <a:rPr lang="en-GB" sz="2806" dirty="0" err="1">
                <a:latin typeface="+mj-lt"/>
                <a:ea typeface="Cambria Math" panose="02040503050406030204" pitchFamily="18" charset="0"/>
                <a:cs typeface="Arial" panose="020B0604020202020204" pitchFamily="34" charset="0"/>
              </a:rPr>
              <a:t>UiO</a:t>
            </a:r>
            <a:r>
              <a:rPr lang="en-GB" sz="2806" dirty="0">
                <a:latin typeface="+mj-lt"/>
                <a:ea typeface="Cambria Math" panose="02040503050406030204" pitchFamily="18" charset="0"/>
                <a:cs typeface="Arial" panose="020B0604020202020204" pitchFamily="34" charset="0"/>
              </a:rPr>
              <a:t>), Norway </a:t>
            </a:r>
          </a:p>
          <a:p>
            <a:pPr algn="ctr"/>
            <a:r>
              <a:rPr lang="en-GB" sz="2806" dirty="0" err="1">
                <a:latin typeface="+mj-lt"/>
                <a:ea typeface="Cambria Math" panose="02040503050406030204" pitchFamily="18" charset="0"/>
                <a:cs typeface="Arial" panose="020B0604020202020204" pitchFamily="34" charset="0"/>
              </a:rPr>
              <a:t>lucas.camacho@usp.br</a:t>
            </a:r>
            <a:endParaRPr lang="en-GB" sz="2806" dirty="0">
              <a:latin typeface="+mj-lt"/>
              <a:ea typeface="Cambria Math" panose="02040503050406030204" pitchFamily="18" charset="0"/>
              <a:cs typeface="Arial" panose="020B0604020202020204" pitchFamily="34" charset="0"/>
            </a:endParaRPr>
          </a:p>
          <a:p>
            <a:endParaRPr lang="en-NO" sz="3203" dirty="0">
              <a:latin typeface="+mj-lt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716A01-93A4-1F4F-E369-30B9F31E4F89}"/>
              </a:ext>
            </a:extLst>
          </p:cNvPr>
          <p:cNvSpPr txBox="1"/>
          <p:nvPr/>
        </p:nvSpPr>
        <p:spPr>
          <a:xfrm>
            <a:off x="15582151" y="35315725"/>
            <a:ext cx="13433257" cy="3451009"/>
          </a:xfrm>
          <a:prstGeom prst="rect">
            <a:avLst/>
          </a:prstGeom>
          <a:noFill/>
          <a:ln w="12700">
            <a:noFill/>
          </a:ln>
        </p:spPr>
        <p:txBody>
          <a:bodyPr wrap="square" rtlCol="0">
            <a:spAutoFit/>
          </a:bodyPr>
          <a:lstStyle/>
          <a:p>
            <a:pPr marL="445400" indent="-445400">
              <a:buFont typeface="Arial" panose="020B0604020202020204" pitchFamily="34" charset="0"/>
              <a:buChar char="•"/>
            </a:pPr>
            <a:r>
              <a:rPr lang="en-GB" sz="3118" dirty="0">
                <a:latin typeface="+mj-lt"/>
              </a:rPr>
              <a:t>Sexual dimorphism tends to evolve along highly evolvable directions</a:t>
            </a:r>
          </a:p>
          <a:p>
            <a:pPr marL="445400" indent="-445400">
              <a:buFont typeface="Arial" panose="020B0604020202020204" pitchFamily="34" charset="0"/>
              <a:buChar char="•"/>
            </a:pPr>
            <a:r>
              <a:rPr lang="en-GB" sz="3118" dirty="0">
                <a:latin typeface="+mj-lt"/>
              </a:rPr>
              <a:t>Integration alone does not influence evolvability among species</a:t>
            </a:r>
          </a:p>
          <a:p>
            <a:pPr marL="445400" indent="-445400">
              <a:buFont typeface="Arial" panose="020B0604020202020204" pitchFamily="34" charset="0"/>
              <a:buChar char="•"/>
            </a:pPr>
            <a:r>
              <a:rPr lang="en-GB" sz="3118" dirty="0">
                <a:latin typeface="+mj-lt"/>
              </a:rPr>
              <a:t>Measurement error is important but does not substantially alter the observed patterns</a:t>
            </a:r>
          </a:p>
          <a:p>
            <a:pPr marL="445400" indent="-445400">
              <a:buFont typeface="Arial" panose="020B0604020202020204" pitchFamily="34" charset="0"/>
              <a:buChar char="•"/>
            </a:pPr>
            <a:endParaRPr lang="en-GB" sz="3118" dirty="0">
              <a:latin typeface="+mj-lt"/>
            </a:endParaRPr>
          </a:p>
          <a:p>
            <a:pPr marL="445400" indent="-445400">
              <a:buFont typeface="Arial" panose="020B0604020202020204" pitchFamily="34" charset="0"/>
              <a:buChar char="•"/>
            </a:pPr>
            <a:r>
              <a:rPr lang="en-GB" sz="3118" dirty="0">
                <a:latin typeface="+mj-lt"/>
              </a:rPr>
              <a:t>Test whether these patterns are phylogenetically widespread </a:t>
            </a:r>
          </a:p>
          <a:p>
            <a:pPr marL="445400" indent="-445400">
              <a:buFont typeface="Arial" panose="020B0604020202020204" pitchFamily="34" charset="0"/>
              <a:buChar char="•"/>
            </a:pPr>
            <a:r>
              <a:rPr lang="en-GB" sz="3118" dirty="0">
                <a:latin typeface="+mj-lt"/>
              </a:rPr>
              <a:t>Better examine the consequences of removing size on evolvability estimates</a:t>
            </a:r>
            <a:endParaRPr lang="en-NO" sz="3118" dirty="0">
              <a:latin typeface="+mj-lt"/>
            </a:endParaRPr>
          </a:p>
        </p:txBody>
      </p:sp>
      <p:pic>
        <p:nvPicPr>
          <p:cNvPr id="10" name="Picture 9" descr="A qr code with a dinosaur&#10;&#10;Description automatically generated">
            <a:extLst>
              <a:ext uri="{FF2B5EF4-FFF2-40B4-BE49-F238E27FC236}">
                <a16:creationId xmlns:a16="http://schemas.microsoft.com/office/drawing/2014/main" id="{99A15442-F3F8-0C0E-65BB-8E10F1687265}"/>
              </a:ext>
            </a:extLst>
      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26399577" y="1988582"/>
            <a:ext cx="1255133" cy="1255133"/>
          </a:xfrm>
          <a:prstGeom prst="rect">
            <a:avLst/>
          </a:prstGeom>
          <a:ln>
            <a:solidFill>
              <a:schemeClr val="tx1"/>
            </a:solidFill>
          </a:ln>
        </p:spPr>
      </p:pic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9A33078A-FF5C-010A-BAC4-EF32B9723129}"/>
              </a:ext>
            </a:extLst>
          </p:cNvPr>
          <p:cNvCxnSpPr>
            <a:cxnSpLocks/>
          </p:cNvCxnSpPr>
          <p:nvPr/>
        </p:nvCxnSpPr>
        <p:spPr>
          <a:xfrm>
            <a:off x="14128034" y="28592370"/>
            <a:ext cx="0" cy="1558754"/>
          </a:xfrm>
          <a:prstGeom prst="line">
            <a:avLst/>
          </a:prstGeom>
          <a:ln w="28575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20" name="Picture 19" descr="A graph showing a graph of a bear and a rhinoceros&#10;&#10;Description automatically generated">
            <a:extLst>
              <a:ext uri="{FF2B5EF4-FFF2-40B4-BE49-F238E27FC236}">
                <a16:creationId xmlns:a16="http://schemas.microsoft.com/office/drawing/2014/main" id="{6FB0F683-66A7-F080-AD2E-B4F0DF5CFE42}"/>
              </a:ext>
            </a:extLst>
          </p:cNvPr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522876" y="17485590"/>
            <a:ext cx="6575662" cy="3909191"/>
          </a:xfrm>
          <a:prstGeom prst="rect">
            <a:avLst/>
          </a:prstGeom>
        </p:spPr>
      </p:pic>
      <p:pic>
        <p:nvPicPr>
          <p:cNvPr id="13" name="Picture 12" descr="A graph of a graph showing the difference between high integration and high integration&#10;&#10;Description automatically generated">
            <a:extLst>
              <a:ext uri="{FF2B5EF4-FFF2-40B4-BE49-F238E27FC236}">
                <a16:creationId xmlns:a16="http://schemas.microsoft.com/office/drawing/2014/main" id="{1FE259EC-9DE3-53E0-8A1C-61BCDE1F2A35}"/>
              </a:ext>
            </a:extLst>
          </p:cNvPr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7777869" y="17498400"/>
            <a:ext cx="7126057" cy="3753190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E916B1D5-299C-5417-D5AF-2AEFA34B4462}"/>
              </a:ext>
            </a:extLst>
          </p:cNvPr>
          <p:cNvSpPr txBox="1"/>
          <p:nvPr/>
        </p:nvSpPr>
        <p:spPr>
          <a:xfrm rot="16200000">
            <a:off x="14450840" y="30697364"/>
            <a:ext cx="2981714" cy="5852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O" sz="3203" b="1" dirty="0">
                <a:latin typeface="+mj-lt"/>
              </a:rPr>
              <a:t>Evolvability</a:t>
            </a:r>
            <a:r>
              <a:rPr lang="en-NO" sz="3203" b="1" baseline="-25000" dirty="0">
                <a:latin typeface="+mj-lt"/>
              </a:rPr>
              <a:t> (Size) 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A6589F92-2C6A-3F19-3A2A-792733A8ABB1}"/>
              </a:ext>
            </a:extLst>
          </p:cNvPr>
          <p:cNvSpPr txBox="1"/>
          <p:nvPr/>
        </p:nvSpPr>
        <p:spPr>
          <a:xfrm>
            <a:off x="23969063" y="28719111"/>
            <a:ext cx="4171335" cy="5852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b-NO" sz="3203" b="1" dirty="0">
                <a:latin typeface="+mj-lt"/>
              </a:rPr>
              <a:t>ln</a:t>
            </a:r>
            <a:r>
              <a:rPr lang="en-NO" sz="3203" b="1" dirty="0">
                <a:latin typeface="+mj-lt"/>
              </a:rPr>
              <a:t> Sexual Dimorphism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CCA7A565-CEFC-5428-F30E-DEC85A4CEFF6}"/>
              </a:ext>
            </a:extLst>
          </p:cNvPr>
          <p:cNvSpPr txBox="1"/>
          <p:nvPr/>
        </p:nvSpPr>
        <p:spPr>
          <a:xfrm rot="16200000">
            <a:off x="19874722" y="26639093"/>
            <a:ext cx="3627083" cy="10781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3" b="1" dirty="0">
                <a:latin typeface="+mj-lt"/>
              </a:rPr>
              <a:t>l</a:t>
            </a:r>
            <a:r>
              <a:rPr lang="en-NO" sz="3203" b="1" dirty="0">
                <a:latin typeface="+mj-lt"/>
              </a:rPr>
              <a:t>n Conditional </a:t>
            </a:r>
          </a:p>
          <a:p>
            <a:pPr algn="ctr"/>
            <a:r>
              <a:rPr lang="en-NO" sz="3203" b="1" dirty="0">
                <a:latin typeface="+mj-lt"/>
              </a:rPr>
              <a:t>Evolvability</a:t>
            </a:r>
            <a:r>
              <a:rPr lang="en-NO" sz="3203" b="1" baseline="-25000" dirty="0">
                <a:latin typeface="+mj-lt"/>
              </a:rPr>
              <a:t> (SD Shape) 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DCBFE4C2-93EC-3B20-E61A-CCD00BDBDA1F}"/>
              </a:ext>
            </a:extLst>
          </p:cNvPr>
          <p:cNvSpPr txBox="1"/>
          <p:nvPr/>
        </p:nvSpPr>
        <p:spPr>
          <a:xfrm>
            <a:off x="15413340" y="26055124"/>
            <a:ext cx="5078209" cy="20638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45400" indent="-445400">
              <a:buFont typeface="Arial" panose="020B0604020202020204" pitchFamily="34" charset="0"/>
              <a:buChar char="•"/>
            </a:pPr>
            <a:r>
              <a:rPr lang="en-GB" sz="3203" dirty="0">
                <a:latin typeface="+mj-lt"/>
              </a:rPr>
              <a:t>Conditional evolvability of sexual dimorphism drops to practically zero after controlling for size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E272F805-AF24-1409-ADC1-E1FD6A003932}"/>
              </a:ext>
            </a:extLst>
          </p:cNvPr>
          <p:cNvSpPr txBox="1"/>
          <p:nvPr/>
        </p:nvSpPr>
        <p:spPr>
          <a:xfrm>
            <a:off x="26327897" y="26164409"/>
            <a:ext cx="3501555" cy="4281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NO" sz="2182" b="1" dirty="0">
                <a:latin typeface="+mj-lt"/>
              </a:rPr>
              <a:t>Sexual Dimorphism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AC407169-2AD7-48D6-BF9F-E6EA532B8B54}"/>
              </a:ext>
            </a:extLst>
          </p:cNvPr>
          <p:cNvSpPr txBox="1"/>
          <p:nvPr/>
        </p:nvSpPr>
        <p:spPr>
          <a:xfrm rot="16200000">
            <a:off x="23835776" y="24925137"/>
            <a:ext cx="2354875" cy="76392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NO" sz="2182" b="1" dirty="0">
                <a:latin typeface="+mj-lt"/>
              </a:rPr>
              <a:t>Conditional </a:t>
            </a:r>
          </a:p>
          <a:p>
            <a:pPr algn="ctr"/>
            <a:r>
              <a:rPr lang="en-NO" sz="2182" b="1" dirty="0">
                <a:latin typeface="+mj-lt"/>
              </a:rPr>
              <a:t>Evolvability</a:t>
            </a:r>
            <a:r>
              <a:rPr lang="en-NO" sz="2182" b="1" baseline="-25000" dirty="0">
                <a:latin typeface="+mj-lt"/>
              </a:rPr>
              <a:t> (SD Size) </a:t>
            </a:r>
          </a:p>
        </p:txBody>
      </p:sp>
      <p:pic>
        <p:nvPicPr>
          <p:cNvPr id="1024" name="Picture 1023" descr="A graph of a graph showing the difference between a certain index and a certain index&#10;&#10;Description automatically generated with medium confidence">
            <a:extLst>
              <a:ext uri="{FF2B5EF4-FFF2-40B4-BE49-F238E27FC236}">
                <a16:creationId xmlns:a16="http://schemas.microsoft.com/office/drawing/2014/main" id="{608427C8-E821-CE58-B636-FE7137B19706}"/>
              </a:ext>
            </a:extLst>
          </p:cNvPr>
          <p:cNvPicPr>
            <a:picLocks noChangeAspect="1"/>
          </p:cNvPicPr>
          <p:nvPr/>
        </p:nvPicPr>
        <p:blipFill>
          <a:blip r:embed="rId29"/>
          <a:srcRect l="3262" t="9235" b="8553"/>
          <a:stretch/>
        </p:blipFill>
        <p:spPr>
          <a:xfrm>
            <a:off x="16277409" y="29756338"/>
            <a:ext cx="7106679" cy="3063000"/>
          </a:xfrm>
          <a:prstGeom prst="rect">
            <a:avLst/>
          </a:prstGeom>
        </p:spPr>
      </p:pic>
      <p:pic>
        <p:nvPicPr>
          <p:cNvPr id="12" name="Picture 11" descr="A diagram of a diagram of a size&#10;&#10;Description automatically generated">
            <a:extLst>
              <a:ext uri="{FF2B5EF4-FFF2-40B4-BE49-F238E27FC236}">
                <a16:creationId xmlns:a16="http://schemas.microsoft.com/office/drawing/2014/main" id="{0201E3D8-38EE-9D53-487D-9775A2808AF9}"/>
              </a:ext>
            </a:extLst>
          </p:cNvPr>
          <p:cNvPicPr>
            <a:picLocks noChangeAspect="1"/>
          </p:cNvPicPr>
          <p:nvPr/>
        </p:nvPicPr>
        <p:blipFill>
          <a:blip r:embed="rId30"/>
          <a:srcRect t="18616" b="54876"/>
          <a:stretch/>
        </p:blipFill>
        <p:spPr>
          <a:xfrm>
            <a:off x="6073064" y="28037167"/>
            <a:ext cx="3962427" cy="784272"/>
          </a:xfrm>
          <a:prstGeom prst="rect">
            <a:avLst/>
          </a:prstGeom>
        </p:spPr>
      </p:pic>
      <p:pic>
        <p:nvPicPr>
          <p:cNvPr id="41" name="Picture 40" descr="A graph of black dots and blue line&#10;&#10;Description automatically generated">
            <a:extLst>
              <a:ext uri="{FF2B5EF4-FFF2-40B4-BE49-F238E27FC236}">
                <a16:creationId xmlns:a16="http://schemas.microsoft.com/office/drawing/2014/main" id="{45ED13FF-B684-3A72-5024-DDFA441919E1}"/>
              </a:ext>
            </a:extLst>
          </p:cNvPr>
          <p:cNvPicPr>
            <a:picLocks noChangeAspect="1"/>
          </p:cNvPicPr>
          <p:nvPr/>
        </p:nvPicPr>
        <p:blipFill>
          <a:blip r:embed="rId31"/>
          <a:srcRect l="2890" b="7493"/>
          <a:stretch/>
        </p:blipFill>
        <p:spPr>
          <a:xfrm>
            <a:off x="25354989" y="24269527"/>
            <a:ext cx="4669793" cy="1946169"/>
          </a:xfrm>
          <a:prstGeom prst="rect">
            <a:avLst/>
          </a:prstGeom>
        </p:spPr>
      </p:pic>
      <p:pic>
        <p:nvPicPr>
          <p:cNvPr id="52" name="Picture 51" descr="A diagram of a diagram of a size&#10;&#10;Description automatically generated">
            <a:extLst>
              <a:ext uri="{FF2B5EF4-FFF2-40B4-BE49-F238E27FC236}">
                <a16:creationId xmlns:a16="http://schemas.microsoft.com/office/drawing/2014/main" id="{28E648E0-1A2B-8A51-E89B-815A36C7AD84}"/>
              </a:ext>
            </a:extLst>
          </p:cNvPr>
          <p:cNvPicPr>
            <a:picLocks noChangeAspect="1"/>
          </p:cNvPicPr>
          <p:nvPr/>
        </p:nvPicPr>
        <p:blipFill>
          <a:blip r:embed="rId30"/>
          <a:srcRect t="18616" b="54876"/>
          <a:stretch/>
        </p:blipFill>
        <p:spPr>
          <a:xfrm>
            <a:off x="6363203" y="28060194"/>
            <a:ext cx="3962427" cy="784272"/>
          </a:xfrm>
          <a:prstGeom prst="rect">
            <a:avLst/>
          </a:prstGeom>
        </p:spPr>
      </p:pic>
      <p:pic>
        <p:nvPicPr>
          <p:cNvPr id="14" name="Picture 13" descr="A graph of a person with a blue line&#10;&#10;Description automatically generated with medium confidence">
            <a:extLst>
              <a:ext uri="{FF2B5EF4-FFF2-40B4-BE49-F238E27FC236}">
                <a16:creationId xmlns:a16="http://schemas.microsoft.com/office/drawing/2014/main" id="{F3BFFF4F-A6F1-A887-AE44-09207E6CFE5F}"/>
              </a:ext>
            </a:extLst>
          </p:cNvPr>
          <p:cNvPicPr>
            <a:picLocks noChangeAspect="1"/>
          </p:cNvPicPr>
          <p:nvPr/>
        </p:nvPicPr>
        <p:blipFill>
          <a:blip r:embed="rId32"/>
          <a:srcRect l="2949" t="6670" b="6839"/>
          <a:stretch/>
        </p:blipFill>
        <p:spPr>
          <a:xfrm>
            <a:off x="16350264" y="12416567"/>
            <a:ext cx="7782020" cy="30341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785454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7775</TotalTime>
  <Words>348</Words>
  <Application>Microsoft Macintosh PowerPoint</Application>
  <PresentationFormat>Custom</PresentationFormat>
  <Paragraphs>62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7" baseType="lpstr">
      <vt:lpstr>Aptos</vt:lpstr>
      <vt:lpstr>Aptos Display</vt:lpstr>
      <vt:lpstr>Arial</vt:lpstr>
      <vt:lpstr>Cambria</vt:lpstr>
      <vt:lpstr>Cambria Math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Lucas Camacho</dc:creator>
  <cp:lastModifiedBy>Lucas Camacho</cp:lastModifiedBy>
  <cp:revision>277</cp:revision>
  <dcterms:created xsi:type="dcterms:W3CDTF">2026-05-18T08:52:12Z</dcterms:created>
  <dcterms:modified xsi:type="dcterms:W3CDTF">2026-06-04T14:32:24Z</dcterms:modified>
</cp:coreProperties>
</file>